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8" r:id="rId2"/>
    <p:sldId id="280" r:id="rId3"/>
    <p:sldId id="281" r:id="rId4"/>
    <p:sldId id="306" r:id="rId5"/>
    <p:sldId id="282" r:id="rId6"/>
    <p:sldId id="283" r:id="rId7"/>
    <p:sldId id="284" r:id="rId8"/>
    <p:sldId id="286" r:id="rId9"/>
    <p:sldId id="287" r:id="rId10"/>
    <p:sldId id="288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7" r:id="rId22"/>
    <p:sldId id="308" r:id="rId23"/>
    <p:sldId id="302" r:id="rId24"/>
    <p:sldId id="303" r:id="rId25"/>
    <p:sldId id="30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0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75"/>
    <p:restoredTop sz="94696"/>
  </p:normalViewPr>
  <p:slideViewPr>
    <p:cSldViewPr snapToGrid="0" snapToObjects="1">
      <p:cViewPr varScale="1">
        <p:scale>
          <a:sx n="100" d="100"/>
          <a:sy n="100" d="100"/>
        </p:scale>
        <p:origin x="188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5508F-B9DA-3A4B-92BF-6A413880202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6FDBA-7020-E442-843C-9E0CA2BD0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6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2B4BC-311C-574E-AB1F-5BCC7E00BDAB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.png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emf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4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emf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34" y="152400"/>
            <a:ext cx="9027242" cy="2437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34" y="6451286"/>
            <a:ext cx="9027242" cy="2447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22869" y="592796"/>
            <a:ext cx="9104312" cy="162982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n-US" sz="4400" dirty="0">
                <a:latin typeface="Times New Roman"/>
                <a:cs typeface="Times New Roman"/>
              </a:rPr>
              <a:t>Classical Waves</a:t>
            </a:r>
          </a:p>
          <a:p>
            <a:pPr algn="ctr"/>
            <a:r>
              <a:rPr lang="en-US" sz="3600" dirty="0">
                <a:latin typeface="Times New Roman"/>
                <a:cs typeface="Times New Roman"/>
              </a:rPr>
              <a:t>Calculus/Differential Equations Refresher</a:t>
            </a:r>
            <a:endParaRPr lang="en-US" sz="3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555715"/>
              </p:ext>
            </p:extLst>
          </p:nvPr>
        </p:nvGraphicFramePr>
        <p:xfrm>
          <a:off x="4298142" y="5278331"/>
          <a:ext cx="69143" cy="169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23960" imgH="361800" progId="">
                  <p:embed/>
                </p:oleObj>
              </mc:Choice>
              <mc:Fallback>
                <p:oleObj r:id="rId4" imgW="723960" imgH="361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142" y="5278331"/>
                        <a:ext cx="69143" cy="1690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591263"/>
              </p:ext>
            </p:extLst>
          </p:nvPr>
        </p:nvGraphicFramePr>
        <p:xfrm>
          <a:off x="5853154" y="5187289"/>
          <a:ext cx="61959" cy="15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320" imgH="181080" progId="">
                  <p:embed/>
                </p:oleObj>
              </mc:Choice>
              <mc:Fallback>
                <p:oleObj r:id="rId6" imgW="76320" imgH="1810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154" y="5187289"/>
                        <a:ext cx="61959" cy="1514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0" y="2602547"/>
            <a:ext cx="45720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404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Introduction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495911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Quantum Mechanics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is the basis of ALL spectroscopies we use in forensic science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QM build on idea that matter has both wave AND particle properties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Most of the math we use in this course is from the language of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waves</a:t>
            </a:r>
          </a:p>
        </p:txBody>
      </p:sp>
    </p:spTree>
    <p:extLst>
      <p:ext uri="{BB962C8B-B14F-4D97-AF65-F5344CB8AC3E}">
        <p14:creationId xmlns:p14="http://schemas.microsoft.com/office/powerpoint/2010/main" val="3273103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495911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u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x, t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) = Amplitude of the wave at position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and time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06" y="4273086"/>
            <a:ext cx="8412694" cy="1905232"/>
          </a:xfrm>
          <a:prstGeom prst="rect">
            <a:avLst/>
          </a:prstGeom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06" y="2317750"/>
            <a:ext cx="8202612" cy="1809750"/>
          </a:xfrm>
          <a:prstGeom prst="rect">
            <a:avLst/>
          </a:prstGeom>
          <a:effectLst/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3524250" y="2524125"/>
            <a:ext cx="523875" cy="4445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3573462" y="4518025"/>
            <a:ext cx="523875" cy="4445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3559175" y="5003800"/>
            <a:ext cx="523875" cy="4445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559175" y="2524125"/>
            <a:ext cx="0" cy="103187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552825" y="4518025"/>
            <a:ext cx="0" cy="103187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31963" y="3429000"/>
            <a:ext cx="955376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i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=1.15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17962" y="2783959"/>
            <a:ext cx="860056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u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i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,t</a:t>
            </a:r>
            <a:r>
              <a:rPr lang="en-GB" i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730250" y="2524125"/>
            <a:ext cx="2794000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00213" y="5454650"/>
            <a:ext cx="955376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i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=1.15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4055551" y="4755634"/>
            <a:ext cx="860056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u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i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,t</a:t>
            </a:r>
            <a:r>
              <a:rPr lang="en-GB" i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4029640" y="5206484"/>
            <a:ext cx="860056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u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i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,t</a:t>
            </a:r>
            <a:r>
              <a:rPr lang="en-GB" i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8323807" y="3492500"/>
            <a:ext cx="305822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317457" y="5502275"/>
            <a:ext cx="305822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23314" y="2143125"/>
            <a:ext cx="318784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u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132839" y="4105275"/>
            <a:ext cx="318784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1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1927049-711C-2D81-ADDC-7E3087643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A66157-699D-2A4D-F12D-39483BF86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9D99D-04B8-D346-03CB-BE4715A99430}"/>
              </a:ext>
            </a:extLst>
          </p:cNvPr>
          <p:cNvSpPr txBox="1"/>
          <p:nvPr/>
        </p:nvSpPr>
        <p:spPr>
          <a:xfrm>
            <a:off x="484188" y="990600"/>
            <a:ext cx="8480655" cy="43088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distance for one wave cycle to complete (</a:t>
            </a:r>
            <a:r>
              <a:rPr lang="en-US" sz="2200" dirty="0">
                <a:latin typeface="Symbol" pitchFamily="2" charset="2"/>
                <a:cs typeface="Times New Roman" panose="02020603050405020304" pitchFamily="18" charset="0"/>
              </a:rPr>
              <a:t>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length units)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ABD0FB-9732-0EAA-6CB6-5A0A0669B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7" t="2212" r="3104"/>
          <a:stretch/>
        </p:blipFill>
        <p:spPr>
          <a:xfrm>
            <a:off x="1047196" y="2725154"/>
            <a:ext cx="6248400" cy="4107446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7D2368-36CA-F92F-914E-401AA9733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8" y="4943913"/>
            <a:ext cx="1693284" cy="351975"/>
          </a:xfrm>
          <a:prstGeom prst="rect">
            <a:avLst/>
          </a:prstGeom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BCB7DF-84E3-F722-5752-4A26158C6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2" y="5448145"/>
            <a:ext cx="1315462" cy="169589"/>
          </a:xfrm>
          <a:prstGeom prst="rect">
            <a:avLst/>
          </a:prstGeom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05E93C-9159-33E9-C140-5472BD4B555D}"/>
              </a:ext>
            </a:extLst>
          </p:cNvPr>
          <p:cNvSpPr txBox="1"/>
          <p:nvPr/>
        </p:nvSpPr>
        <p:spPr>
          <a:xfrm>
            <a:off x="484189" y="1412115"/>
            <a:ext cx="6925006" cy="76944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wave cycles in a reference time or distance (</a:t>
            </a:r>
            <a:r>
              <a:rPr lang="en-US" sz="2200" dirty="0">
                <a:latin typeface="Symbol" pitchFamily="2" charset="2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cycles/time unit;   , cycles/length unit)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1C5D0D-2189-5BE4-3B1A-60260A7B5DB0}"/>
              </a:ext>
            </a:extLst>
          </p:cNvPr>
          <p:cNvCxnSpPr>
            <a:cxnSpLocks/>
          </p:cNvCxnSpPr>
          <p:nvPr/>
        </p:nvCxnSpPr>
        <p:spPr>
          <a:xfrm>
            <a:off x="914400" y="4318000"/>
            <a:ext cx="76327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358E0C-500A-962E-DFF1-B81750FED062}"/>
              </a:ext>
            </a:extLst>
          </p:cNvPr>
          <p:cNvCxnSpPr>
            <a:cxnSpLocks/>
          </p:cNvCxnSpPr>
          <p:nvPr/>
        </p:nvCxnSpPr>
        <p:spPr>
          <a:xfrm flipV="1">
            <a:off x="1212850" y="2260600"/>
            <a:ext cx="0" cy="3759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eft Brace 13">
            <a:extLst>
              <a:ext uri="{FF2B5EF4-FFF2-40B4-BE49-F238E27FC236}">
                <a16:creationId xmlns:a16="http://schemas.microsoft.com/office/drawing/2014/main" id="{C08F42A1-8672-D2D9-2904-D672FBE26FFA}"/>
              </a:ext>
            </a:extLst>
          </p:cNvPr>
          <p:cNvSpPr/>
          <p:nvPr/>
        </p:nvSpPr>
        <p:spPr>
          <a:xfrm rot="5400000">
            <a:off x="2084833" y="1658619"/>
            <a:ext cx="221485" cy="1984248"/>
          </a:xfrm>
          <a:prstGeom prst="leftBrac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5B588F-7F29-F58A-13FB-192CCBB3368C}"/>
              </a:ext>
            </a:extLst>
          </p:cNvPr>
          <p:cNvCxnSpPr>
            <a:cxnSpLocks/>
          </p:cNvCxnSpPr>
          <p:nvPr/>
        </p:nvCxnSpPr>
        <p:spPr>
          <a:xfrm flipH="1">
            <a:off x="1206500" y="2825953"/>
            <a:ext cx="6350" cy="1504747"/>
          </a:xfrm>
          <a:prstGeom prst="line">
            <a:avLst/>
          </a:prstGeom>
          <a:ln>
            <a:solidFill>
              <a:srgbClr val="00B050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7F27F8-FC11-77BE-2751-5CDF56EE7B60}"/>
              </a:ext>
            </a:extLst>
          </p:cNvPr>
          <p:cNvCxnSpPr>
            <a:cxnSpLocks/>
          </p:cNvCxnSpPr>
          <p:nvPr/>
        </p:nvCxnSpPr>
        <p:spPr>
          <a:xfrm>
            <a:off x="3200400" y="2825953"/>
            <a:ext cx="0" cy="1504747"/>
          </a:xfrm>
          <a:prstGeom prst="line">
            <a:avLst/>
          </a:prstGeom>
          <a:ln>
            <a:solidFill>
              <a:srgbClr val="00B050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822E3A-AD3B-77FF-2701-277E0806A064}"/>
              </a:ext>
            </a:extLst>
          </p:cNvPr>
          <p:cNvSpPr txBox="1"/>
          <p:nvPr/>
        </p:nvSpPr>
        <p:spPr>
          <a:xfrm>
            <a:off x="1580069" y="2634421"/>
            <a:ext cx="126579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1A3C4A-D3F3-9DB8-2DB2-2830E0580D56}"/>
              </a:ext>
            </a:extLst>
          </p:cNvPr>
          <p:cNvSpPr txBox="1"/>
          <p:nvPr/>
        </p:nvSpPr>
        <p:spPr>
          <a:xfrm>
            <a:off x="2057952" y="2204248"/>
            <a:ext cx="2084225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Symbol" pitchFamily="2" charset="2"/>
                <a:cs typeface="Times New Roman" panose="02020603050405020304" pitchFamily="18" charset="0"/>
              </a:rPr>
              <a:t>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0.5 length unit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06D74A-6B02-4172-DC94-F2BBEE6B2BF6}"/>
              </a:ext>
            </a:extLst>
          </p:cNvPr>
          <p:cNvCxnSpPr>
            <a:cxnSpLocks/>
          </p:cNvCxnSpPr>
          <p:nvPr/>
        </p:nvCxnSpPr>
        <p:spPr>
          <a:xfrm>
            <a:off x="5181598" y="2825953"/>
            <a:ext cx="0" cy="2419146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D103F4-811B-1704-0B72-B6B5B8106FE0}"/>
              </a:ext>
            </a:extLst>
          </p:cNvPr>
          <p:cNvCxnSpPr>
            <a:cxnSpLocks/>
          </p:cNvCxnSpPr>
          <p:nvPr/>
        </p:nvCxnSpPr>
        <p:spPr>
          <a:xfrm flipH="1">
            <a:off x="1212850" y="4686300"/>
            <a:ext cx="3968748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6C7719C-5A19-AD20-2768-CB0B0278CB2D}"/>
              </a:ext>
            </a:extLst>
          </p:cNvPr>
          <p:cNvSpPr txBox="1"/>
          <p:nvPr/>
        </p:nvSpPr>
        <p:spPr>
          <a:xfrm>
            <a:off x="4314213" y="5225748"/>
            <a:ext cx="1734770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(spatial) frequency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(wavenumber)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38FE7B0-63D6-5E68-F6E6-2EB47FEF1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247" y="4591051"/>
            <a:ext cx="137160" cy="190499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004000-AF2C-83B7-1097-192A59274A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005" y="6287429"/>
            <a:ext cx="661954" cy="532441"/>
          </a:xfrm>
          <a:prstGeom prst="rect">
            <a:avLst/>
          </a:prstGeom>
          <a:effectLst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96DE3C-6F9A-148B-B552-706D3F12AE03}"/>
              </a:ext>
            </a:extLst>
          </p:cNvPr>
          <p:cNvSpPr txBox="1"/>
          <p:nvPr/>
        </p:nvSpPr>
        <p:spPr>
          <a:xfrm>
            <a:off x="5932388" y="6329573"/>
            <a:ext cx="2438488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cycles/length unit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6E1E7A-4C5F-37D7-05E3-4B91A017A9AE}"/>
              </a:ext>
            </a:extLst>
          </p:cNvPr>
          <p:cNvCxnSpPr>
            <a:cxnSpLocks/>
          </p:cNvCxnSpPr>
          <p:nvPr/>
        </p:nvCxnSpPr>
        <p:spPr>
          <a:xfrm>
            <a:off x="5168898" y="5753099"/>
            <a:ext cx="0" cy="91440"/>
          </a:xfrm>
          <a:prstGeom prst="line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02C993F4-3DD0-F18D-2EB3-B57396D9A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047" y="1885951"/>
            <a:ext cx="137160" cy="19049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9544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 animBg="1"/>
      <p:bldP spid="18" grpId="0"/>
      <p:bldP spid="21" grpId="0"/>
      <p:bldP spid="24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060449"/>
            <a:ext cx="8686800" cy="495911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Boundary conditions: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u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(0,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) = 0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u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sz="2800" i="1" dirty="0" err="1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en-GB" sz="2800" i="1" dirty="0" err="1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) = 0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952750"/>
            <a:ext cx="8202612" cy="3860568"/>
          </a:xfrm>
          <a:prstGeom prst="rect">
            <a:avLst/>
          </a:prstGeom>
          <a:effectLst/>
        </p:spPr>
      </p:pic>
      <p:sp>
        <p:nvSpPr>
          <p:cNvPr id="2" name="Rectangle 1"/>
          <p:cNvSpPr/>
          <p:nvPr/>
        </p:nvSpPr>
        <p:spPr>
          <a:xfrm>
            <a:off x="8120212" y="5624320"/>
            <a:ext cx="754525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-axis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8237" y="2672834"/>
            <a:ext cx="1036641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u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)-axis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576902" y="1868388"/>
            <a:ext cx="6487723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Means: </a:t>
            </a:r>
            <a:r>
              <a:rPr lang="en-GB" sz="2800" i="1" u="sng" dirty="0">
                <a:solidFill>
                  <a:srgbClr val="000000"/>
                </a:solidFill>
                <a:latin typeface="Times New Roman" pitchFamily="18" charset="0"/>
              </a:rPr>
              <a:t>The wave is tied down at both ends!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222042" y="3767554"/>
            <a:ext cx="903346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x = l</a:t>
            </a:r>
            <a:endParaRPr lang="en-US" sz="2800" dirty="0"/>
          </a:p>
        </p:txBody>
      </p:sp>
      <p:cxnSp>
        <p:nvCxnSpPr>
          <p:cNvPr id="11" name="Straight Arrow Connector 10"/>
          <p:cNvCxnSpPr>
            <a:stCxn id="9" idx="2"/>
          </p:cNvCxnSpPr>
          <p:nvPr/>
        </p:nvCxnSpPr>
        <p:spPr>
          <a:xfrm flipH="1">
            <a:off x="8397875" y="4290774"/>
            <a:ext cx="275840" cy="121785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44942" y="3798133"/>
            <a:ext cx="971598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x = 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0</a:t>
            </a:r>
            <a:endParaRPr lang="en-US" sz="2800" dirty="0"/>
          </a:p>
        </p:txBody>
      </p:sp>
      <p:cxnSp>
        <p:nvCxnSpPr>
          <p:cNvPr id="14" name="Straight Arrow Connector 13"/>
          <p:cNvCxnSpPr>
            <a:stCxn id="13" idx="2"/>
          </p:cNvCxnSpPr>
          <p:nvPr/>
        </p:nvCxnSpPr>
        <p:spPr>
          <a:xfrm flipH="1">
            <a:off x="809625" y="4321353"/>
            <a:ext cx="621116" cy="121785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55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495911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It is known that a “classical” wave is governed by the equation: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343" y="2570718"/>
            <a:ext cx="2986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partial derivatives</a:t>
            </a:r>
            <a:endParaRPr lang="en-US" sz="2800" b="1" dirty="0"/>
          </a:p>
        </p:txBody>
      </p:sp>
      <p:sp>
        <p:nvSpPr>
          <p:cNvPr id="14" name="Rectangle 13"/>
          <p:cNvSpPr/>
          <p:nvPr/>
        </p:nvSpPr>
        <p:spPr>
          <a:xfrm>
            <a:off x="4365625" y="5675014"/>
            <a:ext cx="3973338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squared speed of the wave</a:t>
            </a:r>
            <a:endParaRPr lang="en-US" sz="28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3384550"/>
            <a:ext cx="3429000" cy="1422400"/>
          </a:xfrm>
          <a:prstGeom prst="rect">
            <a:avLst/>
          </a:prstGeom>
          <a:effectLst/>
        </p:spPr>
      </p:pic>
      <p:cxnSp>
        <p:nvCxnSpPr>
          <p:cNvPr id="16" name="Straight Arrow Connector 15"/>
          <p:cNvCxnSpPr/>
          <p:nvPr/>
        </p:nvCxnSpPr>
        <p:spPr>
          <a:xfrm>
            <a:off x="1644813" y="3093938"/>
            <a:ext cx="1355562" cy="127168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810125" y="4659213"/>
            <a:ext cx="955838" cy="1150838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66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82880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Solving this partial differential equation is easier than you think! (Will be a theme of the course…)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Separate variables: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270250"/>
            <a:ext cx="4076700" cy="762000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2209800" y="4340313"/>
            <a:ext cx="2612464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function of position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5605874" y="4308732"/>
            <a:ext cx="2164375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function of time</a:t>
            </a:r>
            <a:endParaRPr lang="en-US" sz="2400" dirty="0"/>
          </a:p>
        </p:txBody>
      </p:sp>
      <p:cxnSp>
        <p:nvCxnSpPr>
          <p:cNvPr id="10" name="Straight Arrow Connector 9"/>
          <p:cNvCxnSpPr>
            <a:stCxn id="6" idx="0"/>
          </p:cNvCxnSpPr>
          <p:nvPr/>
        </p:nvCxnSpPr>
        <p:spPr>
          <a:xfrm flipV="1">
            <a:off x="3516032" y="3841750"/>
            <a:ext cx="913093" cy="498563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9" idx="0"/>
          </p:cNvCxnSpPr>
          <p:nvPr/>
        </p:nvCxnSpPr>
        <p:spPr>
          <a:xfrm flipH="1" flipV="1">
            <a:off x="6159500" y="3841750"/>
            <a:ext cx="528562" cy="46698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45001" y="5268872"/>
            <a:ext cx="7240012" cy="830997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This assumes that position and time are independent and do not influence each other (a reasonable assumption)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408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87630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Now let’s just plug and chug: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00" y="3117850"/>
            <a:ext cx="1117600" cy="138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825" y="3013075"/>
            <a:ext cx="2247900" cy="1409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250" y="3228975"/>
            <a:ext cx="342900" cy="381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6925" y="3238500"/>
            <a:ext cx="3429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50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Now let’s just plug and chug: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Substitute 		   for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00" y="3117850"/>
            <a:ext cx="1117600" cy="138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825" y="3013075"/>
            <a:ext cx="2247900" cy="1409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525" y="3155950"/>
            <a:ext cx="1854200" cy="6731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475" y="3117850"/>
            <a:ext cx="1854200" cy="6731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" y="1698625"/>
            <a:ext cx="185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10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Now let’s just plug and chug: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Make a bit easier to look at</a:t>
            </a:r>
            <a:endParaRPr lang="en-GB" sz="2800" i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00" y="3117850"/>
            <a:ext cx="1117600" cy="138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950" y="3013075"/>
            <a:ext cx="2247900" cy="1409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450" y="3162300"/>
            <a:ext cx="863600" cy="5207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075" y="3162300"/>
            <a:ext cx="8636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60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Now let’s just plug and chug: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Rearrange according to who the derivative affects</a:t>
            </a:r>
            <a:endParaRPr lang="en-GB" sz="2800" i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00" y="3117850"/>
            <a:ext cx="1117600" cy="138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5" y="3013075"/>
            <a:ext cx="2247900" cy="1409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3330575" y="3162300"/>
            <a:ext cx="431800" cy="5207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l="50000"/>
          <a:stretch/>
        </p:blipFill>
        <p:spPr>
          <a:xfrm>
            <a:off x="5619750" y="3162300"/>
            <a:ext cx="431800" cy="520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4403725" y="3171825"/>
            <a:ext cx="431800" cy="520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50000"/>
          <a:stretch/>
        </p:blipFill>
        <p:spPr>
          <a:xfrm>
            <a:off x="2343150" y="3155950"/>
            <a:ext cx="431800" cy="520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/>
          <a:srcRect r="24176"/>
          <a:stretch/>
        </p:blipFill>
        <p:spPr>
          <a:xfrm>
            <a:off x="2070100" y="4918075"/>
            <a:ext cx="43815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3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Now let’s just plug and chug: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Clean up the notation and set equal to a constant</a:t>
            </a:r>
            <a:endParaRPr lang="en-GB" sz="2800" i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r="24176"/>
          <a:stretch/>
        </p:blipFill>
        <p:spPr>
          <a:xfrm>
            <a:off x="2070100" y="3044825"/>
            <a:ext cx="4381500" cy="1358900"/>
          </a:xfrm>
          <a:prstGeom prst="rect">
            <a:avLst/>
          </a:prstGeom>
          <a:effectLst/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770" y="2962275"/>
            <a:ext cx="5359400" cy="1371600"/>
          </a:xfrm>
          <a:prstGeom prst="rect">
            <a:avLst/>
          </a:prstGeom>
          <a:effectLst/>
        </p:spPr>
      </p:pic>
      <p:sp>
        <p:nvSpPr>
          <p:cNvPr id="28" name="Rectangle 27"/>
          <p:cNvSpPr/>
          <p:nvPr/>
        </p:nvSpPr>
        <p:spPr>
          <a:xfrm>
            <a:off x="228600" y="4775478"/>
            <a:ext cx="5050732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Really just regular old derivatives</a:t>
            </a:r>
            <a:endParaRPr lang="en-US" sz="2800" dirty="0"/>
          </a:p>
        </p:txBody>
      </p:sp>
      <p:sp>
        <p:nvSpPr>
          <p:cNvPr id="29" name="Rectangle 28"/>
          <p:cNvSpPr/>
          <p:nvPr/>
        </p:nvSpPr>
        <p:spPr>
          <a:xfrm>
            <a:off x="1546225" y="2273518"/>
            <a:ext cx="6917278" cy="40011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Since they are equal, they must be equal to the same constant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8625" y="4527312"/>
            <a:ext cx="3159839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“Clever” choice for the constant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8" idx="0"/>
          </p:cNvCxnSpPr>
          <p:nvPr/>
        </p:nvCxnSpPr>
        <p:spPr>
          <a:xfrm flipH="1" flipV="1">
            <a:off x="2555875" y="4397891"/>
            <a:ext cx="198091" cy="37758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8" idx="0"/>
          </p:cNvCxnSpPr>
          <p:nvPr/>
        </p:nvCxnSpPr>
        <p:spPr>
          <a:xfrm flipV="1">
            <a:off x="2753966" y="4254500"/>
            <a:ext cx="2326034" cy="520978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3270250" y="2673628"/>
            <a:ext cx="1666875" cy="37119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4937125" y="2673628"/>
            <a:ext cx="587375" cy="37119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 flipV="1">
            <a:off x="6651625" y="3937000"/>
            <a:ext cx="119420" cy="59031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37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  <p:bldP spid="29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Now separate into two equations: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2952750"/>
            <a:ext cx="53594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56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Now separate into two equations: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r="60187"/>
          <a:stretch/>
        </p:blipFill>
        <p:spPr>
          <a:xfrm>
            <a:off x="2609850" y="2425700"/>
            <a:ext cx="2295525" cy="1371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9813" t="1" r="15859" b="-3009"/>
          <a:stretch/>
        </p:blipFill>
        <p:spPr>
          <a:xfrm>
            <a:off x="2292350" y="4175125"/>
            <a:ext cx="2555876" cy="1412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91300" r="4295"/>
          <a:stretch/>
        </p:blipFill>
        <p:spPr>
          <a:xfrm>
            <a:off x="4810125" y="2425700"/>
            <a:ext cx="254000" cy="1371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91300" r="4295"/>
          <a:stretch/>
        </p:blipFill>
        <p:spPr>
          <a:xfrm>
            <a:off x="4851400" y="4181475"/>
            <a:ext cx="254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592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Now separate into two equations: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And rearrange into standard form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100" y="2768600"/>
            <a:ext cx="3213100" cy="13208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700" y="4432300"/>
            <a:ext cx="36195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98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2066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These are just (the same!) standard differential equations with known solutions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Second order linear homogenous diff. eq. with constant coefficients</a:t>
            </a:r>
          </a:p>
        </p:txBody>
      </p:sp>
      <p:sp>
        <p:nvSpPr>
          <p:cNvPr id="2" name="Rectangle 1"/>
          <p:cNvSpPr/>
          <p:nvPr/>
        </p:nvSpPr>
        <p:spPr>
          <a:xfrm>
            <a:off x="848533" y="3705999"/>
            <a:ext cx="15090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In general: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1372408" y="4994106"/>
            <a:ext cx="8685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Ours: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6049928" y="4932551"/>
            <a:ext cx="17973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with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= -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endParaRPr lang="en-US" sz="2800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E6593-7CDC-829C-C884-AD9019BFB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50" y="3685064"/>
            <a:ext cx="5397500" cy="49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971FB6-F8AF-058A-D446-32E2AB191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728" y="4994106"/>
            <a:ext cx="34544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We will see this diff. eq. A LOT in the course: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Let’s take the time to solve it right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11132" y="3338294"/>
            <a:ext cx="7930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Set up and solve the corresponding 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characteristic equation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2438" y="4823678"/>
            <a:ext cx="87126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It’s just the quadratic equation! Solution is the 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quadratic formula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!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325" y="3937000"/>
            <a:ext cx="4076700" cy="762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475" y="5283200"/>
            <a:ext cx="4610100" cy="1574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A5AE2-8301-2139-AD99-5D2C9F552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2549" y="2515284"/>
            <a:ext cx="3794125" cy="49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5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Case 1: The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discriminant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Symbol" charset="2"/>
                <a:cs typeface="Symbol" charset="2"/>
              </a:rPr>
              <a:t>l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is real, 2 roots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4233" y="3778508"/>
            <a:ext cx="1313430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Solution: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025" y="1164167"/>
            <a:ext cx="2870200" cy="673100"/>
          </a:xfrm>
          <a:prstGeom prst="rect">
            <a:avLst/>
          </a:prstGeom>
          <a:effectLst/>
        </p:spPr>
      </p:pic>
      <p:sp>
        <p:nvSpPr>
          <p:cNvPr id="12" name="Rectangle 11"/>
          <p:cNvSpPr/>
          <p:nvPr/>
        </p:nvSpPr>
        <p:spPr>
          <a:xfrm>
            <a:off x="3935851" y="4894302"/>
            <a:ext cx="1330112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constants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5038529" y="2599034"/>
            <a:ext cx="800219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roots</a:t>
            </a:r>
            <a:endParaRPr lang="en-US" sz="2400" dirty="0"/>
          </a:p>
        </p:txBody>
      </p:sp>
      <p:cxnSp>
        <p:nvCxnSpPr>
          <p:cNvPr id="15" name="Straight Arrow Connector 14"/>
          <p:cNvCxnSpPr>
            <a:stCxn id="13" idx="2"/>
          </p:cNvCxnSpPr>
          <p:nvPr/>
        </p:nvCxnSpPr>
        <p:spPr>
          <a:xfrm flipH="1">
            <a:off x="4391629" y="3060699"/>
            <a:ext cx="1047010" cy="612776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2"/>
          </p:cNvCxnSpPr>
          <p:nvPr/>
        </p:nvCxnSpPr>
        <p:spPr>
          <a:xfrm>
            <a:off x="5402122" y="3060699"/>
            <a:ext cx="803371" cy="612776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 flipH="1" flipV="1">
            <a:off x="3714750" y="4297323"/>
            <a:ext cx="886157" cy="59697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597536" y="4297323"/>
            <a:ext cx="825228" cy="59697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56EB7A8-3322-0CF9-8E8A-8726D3D13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750" y="3714750"/>
            <a:ext cx="4635500" cy="5334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3984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962" y="85725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Case 2: The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discriminant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Symbol" charset="2"/>
                <a:cs typeface="Symbol" charset="2"/>
              </a:rPr>
              <a:t>l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is real, but repeated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48533" y="3854708"/>
            <a:ext cx="13134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Solution: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654" y="1082675"/>
            <a:ext cx="2921000" cy="774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3A0A14-11B9-CE16-5D1E-DCDBFA0E3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437" y="3822700"/>
            <a:ext cx="45085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2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Case 3: The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discriminant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Symbol" charset="2"/>
                <a:cs typeface="Symbol" charset="2"/>
              </a:rPr>
              <a:t>l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is complex. </a:t>
            </a:r>
            <a:r>
              <a:rPr lang="en-GB" sz="2800" b="1" i="1" u="sng" dirty="0">
                <a:solidFill>
                  <a:srgbClr val="000000"/>
                </a:solidFill>
                <a:latin typeface="Times New Roman" pitchFamily="18" charset="0"/>
              </a:rPr>
              <a:t>MOST IMPORTANT CASE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450" y="1076325"/>
            <a:ext cx="2895600" cy="736600"/>
          </a:xfrm>
          <a:prstGeom prst="rect">
            <a:avLst/>
          </a:prstGeom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275" y="2771775"/>
            <a:ext cx="5791200" cy="1587500"/>
          </a:xfrm>
          <a:prstGeom prst="rect">
            <a:avLst/>
          </a:prstGeom>
          <a:effectLst/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4025" y="5365750"/>
            <a:ext cx="2743200" cy="749300"/>
          </a:xfrm>
          <a:prstGeom prst="rect">
            <a:avLst/>
          </a:prstGeom>
          <a:effectLst/>
        </p:spPr>
      </p:pic>
      <p:sp>
        <p:nvSpPr>
          <p:cNvPr id="13" name="Right Brace 12"/>
          <p:cNvSpPr/>
          <p:nvPr/>
        </p:nvSpPr>
        <p:spPr>
          <a:xfrm rot="5400000">
            <a:off x="2890043" y="3815557"/>
            <a:ext cx="704850" cy="1087438"/>
          </a:xfrm>
          <a:prstGeom prst="rightBrac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 rot="5400000">
            <a:off x="5382815" y="3068242"/>
            <a:ext cx="704850" cy="2563019"/>
          </a:xfrm>
          <a:prstGeom prst="rightBrac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13" idx="1"/>
          </p:cNvCxnSpPr>
          <p:nvPr/>
        </p:nvCxnSpPr>
        <p:spPr>
          <a:xfrm>
            <a:off x="3242468" y="4711701"/>
            <a:ext cx="1043782" cy="87629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286375" y="4711701"/>
            <a:ext cx="450850" cy="76517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4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49D9B8D6-DFAC-B368-4455-D101E29F9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4439A4-9533-C460-6194-590D22402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2AAF9-067A-20E7-0AA9-8928B9FC0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Case 3: The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discriminant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Symbol" charset="2"/>
                <a:cs typeface="Symbol" charset="2"/>
              </a:rPr>
              <a:t>l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is complex. </a:t>
            </a:r>
            <a:r>
              <a:rPr lang="en-GB" sz="2800" b="1" i="1" u="sng" dirty="0">
                <a:solidFill>
                  <a:srgbClr val="000000"/>
                </a:solidFill>
                <a:latin typeface="Times New Roman" pitchFamily="18" charset="0"/>
              </a:rPr>
              <a:t>MOST IMPORTANT CASE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9D602F-E452-4EC4-2B65-0361C72DF54F}"/>
              </a:ext>
            </a:extLst>
          </p:cNvPr>
          <p:cNvSpPr/>
          <p:nvPr/>
        </p:nvSpPr>
        <p:spPr>
          <a:xfrm>
            <a:off x="848533" y="3029208"/>
            <a:ext cx="1313430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Solution: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5F9FFF-16CA-A787-5234-A8B3D1922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944773"/>
            <a:ext cx="6400800" cy="546100"/>
          </a:xfrm>
          <a:prstGeom prst="rect">
            <a:avLst/>
          </a:prstGeom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4BB529-D9CD-7601-F119-F02EAC1E7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450" y="1076325"/>
            <a:ext cx="2895600" cy="736600"/>
          </a:xfrm>
          <a:prstGeom prst="rect">
            <a:avLst/>
          </a:prstGeom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7CBE9D-2870-6F2C-01BB-0862519200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08" b="6521"/>
          <a:stretch/>
        </p:blipFill>
        <p:spPr>
          <a:xfrm>
            <a:off x="3251200" y="4102100"/>
            <a:ext cx="5257800" cy="546100"/>
          </a:xfrm>
          <a:prstGeom prst="rect">
            <a:avLst/>
          </a:prstGeom>
          <a:effectLst/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2D26B8-F5D3-0CE7-77BE-E15DB9C52C20}"/>
              </a:ext>
            </a:extLst>
          </p:cNvPr>
          <p:cNvCxnSpPr>
            <a:cxnSpLocks/>
          </p:cNvCxnSpPr>
          <p:nvPr/>
        </p:nvCxnSpPr>
        <p:spPr>
          <a:xfrm flipV="1">
            <a:off x="4318000" y="4642455"/>
            <a:ext cx="901700" cy="688975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B90EA2-51A8-2BB6-50A9-7DF4FF5BEE82}"/>
              </a:ext>
            </a:extLst>
          </p:cNvPr>
          <p:cNvCxnSpPr>
            <a:cxnSpLocks/>
          </p:cNvCxnSpPr>
          <p:nvPr/>
        </p:nvCxnSpPr>
        <p:spPr>
          <a:xfrm flipV="1">
            <a:off x="4318000" y="4655155"/>
            <a:ext cx="3039109" cy="688975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BAD7E45-CADE-FF91-B7C2-36ED9875264A}"/>
              </a:ext>
            </a:extLst>
          </p:cNvPr>
          <p:cNvSpPr/>
          <p:nvPr/>
        </p:nvSpPr>
        <p:spPr>
          <a:xfrm>
            <a:off x="5574697" y="5988992"/>
            <a:ext cx="2358639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Euler’s Formula</a:t>
            </a:r>
            <a:endParaRPr lang="en-US" sz="24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C8D0DF7-3216-CC40-786C-F36548491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5260975"/>
            <a:ext cx="6451600" cy="5334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2766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F5682BD-16BA-07A9-0A64-2AC31DFB2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2B0908-EBA4-7449-E389-6795131DF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B51D84-F88D-5CB6-0DA0-551486210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Case 3: The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discriminant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Using Euler’s Formula and rearranging:</a:t>
            </a:r>
            <a:endParaRPr lang="en-GB" sz="2800" b="1" i="1" u="sng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1750D9-3BFF-99B4-A2B4-70787478CCFE}"/>
              </a:ext>
            </a:extLst>
          </p:cNvPr>
          <p:cNvSpPr/>
          <p:nvPr/>
        </p:nvSpPr>
        <p:spPr>
          <a:xfrm>
            <a:off x="848533" y="3235583"/>
            <a:ext cx="1313430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Solution: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36318F-2C1A-39A1-18E9-FC0BB6D7D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502" y="4456668"/>
            <a:ext cx="1663700" cy="330200"/>
          </a:xfrm>
          <a:prstGeom prst="rect">
            <a:avLst/>
          </a:prstGeom>
          <a:effectLst/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6A8B4A-8D04-2FB1-659F-A495B5131921}"/>
              </a:ext>
            </a:extLst>
          </p:cNvPr>
          <p:cNvCxnSpPr/>
          <p:nvPr/>
        </p:nvCxnSpPr>
        <p:spPr>
          <a:xfrm>
            <a:off x="5381625" y="3697248"/>
            <a:ext cx="626877" cy="75942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3C45B1-9C96-1476-EA88-F9B1C8208C13}"/>
              </a:ext>
            </a:extLst>
          </p:cNvPr>
          <p:cNvCxnSpPr>
            <a:cxnSpLocks/>
          </p:cNvCxnSpPr>
          <p:nvPr/>
        </p:nvCxnSpPr>
        <p:spPr>
          <a:xfrm flipH="1">
            <a:off x="6286500" y="3697248"/>
            <a:ext cx="1511300" cy="75942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CBF669-0E80-6F20-238F-460787371878}"/>
              </a:ext>
            </a:extLst>
          </p:cNvPr>
          <p:cNvSpPr txBox="1"/>
          <p:nvPr/>
        </p:nvSpPr>
        <p:spPr>
          <a:xfrm>
            <a:off x="-7407" y="4456668"/>
            <a:ext cx="595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 physics, </a:t>
            </a:r>
            <a:r>
              <a:rPr lang="en-US" i="1" dirty="0">
                <a:latin typeface="Symbol" charset="2"/>
                <a:cs typeface="Symbol" charset="2"/>
              </a:rPr>
              <a:t>b</a:t>
            </a:r>
            <a:r>
              <a:rPr lang="en-US" dirty="0">
                <a:latin typeface="Times New Roman"/>
                <a:cs typeface="Times New Roman"/>
              </a:rPr>
              <a:t> is the “</a:t>
            </a:r>
            <a:r>
              <a:rPr lang="en-US" b="1" u="sng" dirty="0">
                <a:latin typeface="Times New Roman"/>
                <a:cs typeface="Times New Roman"/>
              </a:rPr>
              <a:t>angular frequency</a:t>
            </a:r>
            <a:r>
              <a:rPr lang="en-US" dirty="0">
                <a:latin typeface="Times New Roman"/>
                <a:cs typeface="Times New Roman"/>
              </a:rPr>
              <a:t>” and usually denoted: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3131C-F9AB-E165-24C7-6F08AE64BFE8}"/>
              </a:ext>
            </a:extLst>
          </p:cNvPr>
          <p:cNvSpPr txBox="1"/>
          <p:nvPr/>
        </p:nvSpPr>
        <p:spPr>
          <a:xfrm>
            <a:off x="6572762" y="5171043"/>
            <a:ext cx="2005677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“</a:t>
            </a:r>
            <a:r>
              <a:rPr lang="en-US" b="1" u="sng" dirty="0">
                <a:latin typeface="Times New Roman"/>
                <a:cs typeface="Times New Roman"/>
              </a:rPr>
              <a:t>linear frequency</a:t>
            </a:r>
            <a:r>
              <a:rPr lang="en-US" dirty="0">
                <a:latin typeface="Times New Roman"/>
                <a:cs typeface="Times New Roman"/>
              </a:rPr>
              <a:t>”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D14A77-B943-3BA1-7CB0-A19C0368A043}"/>
              </a:ext>
            </a:extLst>
          </p:cNvPr>
          <p:cNvSpPr/>
          <p:nvPr/>
        </p:nvSpPr>
        <p:spPr>
          <a:xfrm>
            <a:off x="5908462" y="4365625"/>
            <a:ext cx="1984587" cy="508001"/>
          </a:xfrm>
          <a:prstGeom prst="rect">
            <a:avLst/>
          </a:prstGeom>
          <a:noFill/>
          <a:ln w="38100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47D7AC5-50B1-8C70-15E1-9275A9AC8205}"/>
              </a:ext>
            </a:extLst>
          </p:cNvPr>
          <p:cNvCxnSpPr/>
          <p:nvPr/>
        </p:nvCxnSpPr>
        <p:spPr>
          <a:xfrm flipV="1">
            <a:off x="7493000" y="4841876"/>
            <a:ext cx="0" cy="34504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27AC4E0B-B55B-33AA-3B31-0AB831351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0" y="3213100"/>
            <a:ext cx="6172200" cy="558800"/>
          </a:xfrm>
          <a:prstGeom prst="rect">
            <a:avLst/>
          </a:prstGeom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23CE8A-56C1-3B80-2E5F-9C5E79EFF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450" y="1076325"/>
            <a:ext cx="2895600" cy="7366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9044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Back to where we were:</a:t>
            </a:r>
            <a:endParaRPr lang="en-GB" sz="3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269" y="1141889"/>
            <a:ext cx="4368800" cy="660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600" y="1927225"/>
            <a:ext cx="3213100" cy="13208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07469" y="1966585"/>
            <a:ext cx="3986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 = 1,</a:t>
            </a:r>
            <a:r>
              <a:rPr lang="en-GB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 b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 = 0,</a:t>
            </a:r>
            <a:r>
              <a:rPr lang="en-GB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 c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 = -</a:t>
            </a:r>
            <a:r>
              <a:rPr lang="en-GB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endParaRPr lang="en-GB" sz="2800" b="1" i="1" u="sng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7469" y="2562830"/>
            <a:ext cx="3986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(0) = 0, </a:t>
            </a:r>
            <a:r>
              <a:rPr lang="en-GB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lang="en-GB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) = 0</a:t>
            </a:r>
            <a:endParaRPr lang="en-GB" sz="2800" b="1" u="sng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3725" y="3438525"/>
            <a:ext cx="2197100" cy="812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1186" y="4509105"/>
            <a:ext cx="7358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If k &gt; 0 or k = 0 (case 1 or 2) then </a:t>
            </a:r>
            <a:r>
              <a:rPr lang="en-GB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lang="en-GB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) =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836" y="5201255"/>
            <a:ext cx="7358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Therefore k must be &lt;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0838" y="5886708"/>
            <a:ext cx="13134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Solution:</a:t>
            </a:r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7400" y="5832733"/>
            <a:ext cx="5667375" cy="60558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784850" y="6338332"/>
            <a:ext cx="13719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Waves!!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470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4" grpId="0"/>
      <p:bldP spid="16" grpId="0"/>
      <p:bldP spid="17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Or </a:t>
            </a:r>
            <a:r>
              <a:rPr lang="en-GB" sz="3200" i="1" u="sng" dirty="0">
                <a:solidFill>
                  <a:srgbClr val="000000"/>
                </a:solidFill>
                <a:latin typeface="Times New Roman" pitchFamily="18" charset="0"/>
              </a:rPr>
              <a:t>we could do this whole lecture in one 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line of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Mathematica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or Maple </a:t>
            </a:r>
            <a:endParaRPr lang="en-GB" sz="2800" b="1" i="1" u="sng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r="88889"/>
          <a:stretch/>
        </p:blipFill>
        <p:spPr>
          <a:xfrm>
            <a:off x="203200" y="3222625"/>
            <a:ext cx="965200" cy="1706767"/>
          </a:xfrm>
          <a:prstGeom prst="rect">
            <a:avLst/>
          </a:prstGeom>
        </p:spPr>
      </p:pic>
      <p:sp>
        <p:nvSpPr>
          <p:cNvPr id="7" name="Smiley Face 6"/>
          <p:cNvSpPr/>
          <p:nvPr/>
        </p:nvSpPr>
        <p:spPr>
          <a:xfrm>
            <a:off x="4476750" y="1778000"/>
            <a:ext cx="635000" cy="55562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4A052-34F8-2DA4-64AD-A33A23939FDE}"/>
              </a:ext>
            </a:extLst>
          </p:cNvPr>
          <p:cNvSpPr txBox="1"/>
          <p:nvPr/>
        </p:nvSpPr>
        <p:spPr>
          <a:xfrm>
            <a:off x="1465224" y="3108325"/>
            <a:ext cx="7013652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ourier" pitchFamily="2" charset="0"/>
              </a:rPr>
              <a:t>DSolve</a:t>
            </a:r>
            <a:r>
              <a:rPr lang="en-US" sz="2400" b="1" dirty="0">
                <a:latin typeface="Courier" pitchFamily="2" charset="0"/>
              </a:rPr>
              <a:t>[X''[</a:t>
            </a:r>
            <a:r>
              <a:rPr lang="en-US" sz="2400" b="1" dirty="0">
                <a:solidFill>
                  <a:srgbClr val="00B050"/>
                </a:solidFill>
                <a:latin typeface="Courier" pitchFamily="2" charset="0"/>
              </a:rPr>
              <a:t>x</a:t>
            </a:r>
            <a:r>
              <a:rPr lang="en-US" sz="2400" b="1" dirty="0">
                <a:latin typeface="Courier" pitchFamily="2" charset="0"/>
              </a:rPr>
              <a:t>] + c X[</a:t>
            </a:r>
            <a:r>
              <a:rPr lang="en-US" sz="2400" b="1" dirty="0">
                <a:solidFill>
                  <a:srgbClr val="00B050"/>
                </a:solidFill>
                <a:latin typeface="Courier" pitchFamily="2" charset="0"/>
              </a:rPr>
              <a:t>x</a:t>
            </a:r>
            <a:r>
              <a:rPr lang="en-US" sz="2400" b="1" dirty="0">
                <a:latin typeface="Courier" pitchFamily="2" charset="0"/>
              </a:rPr>
              <a:t>] == 0, X[</a:t>
            </a:r>
            <a:r>
              <a:rPr lang="en-US" sz="2400" b="1" dirty="0">
                <a:solidFill>
                  <a:srgbClr val="00B050"/>
                </a:solidFill>
                <a:latin typeface="Courier" pitchFamily="2" charset="0"/>
              </a:rPr>
              <a:t>x</a:t>
            </a:r>
            <a:r>
              <a:rPr lang="en-US" sz="2400" b="1" dirty="0">
                <a:latin typeface="Courier" pitchFamily="2" charset="0"/>
              </a:rPr>
              <a:t>], x]</a:t>
            </a:r>
          </a:p>
          <a:p>
            <a:endParaRPr lang="en-US" dirty="0">
              <a:latin typeface="Courier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208DBE-2581-3FDF-5BC2-7B8C4ACE4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980" y="3992693"/>
            <a:ext cx="7108296" cy="54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9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F15EF9E-7CB8-A751-13D3-92004063E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CFB8D06-16EE-B14E-9F75-63D63F09B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8" y="8466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Classical Wave Equation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A4EBBF-55B0-6403-48A9-BD4BF173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199"/>
            <a:ext cx="8686800" cy="1431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We can also check the solution with computer algebra systems:</a:t>
            </a:r>
            <a:endParaRPr lang="en-GB" sz="2800" b="1" i="1" u="sng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94B57-BFC1-AB5A-212D-F64BDC64A723}"/>
              </a:ext>
            </a:extLst>
          </p:cNvPr>
          <p:cNvSpPr txBox="1"/>
          <p:nvPr/>
        </p:nvSpPr>
        <p:spPr>
          <a:xfrm>
            <a:off x="1041400" y="4022725"/>
            <a:ext cx="79629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" pitchFamily="2" charset="0"/>
              </a:rPr>
              <a:t>X = c1 Cos[Sqrt[c] x] + c2 Sin[Sqrt[c] x];</a:t>
            </a:r>
          </a:p>
          <a:p>
            <a:endParaRPr lang="en-US" sz="2400" b="1" dirty="0">
              <a:latin typeface="Courier" pitchFamily="2" charset="0"/>
            </a:endParaRPr>
          </a:p>
          <a:p>
            <a:r>
              <a:rPr lang="en-US" sz="2400" b="1" dirty="0">
                <a:latin typeface="Courier" pitchFamily="2" charset="0"/>
              </a:rPr>
              <a:t>D[X, {x, 2}] + c X // </a:t>
            </a:r>
            <a:r>
              <a:rPr lang="en-US" sz="2400" b="1" dirty="0" err="1">
                <a:latin typeface="Courier" pitchFamily="2" charset="0"/>
              </a:rPr>
              <a:t>FullSimplify</a:t>
            </a:r>
            <a:endParaRPr lang="en-US" sz="2400" b="1" dirty="0">
              <a:latin typeface="Courier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7CF499-57DE-8DC4-A763-E285FB8AF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" y="5906453"/>
            <a:ext cx="1444214" cy="6213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F3AC53-3EBE-0A9D-6B4D-C9A583A87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09464"/>
            <a:ext cx="1041400" cy="1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7C4D66-7A60-89A4-A9FA-D9CC34FD8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350" y="2476500"/>
            <a:ext cx="3568700" cy="1016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D3FCD2B-F7F1-3D74-BA6F-D4560401F3D1}"/>
              </a:ext>
            </a:extLst>
          </p:cNvPr>
          <p:cNvSpPr txBox="1"/>
          <p:nvPr/>
        </p:nvSpPr>
        <p:spPr>
          <a:xfrm>
            <a:off x="5638800" y="2282885"/>
            <a:ext cx="4122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513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6810</TotalTime>
  <Words>748</Words>
  <Application>Microsoft Macintosh PowerPoint</Application>
  <PresentationFormat>On-screen Show (4:3)</PresentationFormat>
  <Paragraphs>122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Courier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Jay College of Criminal Justice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Nicholas Petraco</dc:creator>
  <cp:lastModifiedBy>Nicholas Petraco</cp:lastModifiedBy>
  <cp:revision>133</cp:revision>
  <dcterms:created xsi:type="dcterms:W3CDTF">2011-09-22T13:36:22Z</dcterms:created>
  <dcterms:modified xsi:type="dcterms:W3CDTF">2026-09-08T13:03:56Z</dcterms:modified>
</cp:coreProperties>
</file>