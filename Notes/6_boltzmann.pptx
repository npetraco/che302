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78" r:id="rId2"/>
    <p:sldId id="280" r:id="rId3"/>
    <p:sldId id="281" r:id="rId4"/>
    <p:sldId id="282" r:id="rId5"/>
    <p:sldId id="312" r:id="rId6"/>
    <p:sldId id="285" r:id="rId7"/>
    <p:sldId id="284" r:id="rId8"/>
    <p:sldId id="300" r:id="rId9"/>
    <p:sldId id="286" r:id="rId10"/>
    <p:sldId id="287" r:id="rId11"/>
    <p:sldId id="290" r:id="rId12"/>
    <p:sldId id="291" r:id="rId13"/>
    <p:sldId id="302" r:id="rId14"/>
    <p:sldId id="293" r:id="rId15"/>
    <p:sldId id="301" r:id="rId16"/>
    <p:sldId id="313" r:id="rId17"/>
    <p:sldId id="314" r:id="rId18"/>
    <p:sldId id="288" r:id="rId19"/>
    <p:sldId id="315" r:id="rId20"/>
    <p:sldId id="295" r:id="rId21"/>
    <p:sldId id="294" r:id="rId22"/>
    <p:sldId id="289" r:id="rId23"/>
    <p:sldId id="296" r:id="rId24"/>
    <p:sldId id="318" r:id="rId25"/>
    <p:sldId id="298" r:id="rId26"/>
    <p:sldId id="303" r:id="rId27"/>
    <p:sldId id="306" r:id="rId28"/>
    <p:sldId id="304" r:id="rId29"/>
    <p:sldId id="311" r:id="rId30"/>
    <p:sldId id="307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DF00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11"/>
    <p:restoredTop sz="95461" autoAdjust="0"/>
  </p:normalViewPr>
  <p:slideViewPr>
    <p:cSldViewPr snapToGrid="0" snapToObjects="1">
      <p:cViewPr varScale="1">
        <p:scale>
          <a:sx n="112" d="100"/>
          <a:sy n="112" d="100"/>
        </p:scale>
        <p:origin x="32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B5508F-B9DA-3A4B-92BF-6A413880202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E6FDBA-7020-E442-843C-9E0CA2BD0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469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2355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E6FDBA-7020-E442-843C-9E0CA2BD00F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8854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E6FDBA-7020-E442-843C-9E0CA2BD00F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112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B4BC-311C-574E-AB1F-5BCC7E00BDAB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E89B-9A3C-9B44-A541-A265C029BA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B4BC-311C-574E-AB1F-5BCC7E00BDAB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E89B-9A3C-9B44-A541-A265C029BA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B4BC-311C-574E-AB1F-5BCC7E00BDAB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E89B-9A3C-9B44-A541-A265C029BA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B4BC-311C-574E-AB1F-5BCC7E00BDAB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E89B-9A3C-9B44-A541-A265C029BA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B4BC-311C-574E-AB1F-5BCC7E00BDAB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E89B-9A3C-9B44-A541-A265C029BA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B4BC-311C-574E-AB1F-5BCC7E00BDAB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E89B-9A3C-9B44-A541-A265C029BA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B4BC-311C-574E-AB1F-5BCC7E00BDAB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E89B-9A3C-9B44-A541-A265C029BA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B4BC-311C-574E-AB1F-5BCC7E00BDAB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E89B-9A3C-9B44-A541-A265C029BA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B4BC-311C-574E-AB1F-5BCC7E00BDAB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E89B-9A3C-9B44-A541-A265C029BA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B4BC-311C-574E-AB1F-5BCC7E00BDAB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E89B-9A3C-9B44-A541-A265C029BA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B4BC-311C-574E-AB1F-5BCC7E00BDAB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E89B-9A3C-9B44-A541-A265C029BA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F2B4BC-311C-574E-AB1F-5BCC7E00BDAB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CCE89B-9A3C-9B44-A541-A265C029BAF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g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image" Target="../media/image9.emf"/><Relationship Id="rId7" Type="http://schemas.openxmlformats.org/officeDocument/2006/relationships/image" Target="../media/image1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emf"/><Relationship Id="rId5" Type="http://schemas.openxmlformats.org/officeDocument/2006/relationships/image" Target="../media/image11.emf"/><Relationship Id="rId4" Type="http://schemas.openxmlformats.org/officeDocument/2006/relationships/image" Target="../media/image10.emf"/><Relationship Id="rId9" Type="http://schemas.openxmlformats.org/officeDocument/2006/relationships/image" Target="../media/image15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emf"/><Relationship Id="rId4" Type="http://schemas.openxmlformats.org/officeDocument/2006/relationships/image" Target="../media/image17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image" Target="../media/image1.png"/><Relationship Id="rId7" Type="http://schemas.openxmlformats.org/officeDocument/2006/relationships/image" Target="../media/image2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emf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emf"/><Relationship Id="rId4" Type="http://schemas.openxmlformats.org/officeDocument/2006/relationships/image" Target="../media/image33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emf"/><Relationship Id="rId5" Type="http://schemas.openxmlformats.org/officeDocument/2006/relationships/image" Target="../media/image37.emf"/><Relationship Id="rId4" Type="http://schemas.openxmlformats.org/officeDocument/2006/relationships/image" Target="../media/image36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emf"/><Relationship Id="rId5" Type="http://schemas.openxmlformats.org/officeDocument/2006/relationships/image" Target="../media/image45.emf"/><Relationship Id="rId4" Type="http://schemas.openxmlformats.org/officeDocument/2006/relationships/image" Target="../media/image44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emf"/><Relationship Id="rId4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emf"/><Relationship Id="rId5" Type="http://schemas.openxmlformats.org/officeDocument/2006/relationships/image" Target="../media/image51.emf"/><Relationship Id="rId4" Type="http://schemas.openxmlformats.org/officeDocument/2006/relationships/image" Target="../media/image50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emf"/><Relationship Id="rId4" Type="http://schemas.openxmlformats.org/officeDocument/2006/relationships/image" Target="../media/image54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e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emf"/><Relationship Id="rId3" Type="http://schemas.openxmlformats.org/officeDocument/2006/relationships/image" Target="../media/image59.emf"/><Relationship Id="rId7" Type="http://schemas.openxmlformats.org/officeDocument/2006/relationships/image" Target="../media/image6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emf"/><Relationship Id="rId5" Type="http://schemas.openxmlformats.org/officeDocument/2006/relationships/image" Target="../media/image61.emf"/><Relationship Id="rId4" Type="http://schemas.openxmlformats.org/officeDocument/2006/relationships/image" Target="../media/image60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034" y="152400"/>
            <a:ext cx="9027242" cy="24370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034" y="6451286"/>
            <a:ext cx="9027242" cy="24470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22869" y="243546"/>
            <a:ext cx="9104312" cy="162982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pPr algn="ctr"/>
            <a:r>
              <a:rPr lang="en-US" sz="4400" dirty="0">
                <a:latin typeface="Times New Roman"/>
                <a:cs typeface="Times New Roman"/>
              </a:rPr>
              <a:t>A Box of Particles</a:t>
            </a:r>
          </a:p>
        </p:txBody>
      </p:sp>
      <p:graphicFrame>
        <p:nvGraphicFramePr>
          <p:cNvPr id="1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0591263"/>
              </p:ext>
            </p:extLst>
          </p:nvPr>
        </p:nvGraphicFramePr>
        <p:xfrm>
          <a:off x="5853154" y="5187289"/>
          <a:ext cx="61959" cy="151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76320" imgH="181080" progId="">
                  <p:embed/>
                </p:oleObj>
              </mc:Choice>
              <mc:Fallback>
                <p:oleObj r:id="rId4" imgW="76320" imgH="18108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3154" y="5187289"/>
                        <a:ext cx="61959" cy="15145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"/>
          <p:cNvGrpSpPr/>
          <p:nvPr/>
        </p:nvGrpSpPr>
        <p:grpSpPr>
          <a:xfrm>
            <a:off x="1283355" y="1590842"/>
            <a:ext cx="5782678" cy="4711532"/>
            <a:chOff x="2587625" y="2921000"/>
            <a:chExt cx="4064000" cy="3381374"/>
          </a:xfrm>
        </p:grpSpPr>
        <p:sp>
          <p:nvSpPr>
            <p:cNvPr id="8" name="Cube 7"/>
            <p:cNvSpPr/>
            <p:nvPr/>
          </p:nvSpPr>
          <p:spPr>
            <a:xfrm>
              <a:off x="2587625" y="2921000"/>
              <a:ext cx="4064000" cy="3381374"/>
            </a:xfrm>
            <a:prstGeom prst="cub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/>
            <p:cNvCxnSpPr/>
            <p:nvPr/>
          </p:nvCxnSpPr>
          <p:spPr>
            <a:xfrm flipH="1" flipV="1">
              <a:off x="3444875" y="5413375"/>
              <a:ext cx="3206750" cy="317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3429000" y="2921000"/>
              <a:ext cx="15875" cy="249237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2587625" y="5429250"/>
              <a:ext cx="857250" cy="8731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Picture 1" descr="boltzman.jp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823" y="1873366"/>
            <a:ext cx="2903975" cy="4201840"/>
          </a:xfrm>
          <a:prstGeom prst="rect">
            <a:avLst/>
          </a:prstGeom>
        </p:spPr>
      </p:pic>
      <p:cxnSp>
        <p:nvCxnSpPr>
          <p:cNvPr id="14" name="Straight Connector 13"/>
          <p:cNvCxnSpPr>
            <a:cxnSpLocks/>
          </p:cNvCxnSpPr>
          <p:nvPr/>
        </p:nvCxnSpPr>
        <p:spPr>
          <a:xfrm>
            <a:off x="2636823" y="2767263"/>
            <a:ext cx="2903975" cy="0"/>
          </a:xfrm>
          <a:prstGeom prst="line">
            <a:avLst/>
          </a:prstGeom>
          <a:ln w="15875" cmpd="sng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794043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3718" y="11641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Dimensions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28600" y="1314450"/>
            <a:ext cx="8686800" cy="14795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We studied a </a:t>
            </a:r>
            <a:r>
              <a:rPr lang="en-GB" sz="3200" i="1" u="sng" dirty="0">
                <a:solidFill>
                  <a:srgbClr val="000000"/>
                </a:solidFill>
                <a:latin typeface="Times New Roman" pitchFamily="18" charset="0"/>
              </a:rPr>
              <a:t>single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 particle in a box</a:t>
            </a: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What happens if we have a box full of particles??</a:t>
            </a:r>
          </a:p>
          <a:p>
            <a:pPr marL="1344613" lvl="2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28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grpSp>
        <p:nvGrpSpPr>
          <p:cNvPr id="23" name="Group 22"/>
          <p:cNvGrpSpPr/>
          <p:nvPr/>
        </p:nvGrpSpPr>
        <p:grpSpPr>
          <a:xfrm>
            <a:off x="473169" y="3303080"/>
            <a:ext cx="4064000" cy="3381374"/>
            <a:chOff x="2587625" y="2921000"/>
            <a:chExt cx="4064000" cy="3381374"/>
          </a:xfrm>
        </p:grpSpPr>
        <p:sp>
          <p:nvSpPr>
            <p:cNvPr id="3" name="Cube 2"/>
            <p:cNvSpPr/>
            <p:nvPr/>
          </p:nvSpPr>
          <p:spPr>
            <a:xfrm>
              <a:off x="2587625" y="2921000"/>
              <a:ext cx="4064000" cy="3381374"/>
            </a:xfrm>
            <a:prstGeom prst="cub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Connector 13"/>
            <p:cNvCxnSpPr/>
            <p:nvPr/>
          </p:nvCxnSpPr>
          <p:spPr>
            <a:xfrm flipH="1" flipV="1">
              <a:off x="3444875" y="5413375"/>
              <a:ext cx="3206750" cy="317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3429000" y="2921000"/>
              <a:ext cx="15875" cy="249237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2587625" y="5429250"/>
              <a:ext cx="857250" cy="8731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/>
          <p:cNvGrpSpPr/>
          <p:nvPr/>
        </p:nvGrpSpPr>
        <p:grpSpPr>
          <a:xfrm>
            <a:off x="743044" y="4573080"/>
            <a:ext cx="1730375" cy="1873250"/>
            <a:chOff x="508000" y="3270250"/>
            <a:chExt cx="1730375" cy="1873250"/>
          </a:xfrm>
        </p:grpSpPr>
        <p:cxnSp>
          <p:nvCxnSpPr>
            <p:cNvPr id="25" name="Straight Connector 24"/>
            <p:cNvCxnSpPr/>
            <p:nvPr/>
          </p:nvCxnSpPr>
          <p:spPr>
            <a:xfrm flipV="1">
              <a:off x="1079500" y="3270250"/>
              <a:ext cx="0" cy="1206500"/>
            </a:xfrm>
            <a:prstGeom prst="line">
              <a:avLst/>
            </a:prstGeom>
            <a:ln>
              <a:solidFill>
                <a:schemeClr val="tx1"/>
              </a:solidFill>
              <a:headEnd type="none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1063625" y="4476750"/>
              <a:ext cx="1174750" cy="0"/>
            </a:xfrm>
            <a:prstGeom prst="line">
              <a:avLst/>
            </a:prstGeom>
            <a:ln>
              <a:solidFill>
                <a:schemeClr val="tx1"/>
              </a:solidFill>
              <a:headEnd type="none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H="1">
              <a:off x="508000" y="4476750"/>
              <a:ext cx="588964" cy="666750"/>
            </a:xfrm>
            <a:prstGeom prst="line">
              <a:avLst/>
            </a:prstGeom>
            <a:ln>
              <a:solidFill>
                <a:schemeClr val="tx1"/>
              </a:solidFill>
              <a:headEnd type="none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ectangle 38"/>
          <p:cNvSpPr/>
          <p:nvPr/>
        </p:nvSpPr>
        <p:spPr>
          <a:xfrm>
            <a:off x="2282919" y="5684985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x</a:t>
            </a:r>
            <a:endParaRPr lang="en-US" sz="2800" dirty="0"/>
          </a:p>
        </p:txBody>
      </p:sp>
      <p:sp>
        <p:nvSpPr>
          <p:cNvPr id="40" name="Rectangle 39"/>
          <p:cNvSpPr/>
          <p:nvPr/>
        </p:nvSpPr>
        <p:spPr>
          <a:xfrm>
            <a:off x="885919" y="4361010"/>
            <a:ext cx="3770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y</a:t>
            </a:r>
            <a:endParaRPr lang="en-US" sz="2800" dirty="0"/>
          </a:p>
        </p:txBody>
      </p:sp>
      <p:sp>
        <p:nvSpPr>
          <p:cNvPr id="41" name="Rectangle 40"/>
          <p:cNvSpPr/>
          <p:nvPr/>
        </p:nvSpPr>
        <p:spPr>
          <a:xfrm>
            <a:off x="898743" y="6152970"/>
            <a:ext cx="3440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z</a:t>
            </a:r>
            <a:endParaRPr lang="en-US" sz="2800" dirty="0"/>
          </a:p>
        </p:txBody>
      </p:sp>
      <p:sp>
        <p:nvSpPr>
          <p:cNvPr id="2" name="Rectangle 1"/>
          <p:cNvSpPr/>
          <p:nvPr/>
        </p:nvSpPr>
        <p:spPr>
          <a:xfrm>
            <a:off x="921429" y="2597668"/>
            <a:ext cx="31039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We get a model of a gas</a:t>
            </a:r>
            <a:endParaRPr lang="en-US" sz="2400" dirty="0"/>
          </a:p>
        </p:txBody>
      </p:sp>
      <p:sp>
        <p:nvSpPr>
          <p:cNvPr id="6" name="Smiley Face 5"/>
          <p:cNvSpPr/>
          <p:nvPr/>
        </p:nvSpPr>
        <p:spPr>
          <a:xfrm>
            <a:off x="2647121" y="3657343"/>
            <a:ext cx="294105" cy="294105"/>
          </a:xfrm>
          <a:prstGeom prst="smileyF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miley Face 19"/>
          <p:cNvSpPr/>
          <p:nvPr/>
        </p:nvSpPr>
        <p:spPr>
          <a:xfrm>
            <a:off x="4025409" y="4879371"/>
            <a:ext cx="294105" cy="294105"/>
          </a:xfrm>
          <a:prstGeom prst="smileyF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miley Face 20"/>
          <p:cNvSpPr/>
          <p:nvPr/>
        </p:nvSpPr>
        <p:spPr>
          <a:xfrm>
            <a:off x="1505379" y="4340957"/>
            <a:ext cx="294105" cy="294105"/>
          </a:xfrm>
          <a:prstGeom prst="smileyF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Smiley Face 23"/>
          <p:cNvSpPr/>
          <p:nvPr/>
        </p:nvSpPr>
        <p:spPr>
          <a:xfrm>
            <a:off x="2980078" y="5173476"/>
            <a:ext cx="294105" cy="294105"/>
          </a:xfrm>
          <a:prstGeom prst="smileyF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Smiley Face 25"/>
          <p:cNvSpPr/>
          <p:nvPr/>
        </p:nvSpPr>
        <p:spPr>
          <a:xfrm>
            <a:off x="4030756" y="4066905"/>
            <a:ext cx="294105" cy="294105"/>
          </a:xfrm>
          <a:prstGeom prst="smileyF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Smiley Face 27"/>
          <p:cNvSpPr/>
          <p:nvPr/>
        </p:nvSpPr>
        <p:spPr>
          <a:xfrm>
            <a:off x="2647121" y="4550662"/>
            <a:ext cx="294105" cy="294105"/>
          </a:xfrm>
          <a:prstGeom prst="smileyF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Smiley Face 29"/>
          <p:cNvSpPr/>
          <p:nvPr/>
        </p:nvSpPr>
        <p:spPr>
          <a:xfrm>
            <a:off x="1298669" y="6130989"/>
            <a:ext cx="294105" cy="294105"/>
          </a:xfrm>
          <a:prstGeom prst="smileyF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Smiley Face 30"/>
          <p:cNvSpPr/>
          <p:nvPr/>
        </p:nvSpPr>
        <p:spPr>
          <a:xfrm>
            <a:off x="2001347" y="6222061"/>
            <a:ext cx="294105" cy="294105"/>
          </a:xfrm>
          <a:prstGeom prst="smileyF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Smiley Face 31"/>
          <p:cNvSpPr/>
          <p:nvPr/>
        </p:nvSpPr>
        <p:spPr>
          <a:xfrm>
            <a:off x="1723785" y="5320528"/>
            <a:ext cx="294105" cy="294105"/>
          </a:xfrm>
          <a:prstGeom prst="smileyF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Smiley Face 32"/>
          <p:cNvSpPr/>
          <p:nvPr/>
        </p:nvSpPr>
        <p:spPr>
          <a:xfrm>
            <a:off x="2980078" y="5983936"/>
            <a:ext cx="294105" cy="294105"/>
          </a:xfrm>
          <a:prstGeom prst="smileyF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Smiley Face 34"/>
          <p:cNvSpPr/>
          <p:nvPr/>
        </p:nvSpPr>
        <p:spPr>
          <a:xfrm>
            <a:off x="743044" y="5320528"/>
            <a:ext cx="294105" cy="294105"/>
          </a:xfrm>
          <a:prstGeom prst="smileyF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Smiley Face 36"/>
          <p:cNvSpPr/>
          <p:nvPr/>
        </p:nvSpPr>
        <p:spPr>
          <a:xfrm>
            <a:off x="1388739" y="3671199"/>
            <a:ext cx="294105" cy="294105"/>
          </a:xfrm>
          <a:prstGeom prst="smileyF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Smiley Face 37"/>
          <p:cNvSpPr/>
          <p:nvPr/>
        </p:nvSpPr>
        <p:spPr>
          <a:xfrm>
            <a:off x="3878356" y="5680152"/>
            <a:ext cx="294105" cy="294105"/>
          </a:xfrm>
          <a:prstGeom prst="smileyF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5"/>
          <p:cNvSpPr>
            <a:spLocks noChangeArrowheads="1"/>
          </p:cNvSpPr>
          <p:nvPr/>
        </p:nvSpPr>
        <p:spPr bwMode="auto">
          <a:xfrm>
            <a:off x="4537169" y="3353866"/>
            <a:ext cx="4606831" cy="211371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The box is 3D</a:t>
            </a:r>
          </a:p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The particles bounce around, but do not stick together or repel</a:t>
            </a:r>
          </a:p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Each particle behaves like a particle in a box</a:t>
            </a:r>
          </a:p>
        </p:txBody>
      </p:sp>
    </p:spTree>
    <p:extLst>
      <p:ext uri="{BB962C8B-B14F-4D97-AF65-F5344CB8AC3E}">
        <p14:creationId xmlns:p14="http://schemas.microsoft.com/office/powerpoint/2010/main" val="3273103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20" grpId="0" animBg="1"/>
      <p:bldP spid="21" grpId="0" animBg="1"/>
      <p:bldP spid="24" grpId="0" animBg="1"/>
      <p:bldP spid="26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5" grpId="0" animBg="1"/>
      <p:bldP spid="37" grpId="0" animBg="1"/>
      <p:bldP spid="3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3718" y="11641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Microstates and </a:t>
            </a:r>
            <a:r>
              <a:rPr lang="en-GB" sz="4000" dirty="0" err="1">
                <a:solidFill>
                  <a:srgbClr val="000000"/>
                </a:solidFill>
                <a:latin typeface="Times New Roman" pitchFamily="18" charset="0"/>
              </a:rPr>
              <a:t>Macrostates</a:t>
            </a:r>
            <a:endParaRPr lang="en-GB" sz="4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2" name="Rectangle 5"/>
          <p:cNvSpPr>
            <a:spLocks noChangeArrowheads="1"/>
          </p:cNvSpPr>
          <p:nvPr/>
        </p:nvSpPr>
        <p:spPr bwMode="auto">
          <a:xfrm>
            <a:off x="228600" y="1149974"/>
            <a:ext cx="8686800" cy="153709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Each of the particles can be in any number of wave functions </a:t>
            </a:r>
            <a:r>
              <a:rPr lang="en-GB" sz="2800" i="1" u="sng" dirty="0">
                <a:solidFill>
                  <a:srgbClr val="000000"/>
                </a:solidFill>
                <a:latin typeface="Times New Roman" pitchFamily="18" charset="0"/>
              </a:rPr>
              <a:t>at any instant</a:t>
            </a: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Which particle is in which state is called a </a:t>
            </a:r>
            <a:r>
              <a:rPr lang="en-GB" sz="2400" b="1" dirty="0">
                <a:solidFill>
                  <a:srgbClr val="000000"/>
                </a:solidFill>
                <a:latin typeface="Times New Roman" pitchFamily="18" charset="0"/>
              </a:rPr>
              <a:t>microstate</a:t>
            </a:r>
          </a:p>
        </p:txBody>
      </p:sp>
      <p:grpSp>
        <p:nvGrpSpPr>
          <p:cNvPr id="43" name="Group 42"/>
          <p:cNvGrpSpPr/>
          <p:nvPr/>
        </p:nvGrpSpPr>
        <p:grpSpPr>
          <a:xfrm>
            <a:off x="615121" y="3158254"/>
            <a:ext cx="4064000" cy="3381374"/>
            <a:chOff x="2587625" y="2921000"/>
            <a:chExt cx="4064000" cy="3381374"/>
          </a:xfrm>
        </p:grpSpPr>
        <p:sp>
          <p:nvSpPr>
            <p:cNvPr id="44" name="Cube 43"/>
            <p:cNvSpPr/>
            <p:nvPr/>
          </p:nvSpPr>
          <p:spPr>
            <a:xfrm>
              <a:off x="2587625" y="2921000"/>
              <a:ext cx="4064000" cy="3381374"/>
            </a:xfrm>
            <a:prstGeom prst="cub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" name="Straight Connector 44"/>
            <p:cNvCxnSpPr/>
            <p:nvPr/>
          </p:nvCxnSpPr>
          <p:spPr>
            <a:xfrm flipH="1" flipV="1">
              <a:off x="3444875" y="5413375"/>
              <a:ext cx="3206750" cy="317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3429000" y="2921000"/>
              <a:ext cx="15875" cy="249237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flipH="1">
              <a:off x="2587625" y="5429250"/>
              <a:ext cx="857250" cy="8731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/>
          <p:cNvGrpSpPr/>
          <p:nvPr/>
        </p:nvGrpSpPr>
        <p:grpSpPr>
          <a:xfrm>
            <a:off x="884996" y="4428254"/>
            <a:ext cx="1730375" cy="1873250"/>
            <a:chOff x="508000" y="3270250"/>
            <a:chExt cx="1730375" cy="1873250"/>
          </a:xfrm>
        </p:grpSpPr>
        <p:cxnSp>
          <p:nvCxnSpPr>
            <p:cNvPr id="49" name="Straight Connector 48"/>
            <p:cNvCxnSpPr/>
            <p:nvPr/>
          </p:nvCxnSpPr>
          <p:spPr>
            <a:xfrm flipV="1">
              <a:off x="1079500" y="3270250"/>
              <a:ext cx="0" cy="1206500"/>
            </a:xfrm>
            <a:prstGeom prst="line">
              <a:avLst/>
            </a:prstGeom>
            <a:ln>
              <a:solidFill>
                <a:schemeClr val="tx1"/>
              </a:solidFill>
              <a:headEnd type="none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1063625" y="4476750"/>
              <a:ext cx="1174750" cy="0"/>
            </a:xfrm>
            <a:prstGeom prst="line">
              <a:avLst/>
            </a:prstGeom>
            <a:ln>
              <a:solidFill>
                <a:schemeClr val="tx1"/>
              </a:solidFill>
              <a:headEnd type="none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flipH="1">
              <a:off x="508000" y="4476750"/>
              <a:ext cx="588964" cy="666750"/>
            </a:xfrm>
            <a:prstGeom prst="line">
              <a:avLst/>
            </a:prstGeom>
            <a:ln>
              <a:solidFill>
                <a:schemeClr val="tx1"/>
              </a:solidFill>
              <a:headEnd type="none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Rectangle 51"/>
          <p:cNvSpPr/>
          <p:nvPr/>
        </p:nvSpPr>
        <p:spPr>
          <a:xfrm>
            <a:off x="2424871" y="5540159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x</a:t>
            </a:r>
            <a:endParaRPr lang="en-US" sz="2800" dirty="0"/>
          </a:p>
        </p:txBody>
      </p:sp>
      <p:sp>
        <p:nvSpPr>
          <p:cNvPr id="53" name="Rectangle 52"/>
          <p:cNvSpPr/>
          <p:nvPr/>
        </p:nvSpPr>
        <p:spPr>
          <a:xfrm>
            <a:off x="1027871" y="4216184"/>
            <a:ext cx="3770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y</a:t>
            </a:r>
            <a:endParaRPr lang="en-US" sz="2800" dirty="0"/>
          </a:p>
        </p:txBody>
      </p:sp>
      <p:sp>
        <p:nvSpPr>
          <p:cNvPr id="54" name="Rectangle 53"/>
          <p:cNvSpPr/>
          <p:nvPr/>
        </p:nvSpPr>
        <p:spPr>
          <a:xfrm>
            <a:off x="1040695" y="6008144"/>
            <a:ext cx="3440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z</a:t>
            </a:r>
            <a:endParaRPr lang="en-US" sz="2800" dirty="0"/>
          </a:p>
        </p:txBody>
      </p:sp>
      <p:grpSp>
        <p:nvGrpSpPr>
          <p:cNvPr id="82" name="Group 81"/>
          <p:cNvGrpSpPr/>
          <p:nvPr/>
        </p:nvGrpSpPr>
        <p:grpSpPr>
          <a:xfrm>
            <a:off x="3122030" y="5839110"/>
            <a:ext cx="624180" cy="408935"/>
            <a:chOff x="3122030" y="5331126"/>
            <a:chExt cx="624180" cy="408935"/>
          </a:xfrm>
        </p:grpSpPr>
        <p:sp>
          <p:nvSpPr>
            <p:cNvPr id="64" name="Smiley Face 63"/>
            <p:cNvSpPr/>
            <p:nvPr/>
          </p:nvSpPr>
          <p:spPr>
            <a:xfrm>
              <a:off x="3122030" y="5331126"/>
              <a:ext cx="294105" cy="294105"/>
            </a:xfrm>
            <a:prstGeom prst="smileyFac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343536" y="5370729"/>
              <a:ext cx="402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 New Roman"/>
                  <a:cs typeface="Times New Roman"/>
                </a:rPr>
                <a:t>E</a:t>
              </a:r>
              <a:r>
                <a:rPr lang="en-US" baseline="-25000" dirty="0">
                  <a:latin typeface="Times New Roman"/>
                  <a:cs typeface="Times New Roman"/>
                </a:rPr>
                <a:t>4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1865737" y="5175702"/>
            <a:ext cx="677324" cy="369332"/>
            <a:chOff x="1865737" y="4667718"/>
            <a:chExt cx="677324" cy="369332"/>
          </a:xfrm>
        </p:grpSpPr>
        <p:sp>
          <p:nvSpPr>
            <p:cNvPr id="63" name="Smiley Face 62"/>
            <p:cNvSpPr/>
            <p:nvPr/>
          </p:nvSpPr>
          <p:spPr>
            <a:xfrm>
              <a:off x="1865737" y="4667718"/>
              <a:ext cx="294105" cy="294105"/>
            </a:xfrm>
            <a:prstGeom prst="smileyFac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2140387" y="4667718"/>
              <a:ext cx="402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 New Roman"/>
                  <a:cs typeface="Times New Roman"/>
                </a:rPr>
                <a:t>E</a:t>
              </a:r>
              <a:r>
                <a:rPr lang="en-US" baseline="-25000" dirty="0">
                  <a:latin typeface="Times New Roman"/>
                  <a:cs typeface="Times New Roman"/>
                </a:rPr>
                <a:t>1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2789073" y="3490500"/>
            <a:ext cx="665671" cy="369332"/>
            <a:chOff x="2789073" y="2982516"/>
            <a:chExt cx="665671" cy="369332"/>
          </a:xfrm>
        </p:grpSpPr>
        <p:sp>
          <p:nvSpPr>
            <p:cNvPr id="55" name="Smiley Face 54"/>
            <p:cNvSpPr/>
            <p:nvPr/>
          </p:nvSpPr>
          <p:spPr>
            <a:xfrm>
              <a:off x="2789073" y="3004533"/>
              <a:ext cx="294105" cy="294105"/>
            </a:xfrm>
            <a:prstGeom prst="smileyFac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3052070" y="2982516"/>
              <a:ext cx="402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 New Roman"/>
                  <a:cs typeface="Times New Roman"/>
                </a:rPr>
                <a:t>E</a:t>
              </a:r>
              <a:r>
                <a:rPr lang="en-US" baseline="-25000" dirty="0">
                  <a:latin typeface="Times New Roman"/>
                  <a:cs typeface="Times New Roman"/>
                </a:rPr>
                <a:t>3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884996" y="5175702"/>
            <a:ext cx="583702" cy="459052"/>
            <a:chOff x="884996" y="4667718"/>
            <a:chExt cx="583702" cy="459052"/>
          </a:xfrm>
        </p:grpSpPr>
        <p:sp>
          <p:nvSpPr>
            <p:cNvPr id="65" name="Smiley Face 64"/>
            <p:cNvSpPr/>
            <p:nvPr/>
          </p:nvSpPr>
          <p:spPr>
            <a:xfrm>
              <a:off x="884996" y="4667718"/>
              <a:ext cx="294105" cy="294105"/>
            </a:xfrm>
            <a:prstGeom prst="smileyFac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1066024" y="4757438"/>
              <a:ext cx="402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 New Roman"/>
                  <a:cs typeface="Times New Roman"/>
                </a:rPr>
                <a:t>E</a:t>
              </a:r>
              <a:r>
                <a:rPr lang="en-US" baseline="-25000" dirty="0">
                  <a:latin typeface="Times New Roman"/>
                  <a:cs typeface="Times New Roman"/>
                </a:rPr>
                <a:t>2</a:t>
              </a:r>
            </a:p>
          </p:txBody>
        </p:sp>
      </p:grpSp>
      <p:grpSp>
        <p:nvGrpSpPr>
          <p:cNvPr id="83" name="Group 82"/>
          <p:cNvGrpSpPr/>
          <p:nvPr/>
        </p:nvGrpSpPr>
        <p:grpSpPr>
          <a:xfrm>
            <a:off x="2143299" y="6077235"/>
            <a:ext cx="618078" cy="437821"/>
            <a:chOff x="2143299" y="5569251"/>
            <a:chExt cx="618078" cy="437821"/>
          </a:xfrm>
        </p:grpSpPr>
        <p:sp>
          <p:nvSpPr>
            <p:cNvPr id="62" name="Smiley Face 61"/>
            <p:cNvSpPr/>
            <p:nvPr/>
          </p:nvSpPr>
          <p:spPr>
            <a:xfrm>
              <a:off x="2143299" y="5569251"/>
              <a:ext cx="294105" cy="294105"/>
            </a:xfrm>
            <a:prstGeom prst="smileyFac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2358703" y="5637740"/>
              <a:ext cx="402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 New Roman"/>
                  <a:cs typeface="Times New Roman"/>
                </a:rPr>
                <a:t>E</a:t>
              </a:r>
              <a:r>
                <a:rPr lang="en-US" baseline="-25000" dirty="0">
                  <a:latin typeface="Times New Roman"/>
                  <a:cs typeface="Times New Roman"/>
                </a:rPr>
                <a:t>8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1530691" y="3526373"/>
            <a:ext cx="649528" cy="395706"/>
            <a:chOff x="1530691" y="3018389"/>
            <a:chExt cx="649528" cy="395706"/>
          </a:xfrm>
        </p:grpSpPr>
        <p:sp>
          <p:nvSpPr>
            <p:cNvPr id="66" name="Smiley Face 65"/>
            <p:cNvSpPr/>
            <p:nvPr/>
          </p:nvSpPr>
          <p:spPr>
            <a:xfrm>
              <a:off x="1530691" y="3018389"/>
              <a:ext cx="294105" cy="294105"/>
            </a:xfrm>
            <a:prstGeom prst="smileyFac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1777545" y="3044763"/>
              <a:ext cx="402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 New Roman"/>
                  <a:cs typeface="Times New Roman"/>
                </a:rPr>
                <a:t>E</a:t>
              </a:r>
              <a:r>
                <a:rPr lang="en-US" baseline="-25000" dirty="0">
                  <a:latin typeface="Times New Roman"/>
                  <a:cs typeface="Times New Roman"/>
                </a:rPr>
                <a:t>5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1647331" y="4196131"/>
            <a:ext cx="596475" cy="467606"/>
            <a:chOff x="1647331" y="3688147"/>
            <a:chExt cx="596475" cy="467606"/>
          </a:xfrm>
        </p:grpSpPr>
        <p:sp>
          <p:nvSpPr>
            <p:cNvPr id="57" name="Smiley Face 56"/>
            <p:cNvSpPr/>
            <p:nvPr/>
          </p:nvSpPr>
          <p:spPr>
            <a:xfrm>
              <a:off x="1647331" y="3688147"/>
              <a:ext cx="294105" cy="294105"/>
            </a:xfrm>
            <a:prstGeom prst="smileyFac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841132" y="3786421"/>
              <a:ext cx="402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 New Roman"/>
                  <a:cs typeface="Times New Roman"/>
                </a:rPr>
                <a:t>E</a:t>
              </a:r>
              <a:r>
                <a:rPr lang="en-US" baseline="-25000" dirty="0">
                  <a:latin typeface="Times New Roman"/>
                  <a:cs typeface="Times New Roman"/>
                </a:rPr>
                <a:t>2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2789073" y="4405836"/>
            <a:ext cx="633544" cy="453732"/>
            <a:chOff x="2789073" y="3897852"/>
            <a:chExt cx="633544" cy="453732"/>
          </a:xfrm>
        </p:grpSpPr>
        <p:sp>
          <p:nvSpPr>
            <p:cNvPr id="60" name="Smiley Face 59"/>
            <p:cNvSpPr/>
            <p:nvPr/>
          </p:nvSpPr>
          <p:spPr>
            <a:xfrm>
              <a:off x="2789073" y="3897852"/>
              <a:ext cx="294105" cy="294105"/>
            </a:xfrm>
            <a:prstGeom prst="smileyFac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3019943" y="3982252"/>
              <a:ext cx="402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 New Roman"/>
                  <a:cs typeface="Times New Roman"/>
                </a:rPr>
                <a:t>E</a:t>
              </a:r>
              <a:r>
                <a:rPr lang="en-US" baseline="-25000" dirty="0">
                  <a:latin typeface="Times New Roman"/>
                  <a:cs typeface="Times New Roman"/>
                </a:rPr>
                <a:t>2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4167361" y="4734545"/>
            <a:ext cx="514746" cy="547848"/>
            <a:chOff x="4167361" y="4226561"/>
            <a:chExt cx="514746" cy="547848"/>
          </a:xfrm>
        </p:grpSpPr>
        <p:sp>
          <p:nvSpPr>
            <p:cNvPr id="56" name="Smiley Face 55"/>
            <p:cNvSpPr/>
            <p:nvPr/>
          </p:nvSpPr>
          <p:spPr>
            <a:xfrm>
              <a:off x="4167361" y="4226561"/>
              <a:ext cx="294105" cy="294105"/>
            </a:xfrm>
            <a:prstGeom prst="smileyFac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4279433" y="4405077"/>
              <a:ext cx="402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 New Roman"/>
                  <a:cs typeface="Times New Roman"/>
                </a:rPr>
                <a:t>E</a:t>
              </a:r>
              <a:r>
                <a:rPr lang="en-US" baseline="-25000" dirty="0">
                  <a:latin typeface="Times New Roman"/>
                  <a:cs typeface="Times New Roman"/>
                </a:rPr>
                <a:t>8</a:t>
              </a:r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3122030" y="5028650"/>
            <a:ext cx="624317" cy="415549"/>
            <a:chOff x="3122030" y="4520666"/>
            <a:chExt cx="624317" cy="415549"/>
          </a:xfrm>
        </p:grpSpPr>
        <p:sp>
          <p:nvSpPr>
            <p:cNvPr id="58" name="Smiley Face 57"/>
            <p:cNvSpPr/>
            <p:nvPr/>
          </p:nvSpPr>
          <p:spPr>
            <a:xfrm>
              <a:off x="3122030" y="4520666"/>
              <a:ext cx="294105" cy="294105"/>
            </a:xfrm>
            <a:prstGeom prst="smileyFac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3343673" y="4566883"/>
              <a:ext cx="402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 New Roman"/>
                  <a:cs typeface="Times New Roman"/>
                </a:rPr>
                <a:t>E</a:t>
              </a:r>
              <a:r>
                <a:rPr lang="en-US" baseline="-25000" dirty="0">
                  <a:latin typeface="Times New Roman"/>
                  <a:cs typeface="Times New Roman"/>
                </a:rPr>
                <a:t>5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172708" y="3922079"/>
            <a:ext cx="590240" cy="502566"/>
            <a:chOff x="4172708" y="3414095"/>
            <a:chExt cx="590240" cy="502566"/>
          </a:xfrm>
        </p:grpSpPr>
        <p:sp>
          <p:nvSpPr>
            <p:cNvPr id="59" name="Smiley Face 58"/>
            <p:cNvSpPr/>
            <p:nvPr/>
          </p:nvSpPr>
          <p:spPr>
            <a:xfrm>
              <a:off x="4172708" y="3414095"/>
              <a:ext cx="294105" cy="294105"/>
            </a:xfrm>
            <a:prstGeom prst="smileyFac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4360274" y="3547329"/>
              <a:ext cx="402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 New Roman"/>
                  <a:cs typeface="Times New Roman"/>
                </a:rPr>
                <a:t>E</a:t>
              </a:r>
              <a:r>
                <a:rPr lang="en-US" baseline="-25000" dirty="0">
                  <a:latin typeface="Times New Roman"/>
                  <a:cs typeface="Times New Roman"/>
                </a:rPr>
                <a:t>4</a:t>
              </a:r>
            </a:p>
          </p:txBody>
        </p:sp>
      </p:grpSp>
      <p:grpSp>
        <p:nvGrpSpPr>
          <p:cNvPr id="81" name="Group 80"/>
          <p:cNvGrpSpPr/>
          <p:nvPr/>
        </p:nvGrpSpPr>
        <p:grpSpPr>
          <a:xfrm>
            <a:off x="4020308" y="5535326"/>
            <a:ext cx="605962" cy="456570"/>
            <a:chOff x="4020308" y="5027342"/>
            <a:chExt cx="605962" cy="456570"/>
          </a:xfrm>
        </p:grpSpPr>
        <p:sp>
          <p:nvSpPr>
            <p:cNvPr id="67" name="Smiley Face 66"/>
            <p:cNvSpPr/>
            <p:nvPr/>
          </p:nvSpPr>
          <p:spPr>
            <a:xfrm>
              <a:off x="4020308" y="5027342"/>
              <a:ext cx="294105" cy="294105"/>
            </a:xfrm>
            <a:prstGeom prst="smileyFac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4223596" y="5114580"/>
              <a:ext cx="402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 New Roman"/>
                  <a:cs typeface="Times New Roman"/>
                </a:rPr>
                <a:t>E</a:t>
              </a:r>
              <a:r>
                <a:rPr lang="en-US" baseline="-25000" dirty="0">
                  <a:latin typeface="Times New Roman"/>
                  <a:cs typeface="Times New Roman"/>
                </a:rPr>
                <a:t>2</a:t>
              </a:r>
            </a:p>
          </p:txBody>
        </p:sp>
      </p:grpSp>
      <p:grpSp>
        <p:nvGrpSpPr>
          <p:cNvPr id="84" name="Group 83"/>
          <p:cNvGrpSpPr/>
          <p:nvPr/>
        </p:nvGrpSpPr>
        <p:grpSpPr>
          <a:xfrm>
            <a:off x="1440621" y="5986163"/>
            <a:ext cx="596385" cy="447409"/>
            <a:chOff x="1440621" y="5478179"/>
            <a:chExt cx="596385" cy="447409"/>
          </a:xfrm>
        </p:grpSpPr>
        <p:sp>
          <p:nvSpPr>
            <p:cNvPr id="61" name="Smiley Face 60"/>
            <p:cNvSpPr/>
            <p:nvPr/>
          </p:nvSpPr>
          <p:spPr>
            <a:xfrm>
              <a:off x="1440621" y="5478179"/>
              <a:ext cx="294105" cy="294105"/>
            </a:xfrm>
            <a:prstGeom prst="smileyFac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1634332" y="5556256"/>
              <a:ext cx="402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 New Roman"/>
                  <a:cs typeface="Times New Roman"/>
                </a:rPr>
                <a:t>E</a:t>
              </a:r>
              <a:r>
                <a:rPr lang="en-US" baseline="-25000" dirty="0">
                  <a:latin typeface="Times New Roman"/>
                  <a:cs typeface="Times New Roman"/>
                </a:rPr>
                <a:t>1</a:t>
              </a:r>
            </a:p>
          </p:txBody>
        </p:sp>
      </p:grpSp>
      <p:sp>
        <p:nvSpPr>
          <p:cNvPr id="85" name="Rectangle 84"/>
          <p:cNvSpPr/>
          <p:nvPr/>
        </p:nvSpPr>
        <p:spPr>
          <a:xfrm>
            <a:off x="5277027" y="2692372"/>
            <a:ext cx="3222615" cy="1200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>
                <a:latin typeface="Times New Roman"/>
                <a:cs typeface="Times New Roman"/>
              </a:rPr>
              <a:t>E</a:t>
            </a:r>
            <a:r>
              <a:rPr lang="en-GB" sz="2400" i="1" baseline="-25000" dirty="0" err="1">
                <a:solidFill>
                  <a:srgbClr val="000000"/>
                </a:solidFill>
                <a:latin typeface="Times New Roman" pitchFamily="18" charset="0"/>
              </a:rPr>
              <a:t>i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 means particle is in particle in a box state </a:t>
            </a:r>
            <a:r>
              <a:rPr lang="en-GB" sz="2400" i="1" dirty="0" err="1">
                <a:solidFill>
                  <a:srgbClr val="000000"/>
                </a:solidFill>
                <a:latin typeface="Times New Roman" pitchFamily="18" charset="0"/>
              </a:rPr>
              <a:t>i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 and has energy </a:t>
            </a:r>
            <a:r>
              <a:rPr lang="en-US" sz="2400" i="1" dirty="0">
                <a:latin typeface="Times New Roman"/>
                <a:cs typeface="Times New Roman"/>
              </a:rPr>
              <a:t>E</a:t>
            </a:r>
            <a:r>
              <a:rPr lang="en-GB" sz="2400" i="1" baseline="-25000" dirty="0" err="1">
                <a:solidFill>
                  <a:srgbClr val="000000"/>
                </a:solidFill>
                <a:latin typeface="Times New Roman" pitchFamily="18" charset="0"/>
              </a:rPr>
              <a:t>i</a:t>
            </a:r>
            <a:endParaRPr lang="en-US" sz="2400" i="1" baseline="-25000" dirty="0"/>
          </a:p>
        </p:txBody>
      </p:sp>
      <p:cxnSp>
        <p:nvCxnSpPr>
          <p:cNvPr id="87" name="Straight Arrow Connector 86"/>
          <p:cNvCxnSpPr>
            <a:stCxn id="85" idx="1"/>
          </p:cNvCxnSpPr>
          <p:nvPr/>
        </p:nvCxnSpPr>
        <p:spPr>
          <a:xfrm flipH="1">
            <a:off x="4461467" y="3292536"/>
            <a:ext cx="815560" cy="6001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>
            <a:stCxn id="85" idx="1"/>
          </p:cNvCxnSpPr>
          <p:nvPr/>
        </p:nvCxnSpPr>
        <p:spPr>
          <a:xfrm flipH="1">
            <a:off x="4587661" y="3292536"/>
            <a:ext cx="689366" cy="145727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>
            <a:stCxn id="85" idx="1"/>
          </p:cNvCxnSpPr>
          <p:nvPr/>
        </p:nvCxnSpPr>
        <p:spPr>
          <a:xfrm flipH="1">
            <a:off x="4587661" y="3292536"/>
            <a:ext cx="689366" cy="233857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3938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42" name="Rectangle 5"/>
          <p:cNvSpPr>
            <a:spLocks noChangeArrowheads="1"/>
          </p:cNvSpPr>
          <p:nvPr/>
        </p:nvSpPr>
        <p:spPr bwMode="auto">
          <a:xfrm>
            <a:off x="228600" y="1270286"/>
            <a:ext cx="8686800" cy="153709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Another representation at the same instant: Count up the number of particles in each wave function.</a:t>
            </a:r>
            <a:endParaRPr lang="en-GB" sz="2800" u="sng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Called a occupation number vector, configuration or a </a:t>
            </a:r>
            <a:r>
              <a:rPr lang="en-GB" sz="2400" b="1" dirty="0" err="1">
                <a:solidFill>
                  <a:srgbClr val="000000"/>
                </a:solidFill>
                <a:latin typeface="Times New Roman" pitchFamily="18" charset="0"/>
              </a:rPr>
              <a:t>macrostate</a:t>
            </a:r>
            <a:endParaRPr lang="en-GB" sz="24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grpSp>
        <p:nvGrpSpPr>
          <p:cNvPr id="43" name="Group 42"/>
          <p:cNvGrpSpPr/>
          <p:nvPr/>
        </p:nvGrpSpPr>
        <p:grpSpPr>
          <a:xfrm>
            <a:off x="615121" y="3158254"/>
            <a:ext cx="4064000" cy="3381374"/>
            <a:chOff x="2587625" y="2921000"/>
            <a:chExt cx="4064000" cy="3381374"/>
          </a:xfrm>
        </p:grpSpPr>
        <p:sp>
          <p:nvSpPr>
            <p:cNvPr id="44" name="Cube 43"/>
            <p:cNvSpPr/>
            <p:nvPr/>
          </p:nvSpPr>
          <p:spPr>
            <a:xfrm>
              <a:off x="2587625" y="2921000"/>
              <a:ext cx="4064000" cy="3381374"/>
            </a:xfrm>
            <a:prstGeom prst="cub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" name="Straight Connector 44"/>
            <p:cNvCxnSpPr/>
            <p:nvPr/>
          </p:nvCxnSpPr>
          <p:spPr>
            <a:xfrm flipH="1" flipV="1">
              <a:off x="3444875" y="5413375"/>
              <a:ext cx="3206750" cy="317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3429000" y="2921000"/>
              <a:ext cx="15875" cy="249237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flipH="1">
              <a:off x="2587625" y="5429250"/>
              <a:ext cx="857250" cy="8731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/>
          <p:cNvGrpSpPr/>
          <p:nvPr/>
        </p:nvGrpSpPr>
        <p:grpSpPr>
          <a:xfrm>
            <a:off x="884996" y="4428254"/>
            <a:ext cx="1730375" cy="1873250"/>
            <a:chOff x="508000" y="3270250"/>
            <a:chExt cx="1730375" cy="1873250"/>
          </a:xfrm>
        </p:grpSpPr>
        <p:cxnSp>
          <p:nvCxnSpPr>
            <p:cNvPr id="49" name="Straight Connector 48"/>
            <p:cNvCxnSpPr/>
            <p:nvPr/>
          </p:nvCxnSpPr>
          <p:spPr>
            <a:xfrm flipV="1">
              <a:off x="1079500" y="3270250"/>
              <a:ext cx="0" cy="1206500"/>
            </a:xfrm>
            <a:prstGeom prst="line">
              <a:avLst/>
            </a:prstGeom>
            <a:ln>
              <a:solidFill>
                <a:schemeClr val="tx1"/>
              </a:solidFill>
              <a:headEnd type="none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1063625" y="4476750"/>
              <a:ext cx="1174750" cy="0"/>
            </a:xfrm>
            <a:prstGeom prst="line">
              <a:avLst/>
            </a:prstGeom>
            <a:ln>
              <a:solidFill>
                <a:schemeClr val="tx1"/>
              </a:solidFill>
              <a:headEnd type="none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flipH="1">
              <a:off x="508000" y="4476750"/>
              <a:ext cx="588964" cy="666750"/>
            </a:xfrm>
            <a:prstGeom prst="line">
              <a:avLst/>
            </a:prstGeom>
            <a:ln>
              <a:solidFill>
                <a:schemeClr val="tx1"/>
              </a:solidFill>
              <a:headEnd type="none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Rectangle 51"/>
          <p:cNvSpPr/>
          <p:nvPr/>
        </p:nvSpPr>
        <p:spPr>
          <a:xfrm>
            <a:off x="2424871" y="5540159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x</a:t>
            </a:r>
            <a:endParaRPr lang="en-US" sz="2800" dirty="0"/>
          </a:p>
        </p:txBody>
      </p:sp>
      <p:sp>
        <p:nvSpPr>
          <p:cNvPr id="53" name="Rectangle 52"/>
          <p:cNvSpPr/>
          <p:nvPr/>
        </p:nvSpPr>
        <p:spPr>
          <a:xfrm>
            <a:off x="1027871" y="4216184"/>
            <a:ext cx="3770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y</a:t>
            </a:r>
            <a:endParaRPr lang="en-US" sz="2800" dirty="0"/>
          </a:p>
        </p:txBody>
      </p:sp>
      <p:sp>
        <p:nvSpPr>
          <p:cNvPr id="54" name="Rectangle 53"/>
          <p:cNvSpPr/>
          <p:nvPr/>
        </p:nvSpPr>
        <p:spPr>
          <a:xfrm>
            <a:off x="1040695" y="6008144"/>
            <a:ext cx="3440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z</a:t>
            </a:r>
            <a:endParaRPr lang="en-US" sz="2800" dirty="0"/>
          </a:p>
        </p:txBody>
      </p:sp>
      <p:grpSp>
        <p:nvGrpSpPr>
          <p:cNvPr id="82" name="Group 81"/>
          <p:cNvGrpSpPr/>
          <p:nvPr/>
        </p:nvGrpSpPr>
        <p:grpSpPr>
          <a:xfrm>
            <a:off x="3122030" y="5839110"/>
            <a:ext cx="624180" cy="408935"/>
            <a:chOff x="3122030" y="5331126"/>
            <a:chExt cx="624180" cy="408935"/>
          </a:xfrm>
        </p:grpSpPr>
        <p:sp>
          <p:nvSpPr>
            <p:cNvPr id="64" name="Smiley Face 63"/>
            <p:cNvSpPr/>
            <p:nvPr/>
          </p:nvSpPr>
          <p:spPr>
            <a:xfrm>
              <a:off x="3122030" y="5331126"/>
              <a:ext cx="294105" cy="294105"/>
            </a:xfrm>
            <a:prstGeom prst="smileyFac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343536" y="5370729"/>
              <a:ext cx="402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 New Roman"/>
                  <a:cs typeface="Times New Roman"/>
                </a:rPr>
                <a:t>E</a:t>
              </a:r>
              <a:r>
                <a:rPr lang="en-US" baseline="-25000" dirty="0">
                  <a:latin typeface="Times New Roman"/>
                  <a:cs typeface="Times New Roman"/>
                </a:rPr>
                <a:t>4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1865737" y="5175702"/>
            <a:ext cx="677324" cy="369332"/>
            <a:chOff x="1865737" y="4667718"/>
            <a:chExt cx="677324" cy="369332"/>
          </a:xfrm>
        </p:grpSpPr>
        <p:sp>
          <p:nvSpPr>
            <p:cNvPr id="63" name="Smiley Face 62"/>
            <p:cNvSpPr/>
            <p:nvPr/>
          </p:nvSpPr>
          <p:spPr>
            <a:xfrm>
              <a:off x="1865737" y="4667718"/>
              <a:ext cx="294105" cy="294105"/>
            </a:xfrm>
            <a:prstGeom prst="smileyFac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2140387" y="4667718"/>
              <a:ext cx="402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 New Roman"/>
                  <a:cs typeface="Times New Roman"/>
                </a:rPr>
                <a:t>E</a:t>
              </a:r>
              <a:r>
                <a:rPr lang="en-US" baseline="-25000" dirty="0">
                  <a:latin typeface="Times New Roman"/>
                  <a:cs typeface="Times New Roman"/>
                </a:rPr>
                <a:t>1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2789073" y="3490500"/>
            <a:ext cx="665671" cy="369332"/>
            <a:chOff x="2789073" y="2982516"/>
            <a:chExt cx="665671" cy="369332"/>
          </a:xfrm>
        </p:grpSpPr>
        <p:sp>
          <p:nvSpPr>
            <p:cNvPr id="55" name="Smiley Face 54"/>
            <p:cNvSpPr/>
            <p:nvPr/>
          </p:nvSpPr>
          <p:spPr>
            <a:xfrm>
              <a:off x="2789073" y="3004533"/>
              <a:ext cx="294105" cy="294105"/>
            </a:xfrm>
            <a:prstGeom prst="smileyFac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3052070" y="2982516"/>
              <a:ext cx="402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 New Roman"/>
                  <a:cs typeface="Times New Roman"/>
                </a:rPr>
                <a:t>E</a:t>
              </a:r>
              <a:r>
                <a:rPr lang="en-US" baseline="-25000" dirty="0">
                  <a:latin typeface="Times New Roman"/>
                  <a:cs typeface="Times New Roman"/>
                </a:rPr>
                <a:t>3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884996" y="5175702"/>
            <a:ext cx="583702" cy="459052"/>
            <a:chOff x="884996" y="4667718"/>
            <a:chExt cx="583702" cy="459052"/>
          </a:xfrm>
        </p:grpSpPr>
        <p:sp>
          <p:nvSpPr>
            <p:cNvPr id="65" name="Smiley Face 64"/>
            <p:cNvSpPr/>
            <p:nvPr/>
          </p:nvSpPr>
          <p:spPr>
            <a:xfrm>
              <a:off x="884996" y="4667718"/>
              <a:ext cx="294105" cy="294105"/>
            </a:xfrm>
            <a:prstGeom prst="smileyFac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1066024" y="4757438"/>
              <a:ext cx="402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 New Roman"/>
                  <a:cs typeface="Times New Roman"/>
                </a:rPr>
                <a:t>E</a:t>
              </a:r>
              <a:r>
                <a:rPr lang="en-US" baseline="-25000" dirty="0">
                  <a:latin typeface="Times New Roman"/>
                  <a:cs typeface="Times New Roman"/>
                </a:rPr>
                <a:t>2</a:t>
              </a:r>
            </a:p>
          </p:txBody>
        </p:sp>
      </p:grpSp>
      <p:grpSp>
        <p:nvGrpSpPr>
          <p:cNvPr id="83" name="Group 82"/>
          <p:cNvGrpSpPr/>
          <p:nvPr/>
        </p:nvGrpSpPr>
        <p:grpSpPr>
          <a:xfrm>
            <a:off x="2143299" y="6077235"/>
            <a:ext cx="618078" cy="437821"/>
            <a:chOff x="2143299" y="5569251"/>
            <a:chExt cx="618078" cy="437821"/>
          </a:xfrm>
        </p:grpSpPr>
        <p:sp>
          <p:nvSpPr>
            <p:cNvPr id="62" name="Smiley Face 61"/>
            <p:cNvSpPr/>
            <p:nvPr/>
          </p:nvSpPr>
          <p:spPr>
            <a:xfrm>
              <a:off x="2143299" y="5569251"/>
              <a:ext cx="294105" cy="294105"/>
            </a:xfrm>
            <a:prstGeom prst="smileyFac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2358703" y="5637740"/>
              <a:ext cx="402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 New Roman"/>
                  <a:cs typeface="Times New Roman"/>
                </a:rPr>
                <a:t>E</a:t>
              </a:r>
              <a:r>
                <a:rPr lang="en-US" baseline="-25000" dirty="0">
                  <a:latin typeface="Times New Roman"/>
                  <a:cs typeface="Times New Roman"/>
                </a:rPr>
                <a:t>8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1530691" y="3526373"/>
            <a:ext cx="649528" cy="395706"/>
            <a:chOff x="1530691" y="3018389"/>
            <a:chExt cx="649528" cy="395706"/>
          </a:xfrm>
        </p:grpSpPr>
        <p:sp>
          <p:nvSpPr>
            <p:cNvPr id="66" name="Smiley Face 65"/>
            <p:cNvSpPr/>
            <p:nvPr/>
          </p:nvSpPr>
          <p:spPr>
            <a:xfrm>
              <a:off x="1530691" y="3018389"/>
              <a:ext cx="294105" cy="294105"/>
            </a:xfrm>
            <a:prstGeom prst="smileyFac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1777545" y="3044763"/>
              <a:ext cx="402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 New Roman"/>
                  <a:cs typeface="Times New Roman"/>
                </a:rPr>
                <a:t>E</a:t>
              </a:r>
              <a:r>
                <a:rPr lang="en-US" baseline="-25000" dirty="0">
                  <a:latin typeface="Times New Roman"/>
                  <a:cs typeface="Times New Roman"/>
                </a:rPr>
                <a:t>5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1647331" y="4196131"/>
            <a:ext cx="596475" cy="467606"/>
            <a:chOff x="1647331" y="3688147"/>
            <a:chExt cx="596475" cy="467606"/>
          </a:xfrm>
        </p:grpSpPr>
        <p:sp>
          <p:nvSpPr>
            <p:cNvPr id="57" name="Smiley Face 56"/>
            <p:cNvSpPr/>
            <p:nvPr/>
          </p:nvSpPr>
          <p:spPr>
            <a:xfrm>
              <a:off x="1647331" y="3688147"/>
              <a:ext cx="294105" cy="294105"/>
            </a:xfrm>
            <a:prstGeom prst="smileyFac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841132" y="3786421"/>
              <a:ext cx="402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 New Roman"/>
                  <a:cs typeface="Times New Roman"/>
                </a:rPr>
                <a:t>E</a:t>
              </a:r>
              <a:r>
                <a:rPr lang="en-US" baseline="-25000" dirty="0">
                  <a:latin typeface="Times New Roman"/>
                  <a:cs typeface="Times New Roman"/>
                </a:rPr>
                <a:t>2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2789073" y="4405836"/>
            <a:ext cx="633544" cy="453732"/>
            <a:chOff x="2789073" y="3897852"/>
            <a:chExt cx="633544" cy="453732"/>
          </a:xfrm>
        </p:grpSpPr>
        <p:sp>
          <p:nvSpPr>
            <p:cNvPr id="60" name="Smiley Face 59"/>
            <p:cNvSpPr/>
            <p:nvPr/>
          </p:nvSpPr>
          <p:spPr>
            <a:xfrm>
              <a:off x="2789073" y="3897852"/>
              <a:ext cx="294105" cy="294105"/>
            </a:xfrm>
            <a:prstGeom prst="smileyFac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3019943" y="3982252"/>
              <a:ext cx="402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 New Roman"/>
                  <a:cs typeface="Times New Roman"/>
                </a:rPr>
                <a:t>E</a:t>
              </a:r>
              <a:r>
                <a:rPr lang="en-US" baseline="-25000" dirty="0">
                  <a:latin typeface="Times New Roman"/>
                  <a:cs typeface="Times New Roman"/>
                </a:rPr>
                <a:t>2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4167361" y="4734545"/>
            <a:ext cx="514746" cy="559278"/>
            <a:chOff x="4167361" y="4226561"/>
            <a:chExt cx="514746" cy="559278"/>
          </a:xfrm>
        </p:grpSpPr>
        <p:sp>
          <p:nvSpPr>
            <p:cNvPr id="56" name="Smiley Face 55"/>
            <p:cNvSpPr/>
            <p:nvPr/>
          </p:nvSpPr>
          <p:spPr>
            <a:xfrm>
              <a:off x="4167361" y="4226561"/>
              <a:ext cx="294105" cy="294105"/>
            </a:xfrm>
            <a:prstGeom prst="smileyFac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4279433" y="4416507"/>
              <a:ext cx="402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 New Roman"/>
                  <a:cs typeface="Times New Roman"/>
                </a:rPr>
                <a:t>E</a:t>
              </a:r>
              <a:r>
                <a:rPr lang="en-US" baseline="-25000" dirty="0">
                  <a:latin typeface="Times New Roman"/>
                  <a:cs typeface="Times New Roman"/>
                </a:rPr>
                <a:t>8</a:t>
              </a:r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3122030" y="5028650"/>
            <a:ext cx="624317" cy="415549"/>
            <a:chOff x="3122030" y="4520666"/>
            <a:chExt cx="624317" cy="415549"/>
          </a:xfrm>
        </p:grpSpPr>
        <p:sp>
          <p:nvSpPr>
            <p:cNvPr id="58" name="Smiley Face 57"/>
            <p:cNvSpPr/>
            <p:nvPr/>
          </p:nvSpPr>
          <p:spPr>
            <a:xfrm>
              <a:off x="3122030" y="4520666"/>
              <a:ext cx="294105" cy="294105"/>
            </a:xfrm>
            <a:prstGeom prst="smileyFac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3343673" y="4566883"/>
              <a:ext cx="402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 New Roman"/>
                  <a:cs typeface="Times New Roman"/>
                </a:rPr>
                <a:t>E</a:t>
              </a:r>
              <a:r>
                <a:rPr lang="en-US" baseline="-25000" dirty="0">
                  <a:latin typeface="Times New Roman"/>
                  <a:cs typeface="Times New Roman"/>
                </a:rPr>
                <a:t>5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172708" y="3922079"/>
            <a:ext cx="590240" cy="502566"/>
            <a:chOff x="4172708" y="3414095"/>
            <a:chExt cx="590240" cy="502566"/>
          </a:xfrm>
        </p:grpSpPr>
        <p:sp>
          <p:nvSpPr>
            <p:cNvPr id="59" name="Smiley Face 58"/>
            <p:cNvSpPr/>
            <p:nvPr/>
          </p:nvSpPr>
          <p:spPr>
            <a:xfrm>
              <a:off x="4172708" y="3414095"/>
              <a:ext cx="294105" cy="294105"/>
            </a:xfrm>
            <a:prstGeom prst="smileyFac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4360274" y="3547329"/>
              <a:ext cx="402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 New Roman"/>
                  <a:cs typeface="Times New Roman"/>
                </a:rPr>
                <a:t>E</a:t>
              </a:r>
              <a:r>
                <a:rPr lang="en-US" baseline="-25000" dirty="0">
                  <a:latin typeface="Times New Roman"/>
                  <a:cs typeface="Times New Roman"/>
                </a:rPr>
                <a:t>4</a:t>
              </a:r>
            </a:p>
          </p:txBody>
        </p:sp>
      </p:grpSp>
      <p:grpSp>
        <p:nvGrpSpPr>
          <p:cNvPr id="81" name="Group 80"/>
          <p:cNvGrpSpPr/>
          <p:nvPr/>
        </p:nvGrpSpPr>
        <p:grpSpPr>
          <a:xfrm>
            <a:off x="4020308" y="5535326"/>
            <a:ext cx="605962" cy="456570"/>
            <a:chOff x="4020308" y="5027342"/>
            <a:chExt cx="605962" cy="456570"/>
          </a:xfrm>
        </p:grpSpPr>
        <p:sp>
          <p:nvSpPr>
            <p:cNvPr id="67" name="Smiley Face 66"/>
            <p:cNvSpPr/>
            <p:nvPr/>
          </p:nvSpPr>
          <p:spPr>
            <a:xfrm>
              <a:off x="4020308" y="5027342"/>
              <a:ext cx="294105" cy="294105"/>
            </a:xfrm>
            <a:prstGeom prst="smileyFac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4223596" y="5114580"/>
              <a:ext cx="402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 New Roman"/>
                  <a:cs typeface="Times New Roman"/>
                </a:rPr>
                <a:t>E</a:t>
              </a:r>
              <a:r>
                <a:rPr lang="en-US" baseline="-25000" dirty="0">
                  <a:latin typeface="Times New Roman"/>
                  <a:cs typeface="Times New Roman"/>
                </a:rPr>
                <a:t>2</a:t>
              </a:r>
            </a:p>
          </p:txBody>
        </p:sp>
      </p:grpSp>
      <p:grpSp>
        <p:nvGrpSpPr>
          <p:cNvPr id="84" name="Group 83"/>
          <p:cNvGrpSpPr/>
          <p:nvPr/>
        </p:nvGrpSpPr>
        <p:grpSpPr>
          <a:xfrm>
            <a:off x="1440621" y="5986163"/>
            <a:ext cx="596385" cy="447409"/>
            <a:chOff x="1440621" y="5478179"/>
            <a:chExt cx="596385" cy="447409"/>
          </a:xfrm>
        </p:grpSpPr>
        <p:sp>
          <p:nvSpPr>
            <p:cNvPr id="61" name="Smiley Face 60"/>
            <p:cNvSpPr/>
            <p:nvPr/>
          </p:nvSpPr>
          <p:spPr>
            <a:xfrm>
              <a:off x="1440621" y="5478179"/>
              <a:ext cx="294105" cy="294105"/>
            </a:xfrm>
            <a:prstGeom prst="smileyFac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1634332" y="5556256"/>
              <a:ext cx="402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 New Roman"/>
                  <a:cs typeface="Times New Roman"/>
                </a:rPr>
                <a:t>E</a:t>
              </a:r>
              <a:r>
                <a:rPr lang="en-US" baseline="-25000" dirty="0">
                  <a:latin typeface="Times New Roman"/>
                  <a:cs typeface="Times New Roman"/>
                </a:rPr>
                <a:t>1</a:t>
              </a:r>
            </a:p>
          </p:txBody>
        </p:sp>
      </p:grpSp>
      <p:sp>
        <p:nvSpPr>
          <p:cNvPr id="2" name="Rectangle 1"/>
          <p:cNvSpPr/>
          <p:nvPr/>
        </p:nvSpPr>
        <p:spPr>
          <a:xfrm>
            <a:off x="5424247" y="4305905"/>
            <a:ext cx="36246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Times New Roman"/>
                <a:cs typeface="Times New Roman"/>
              </a:rPr>
              <a:t>n</a:t>
            </a:r>
            <a:r>
              <a:rPr lang="en-US" sz="2800" dirty="0">
                <a:latin typeface="Times New Roman"/>
                <a:cs typeface="Times New Roman"/>
              </a:rPr>
              <a:t> = {2 4 1 2 2 0 0 2 …}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179253" y="2982809"/>
            <a:ext cx="298406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Times New Roman"/>
                <a:cs typeface="Times New Roman"/>
              </a:rPr>
              <a:t>n</a:t>
            </a:r>
            <a:r>
              <a:rPr lang="en-US" sz="2800" i="1" baseline="-25000" dirty="0" err="1">
                <a:latin typeface="Times New Roman"/>
                <a:cs typeface="Times New Roman"/>
              </a:rPr>
              <a:t>i</a:t>
            </a:r>
            <a:r>
              <a:rPr lang="en-US" sz="2800" dirty="0">
                <a:latin typeface="Times New Roman"/>
                <a:cs typeface="Times New Roman"/>
              </a:rPr>
              <a:t> is the number of particles in state (wave function) </a:t>
            </a:r>
            <a:r>
              <a:rPr lang="en-US" sz="2800" i="1" dirty="0" err="1">
                <a:latin typeface="Times New Roman"/>
                <a:cs typeface="Times New Roman"/>
              </a:rPr>
              <a:t>i</a:t>
            </a:r>
            <a:endParaRPr lang="en-US" sz="2800" i="1" dirty="0">
              <a:latin typeface="Times New Roman"/>
              <a:cs typeface="Times New Roman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6577266" y="4750904"/>
            <a:ext cx="508000" cy="44755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488882" y="5220778"/>
            <a:ext cx="342651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e.g. there are 2 particles in 4</a:t>
            </a:r>
            <a:r>
              <a:rPr lang="en-US" baseline="30000" dirty="0">
                <a:latin typeface="Times New Roman"/>
                <a:cs typeface="Times New Roman"/>
              </a:rPr>
              <a:t>th</a:t>
            </a:r>
            <a:r>
              <a:rPr lang="en-US" dirty="0">
                <a:latin typeface="Times New Roman"/>
                <a:cs typeface="Times New Roman"/>
              </a:rPr>
              <a:t> (3</a:t>
            </a:r>
            <a:r>
              <a:rPr lang="en-US" baseline="30000" dirty="0">
                <a:latin typeface="Times New Roman"/>
                <a:cs typeface="Times New Roman"/>
              </a:rPr>
              <a:t>rd</a:t>
            </a:r>
            <a:r>
              <a:rPr lang="en-US" dirty="0">
                <a:latin typeface="Times New Roman"/>
                <a:cs typeface="Times New Roman"/>
              </a:rPr>
              <a:t> excited state) particle in a box wave functions</a:t>
            </a:r>
            <a:endParaRPr lang="en-US" dirty="0"/>
          </a:p>
        </p:txBody>
      </p:sp>
      <p:sp>
        <p:nvSpPr>
          <p:cNvPr id="89" name="Rectangle 88"/>
          <p:cNvSpPr/>
          <p:nvPr/>
        </p:nvSpPr>
        <p:spPr>
          <a:xfrm>
            <a:off x="5260282" y="5222021"/>
            <a:ext cx="342651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… means that there are many more wave functions available, but they are empty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7397514" y="4750904"/>
            <a:ext cx="1118170" cy="5637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>
            <a:spLocks noChangeArrowheads="1"/>
          </p:cNvSpPr>
          <p:nvPr/>
        </p:nvSpPr>
        <p:spPr bwMode="auto">
          <a:xfrm>
            <a:off x="103718" y="11641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Microstates and </a:t>
            </a:r>
            <a:r>
              <a:rPr lang="en-GB" sz="4000" dirty="0" err="1">
                <a:solidFill>
                  <a:srgbClr val="000000"/>
                </a:solidFill>
                <a:latin typeface="Times New Roman" pitchFamily="18" charset="0"/>
              </a:rPr>
              <a:t>Macrostates</a:t>
            </a:r>
            <a:endParaRPr lang="en-GB" sz="4000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5744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6" grpId="0"/>
      <p:bldP spid="8" grpId="0"/>
      <p:bldP spid="8" grpId="1"/>
      <p:bldP spid="89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3718" y="11641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Most Probable </a:t>
            </a:r>
            <a:r>
              <a:rPr lang="en-GB" sz="4000" dirty="0" err="1">
                <a:solidFill>
                  <a:srgbClr val="000000"/>
                </a:solidFill>
                <a:latin typeface="Times New Roman" pitchFamily="18" charset="0"/>
              </a:rPr>
              <a:t>Macrostate</a:t>
            </a:r>
            <a:endParaRPr lang="en-GB" sz="4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2" name="Rectangle 5"/>
          <p:cNvSpPr>
            <a:spLocks noChangeArrowheads="1"/>
          </p:cNvSpPr>
          <p:nvPr/>
        </p:nvSpPr>
        <p:spPr bwMode="auto">
          <a:xfrm>
            <a:off x="228600" y="1497542"/>
            <a:ext cx="8686800" cy="93551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As the particles bounce around they are constantly exchanging energy</a:t>
            </a:r>
          </a:p>
        </p:txBody>
      </p:sp>
      <p:sp>
        <p:nvSpPr>
          <p:cNvPr id="44" name="Cube 43"/>
          <p:cNvSpPr/>
          <p:nvPr/>
        </p:nvSpPr>
        <p:spPr>
          <a:xfrm>
            <a:off x="615121" y="3158254"/>
            <a:ext cx="4064000" cy="3381374"/>
          </a:xfrm>
          <a:prstGeom prst="cub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/>
          <p:cNvCxnSpPr/>
          <p:nvPr/>
        </p:nvCxnSpPr>
        <p:spPr>
          <a:xfrm flipH="1" flipV="1">
            <a:off x="1472371" y="5650629"/>
            <a:ext cx="3206750" cy="317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1456496" y="3158254"/>
            <a:ext cx="15875" cy="2492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H="1">
            <a:off x="615121" y="5666504"/>
            <a:ext cx="857250" cy="8731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1456496" y="4428254"/>
            <a:ext cx="0" cy="120650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1440621" y="5634754"/>
            <a:ext cx="117475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H="1">
            <a:off x="884996" y="5634754"/>
            <a:ext cx="588964" cy="66675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2424871" y="5540159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x</a:t>
            </a:r>
            <a:endParaRPr lang="en-US" sz="2800" dirty="0"/>
          </a:p>
        </p:txBody>
      </p:sp>
      <p:sp>
        <p:nvSpPr>
          <p:cNvPr id="53" name="Rectangle 52"/>
          <p:cNvSpPr/>
          <p:nvPr/>
        </p:nvSpPr>
        <p:spPr>
          <a:xfrm>
            <a:off x="1027871" y="4216184"/>
            <a:ext cx="3770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y</a:t>
            </a:r>
            <a:endParaRPr lang="en-US" sz="2800" dirty="0"/>
          </a:p>
        </p:txBody>
      </p:sp>
      <p:sp>
        <p:nvSpPr>
          <p:cNvPr id="54" name="Rectangle 53"/>
          <p:cNvSpPr/>
          <p:nvPr/>
        </p:nvSpPr>
        <p:spPr>
          <a:xfrm>
            <a:off x="1040695" y="6008144"/>
            <a:ext cx="3440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z</a:t>
            </a:r>
            <a:endParaRPr lang="en-US" sz="2800" dirty="0"/>
          </a:p>
        </p:txBody>
      </p:sp>
      <p:sp>
        <p:nvSpPr>
          <p:cNvPr id="64" name="Smiley Face 63"/>
          <p:cNvSpPr/>
          <p:nvPr/>
        </p:nvSpPr>
        <p:spPr>
          <a:xfrm>
            <a:off x="3122030" y="5839110"/>
            <a:ext cx="294105" cy="294105"/>
          </a:xfrm>
          <a:prstGeom prst="smileyF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Smiley Face 62"/>
          <p:cNvSpPr/>
          <p:nvPr/>
        </p:nvSpPr>
        <p:spPr>
          <a:xfrm>
            <a:off x="1865737" y="5175702"/>
            <a:ext cx="294105" cy="294105"/>
          </a:xfrm>
          <a:prstGeom prst="smileyF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Smiley Face 54"/>
          <p:cNvSpPr/>
          <p:nvPr/>
        </p:nvSpPr>
        <p:spPr>
          <a:xfrm>
            <a:off x="2789073" y="3512517"/>
            <a:ext cx="294105" cy="294105"/>
          </a:xfrm>
          <a:prstGeom prst="smileyF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Smiley Face 64"/>
          <p:cNvSpPr/>
          <p:nvPr/>
        </p:nvSpPr>
        <p:spPr>
          <a:xfrm>
            <a:off x="884996" y="5175702"/>
            <a:ext cx="294105" cy="294105"/>
          </a:xfrm>
          <a:prstGeom prst="smileyF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Smiley Face 61"/>
          <p:cNvSpPr/>
          <p:nvPr/>
        </p:nvSpPr>
        <p:spPr>
          <a:xfrm>
            <a:off x="2143299" y="6077235"/>
            <a:ext cx="294105" cy="294105"/>
          </a:xfrm>
          <a:prstGeom prst="smileyF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Smiley Face 65"/>
          <p:cNvSpPr/>
          <p:nvPr/>
        </p:nvSpPr>
        <p:spPr>
          <a:xfrm>
            <a:off x="1530691" y="3526373"/>
            <a:ext cx="294105" cy="294105"/>
          </a:xfrm>
          <a:prstGeom prst="smileyF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Smiley Face 56"/>
          <p:cNvSpPr/>
          <p:nvPr/>
        </p:nvSpPr>
        <p:spPr>
          <a:xfrm>
            <a:off x="1647331" y="4196131"/>
            <a:ext cx="294105" cy="294105"/>
          </a:xfrm>
          <a:prstGeom prst="smileyF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Smiley Face 59"/>
          <p:cNvSpPr/>
          <p:nvPr/>
        </p:nvSpPr>
        <p:spPr>
          <a:xfrm>
            <a:off x="2789073" y="4405836"/>
            <a:ext cx="294105" cy="294105"/>
          </a:xfrm>
          <a:prstGeom prst="smileyF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Smiley Face 55"/>
          <p:cNvSpPr/>
          <p:nvPr/>
        </p:nvSpPr>
        <p:spPr>
          <a:xfrm>
            <a:off x="4167361" y="4734545"/>
            <a:ext cx="294105" cy="294105"/>
          </a:xfrm>
          <a:prstGeom prst="smileyF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Smiley Face 57"/>
          <p:cNvSpPr/>
          <p:nvPr/>
        </p:nvSpPr>
        <p:spPr>
          <a:xfrm>
            <a:off x="3122030" y="5028650"/>
            <a:ext cx="294105" cy="294105"/>
          </a:xfrm>
          <a:prstGeom prst="smileyF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Smiley Face 58"/>
          <p:cNvSpPr/>
          <p:nvPr/>
        </p:nvSpPr>
        <p:spPr>
          <a:xfrm>
            <a:off x="4172708" y="3922079"/>
            <a:ext cx="294105" cy="294105"/>
          </a:xfrm>
          <a:prstGeom prst="smileyF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Smiley Face 66"/>
          <p:cNvSpPr/>
          <p:nvPr/>
        </p:nvSpPr>
        <p:spPr>
          <a:xfrm>
            <a:off x="4020308" y="5535326"/>
            <a:ext cx="294105" cy="294105"/>
          </a:xfrm>
          <a:prstGeom prst="smileyF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Smiley Face 60"/>
          <p:cNvSpPr/>
          <p:nvPr/>
        </p:nvSpPr>
        <p:spPr>
          <a:xfrm>
            <a:off x="1440621" y="5986163"/>
            <a:ext cx="294105" cy="294105"/>
          </a:xfrm>
          <a:prstGeom prst="smileyF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37140" y="2380729"/>
            <a:ext cx="59727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The microstate is constantly changing</a:t>
            </a:r>
          </a:p>
        </p:txBody>
      </p:sp>
    </p:spTree>
    <p:extLst>
      <p:ext uri="{BB962C8B-B14F-4D97-AF65-F5344CB8AC3E}">
        <p14:creationId xmlns:p14="http://schemas.microsoft.com/office/powerpoint/2010/main" val="4227273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50000" decel="50000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.02101 0.00926 C 0.05521 0.05671 0.08959 0.1044 0.12518 0.10579 C 0.16077 0.10717 0.22743 0.04329 0.23438 0.01736 C 0.24132 -0.00857 0.17674 -0.0588 0.16684 -0.05023 C 0.15695 -0.04167 0.16042 0.03518 0.17483 0.06875 C 0.18924 0.10231 0.25226 0.11366 0.25313 0.15092 C 0.254 0.18819 0.20608 0.25717 0.17969 0.29236 C 0.1533 0.32754 0.13177 0.36204 0.09445 0.3625 C 0.05712 0.36296 -0.03194 0.32245 -0.04444 0.29514 C -0.05694 0.26782 -0.00902 0.22801 0.0191 0.19838 C 0.04723 0.16875 0.11511 0.16134 0.12414 0.11782 C 0.13316 0.0743 0.08195 -0.03218 0.07361 -0.06204 " pathEditMode="relative" ptsTypes="aaaaaaaaaaaA">
                                      <p:cBhvr>
                                        <p:cTn id="6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0348 0.02454 C -0.05504 0.06852 -0.10643 0.1125 -0.12952 0.14375 C -0.15261 0.175 -0.15469 0.18334 -0.14236 0.2125 C -0.13004 0.24167 -0.08351 0.30139 -0.05608 0.31829 C -0.02865 0.33519 -0.0099 0.32871 0.02222 0.31436 C 0.05434 0.3 0.13541 0.26135 0.13628 0.23241 C 0.13715 0.20348 0.0283 0.17454 0.02725 0.14098 C 0.02621 0.10741 0.11232 0.06505 0.13038 0.03125 C 0.14843 -0.00254 0.13455 -0.04583 0.13541 -0.06134 " pathEditMode="relative" ptsTypes="aaaaaaaaA">
                                      <p:cBhvr>
                                        <p:cTn id="8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1112 0.03379 C -0.11702 0.08727 -0.22292 0.14097 -0.23924 0.18194 C -0.25556 0.22291 -0.14636 0.27152 -0.10938 0.27963 C -0.0724 0.28773 -0.03664 0.25301 -0.01702 0.23078 C 0.0026 0.20856 0.04704 0.17453 0.00781 0.14606 C -0.03143 0.11759 -0.19219 0.06018 -0.25209 0.06018 C -0.31198 0.06018 -0.34202 0.11111 -0.35139 0.14606 C -0.36077 0.18102 -0.3158 0.24977 -0.30868 0.27037 " pathEditMode="relative" ptsTypes="aaaaaaaA">
                                      <p:cBhvr>
                                        <p:cTn id="10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.02413 0.02685 C 0.08056 0.05371 0.13698 0.08056 0.14219 0.11019 C 0.1474 0.13982 0.08924 0.18264 0.05573 0.20417 C 0.02222 0.2257 -0.08871 0.29699 -0.05833 0.23982 C -0.02795 0.18264 0.18403 -0.11018 0.23837 -0.13842 C 0.29271 -0.16666 0.27674 -0.00162 0.26719 0.0706 C 0.25764 0.14283 0.21701 0.2581 0.18073 0.29537 C 0.14445 0.33264 0.07795 0.3088 0.04983 0.29421 C 0.0217 0.27963 0.0184 0.22246 0.01215 0.2081 " pathEditMode="relative" ptsTypes="aaaaaaaaA">
                                      <p:cBhvr>
                                        <p:cTn id="12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224 -0.00903 C -0.04757 -0.08935 -0.07257 -0.16945 -0.1007 -0.17454 C -0.12882 -0.17963 -0.20521 -0.10278 -0.19098 -0.03958 C -0.17674 0.02361 -0.07014 0.17037 -0.01563 0.20509 C 0.03923 0.23981 0.14184 0.19815 0.13732 0.16944 C 0.13281 0.14074 0.02048 0.02963 -0.04219 0.0331 C -0.10504 0.03657 -0.21441 0.19884 -0.23959 0.19051 C -0.26476 0.18217 -0.21493 -0.03056 -0.19306 -0.01713 C -0.17118 -0.0037 -0.12275 0.22315 -0.10868 0.2713 " pathEditMode="relative" ptsTypes="aaaaaaaaA">
                                      <p:cBhvr>
                                        <p:cTn id="14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0243 0.0368 C 0.00729 0.08773 0.01719 0.13888 -0.00139 0.15185 C -0.01996 0.16481 -0.07257 0.1662 -0.11354 0.11481 C -0.15451 0.06342 -0.23594 -0.15 -0.24757 -0.15625 C -0.2592 -0.1625 -0.17535 0.01365 -0.18298 0.07777 C -0.19062 0.14189 -0.26094 0.21365 -0.29305 0.2287 C -0.32517 0.24375 -0.4158 0.21574 -0.37552 0.16782 C -0.33524 0.1199 -0.11649 0.00509 -0.05104 -0.05834 C 0.01441 -0.12176 0.0158 -0.1676 0.01736 -0.2132 " pathEditMode="relative" ptsTypes="aaaaaaaaA">
                                      <p:cBhvr>
                                        <p:cTn id="16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1.11111E-6 -4.07407E-6 C 0.07274 0.07708 0.14566 0.1544 0.19253 0.15324 C 0.23941 0.15208 0.28941 0.02847 0.28177 -0.00671 C 0.27413 -0.0419 0.17934 -0.0206 0.14687 -0.05833 C 0.11441 -0.09606 0.06076 -0.19352 0.08732 -0.23287 C 0.11389 -0.27222 0.29149 -0.33194 0.3066 -0.29514 C 0.3217 -0.25833 0.19913 -0.05926 0.1776 -0.01204 " pathEditMode="relative" ptsTypes="aaaaaaA">
                                      <p:cBhvr>
                                        <p:cTn id="18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3.61111E-6 -6.2963E-6 C -0.01112 -0.02038 -0.02205 -0.04052 -0.03768 -0.07269 C -0.0533 -0.10487 -0.14115 -0.16714 -0.09428 -0.19306 C -0.0474 -0.21899 0.18697 -0.25556 0.24409 -0.22871 C 0.30121 -0.20186 0.26822 -0.07362 0.24895 -0.03172 C 0.22968 0.01018 0.15138 -0.00973 0.12795 0.02245 C 0.10451 0.05462 0.12604 0.1912 0.10816 0.16134 C 0.09027 0.13148 0.03541 -0.10417 0.02083 -0.15741 " pathEditMode="relative" ptsTypes="aaaaaaaA">
                                      <p:cBhvr>
                                        <p:cTn id="20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0.00954 0.02986 C 0.04201 0.0662 0.07447 0.10255 0.07812 0.12755 C 0.08177 0.15255 0.06197 0.1831 0.03142 0.18056 C 0.00086 0.17801 -0.05903 0.15093 -0.10556 0.11181 C -0.15209 0.07268 -0.29028 -0.02569 -0.2474 -0.05486 C -0.20452 -0.08403 0.11076 -0.03148 0.15243 -0.06273 C 0.19409 -0.09398 0.03628 -0.21019 0.0026 -0.24282 C -0.03125 -0.27546 -0.02448 -0.28171 -0.05 -0.25857 C -0.07553 -0.23542 -0.1691 -0.12894 -0.15105 -0.10394 C -0.13299 -0.07894 -0.03768 -0.09398 0.05816 -0.10903 " pathEditMode="relative" ptsTypes="aaaaaaaaaA">
                                      <p:cBhvr>
                                        <p:cTn id="22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1719 -0.01111 C -0.12222 -0.15069 -0.22691 -0.29004 -0.28212 -0.31666 C -0.33733 -0.34328 -0.3658 -0.20185 -0.34861 -0.17106 C -0.33142 -0.14028 -0.21701 -0.15625 -0.17899 -0.13148 C -0.14097 -0.10671 -0.14566 -0.0493 -0.12049 -0.02291 C -0.09531 0.00347 -0.03854 0.00695 -0.02813 0.02732 C -0.01771 0.04769 -0.05295 0.08704 -0.05799 0.09884 " pathEditMode="relative" ptsTypes="aaaaaaA">
                                      <p:cBhvr>
                                        <p:cTn id="24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2309 -0.02477 C -0.07257 -0.09213 -0.12188 -0.15926 -0.10747 -0.20857 C -0.09306 -0.25788 0.02881 -0.29584 0.06319 -0.32107 C 0.09756 -0.3463 0.14843 -0.36158 0.09895 -0.3595 C 0.04947 -0.35741 -0.17171 -0.34399 -0.23351 -0.30788 C -0.29532 -0.27176 -0.28247 -0.16852 -0.27223 -0.1426 C -0.26198 -0.11667 -0.19028 -0.17223 -0.17188 -0.15186 C -0.15348 -0.13149 -0.17153 -0.05857 -0.16198 -0.02084 C -0.15244 0.01689 -0.13299 0.07314 -0.11441 0.0743 C -0.09584 0.07546 -0.04809 0.01921 -0.05087 -0.01413 C -0.05365 -0.04746 -0.13577 -0.11528 -0.13125 -0.12524 C -0.12674 -0.13519 -0.05053 -0.09028 -0.02414 -0.07385 C 0.00225 -0.05741 0.01475 -0.0419 0.02743 -0.02616 " pathEditMode="relative" ptsTypes="aaaaaaaaaaaaA">
                                      <p:cBhvr>
                                        <p:cTn id="26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092 -0.0331 C -0.03351 -0.11366 -0.05782 -0.19398 -0.03403 -0.24607 C -0.01025 -0.29815 0.09427 -0.31829 0.1335 -0.34514 C 0.17274 -0.37199 0.23003 -0.40463 0.20104 -0.40741 C 0.17205 -0.41019 0.01545 -0.38542 -0.04011 -0.36111 C -0.09566 -0.33681 -0.16129 -0.28611 -0.13229 -0.26181 C -0.1033 -0.2375 0.08368 -0.23334 0.1335 -0.21551 C 0.18333 -0.19769 0.17482 -0.17639 0.16632 -0.15486 " pathEditMode="relative" ptsTypes="aaaaaaaA">
                                      <p:cBhvr>
                                        <p:cTn id="28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0.00989 -0.03055 C -0.05851 -0.02037 -0.10694 -0.01018 -0.09132 -0.03055 C -0.07569 -0.05092 0.03785 -0.15023 0.0842 -0.15231 C 0.13056 -0.1544 0.16042 -0.06967 0.18646 -0.04236 C 0.2125 -0.01504 0.225 0.04722 0.24097 0.01181 C 0.25695 -0.02361 0.30469 -0.18796 0.28264 -0.25532 C 0.26059 -0.32268 0.16354 -0.37477 0.10903 -0.39305 C 0.05452 -0.41134 -0.01597 -0.39282 -0.04462 -0.36528 C -0.07326 -0.33773 -0.09253 -0.25995 -0.0625 -0.22754 C -0.03246 -0.19514 0.13577 -0.18148 0.13577 -0.17083 C 0.13577 -0.16018 -0.02951 -0.16528 -0.0625 -0.16412 " pathEditMode="relative" ptsTypes="aaaaaaaaaaA">
                                      <p:cBhvr>
                                        <p:cTn id="30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63" grpId="0" animBg="1"/>
      <p:bldP spid="55" grpId="0" animBg="1"/>
      <p:bldP spid="65" grpId="0" animBg="1"/>
      <p:bldP spid="62" grpId="0" animBg="1"/>
      <p:bldP spid="66" grpId="0" animBg="1"/>
      <p:bldP spid="57" grpId="0" animBg="1"/>
      <p:bldP spid="60" grpId="0" animBg="1"/>
      <p:bldP spid="56" grpId="0" animBg="1"/>
      <p:bldP spid="58" grpId="0" animBg="1"/>
      <p:bldP spid="59" grpId="0" animBg="1"/>
      <p:bldP spid="67" grpId="0" animBg="1"/>
      <p:bldP spid="61" grpId="0" animBg="1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be 4">
            <a:extLst>
              <a:ext uri="{FF2B5EF4-FFF2-40B4-BE49-F238E27FC236}">
                <a16:creationId xmlns:a16="http://schemas.microsoft.com/office/drawing/2014/main" id="{08E46F89-2455-9773-CDB7-F5C927F5F296}"/>
              </a:ext>
            </a:extLst>
          </p:cNvPr>
          <p:cNvSpPr/>
          <p:nvPr/>
        </p:nvSpPr>
        <p:spPr>
          <a:xfrm>
            <a:off x="615121" y="3158254"/>
            <a:ext cx="4064000" cy="3381374"/>
          </a:xfrm>
          <a:prstGeom prst="cub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9753C4C-BC35-6184-0F80-7ADCB06140A5}"/>
              </a:ext>
            </a:extLst>
          </p:cNvPr>
          <p:cNvCxnSpPr/>
          <p:nvPr/>
        </p:nvCxnSpPr>
        <p:spPr>
          <a:xfrm flipH="1" flipV="1">
            <a:off x="1472371" y="5650629"/>
            <a:ext cx="3206750" cy="317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71431E1-3C39-437F-D397-20079C908299}"/>
              </a:ext>
            </a:extLst>
          </p:cNvPr>
          <p:cNvCxnSpPr/>
          <p:nvPr/>
        </p:nvCxnSpPr>
        <p:spPr>
          <a:xfrm>
            <a:off x="1456496" y="3158254"/>
            <a:ext cx="15875" cy="24923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F38BA9A-084E-BE79-3536-4367A6AB5C83}"/>
              </a:ext>
            </a:extLst>
          </p:cNvPr>
          <p:cNvCxnSpPr/>
          <p:nvPr/>
        </p:nvCxnSpPr>
        <p:spPr>
          <a:xfrm flipH="1">
            <a:off x="615121" y="5666504"/>
            <a:ext cx="857250" cy="8731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D5D3A6E-9728-D66C-9DAB-E2DA9B9568B7}"/>
              </a:ext>
            </a:extLst>
          </p:cNvPr>
          <p:cNvCxnSpPr/>
          <p:nvPr/>
        </p:nvCxnSpPr>
        <p:spPr>
          <a:xfrm flipV="1">
            <a:off x="1456496" y="4428254"/>
            <a:ext cx="0" cy="120650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3B2172E-FE60-FA38-D26E-2D12ED9E7A78}"/>
              </a:ext>
            </a:extLst>
          </p:cNvPr>
          <p:cNvCxnSpPr/>
          <p:nvPr/>
        </p:nvCxnSpPr>
        <p:spPr>
          <a:xfrm>
            <a:off x="1440621" y="5634754"/>
            <a:ext cx="117475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711570A-A66E-01EE-CE52-583985F4E816}"/>
              </a:ext>
            </a:extLst>
          </p:cNvPr>
          <p:cNvCxnSpPr/>
          <p:nvPr/>
        </p:nvCxnSpPr>
        <p:spPr>
          <a:xfrm flipH="1">
            <a:off x="884996" y="5634754"/>
            <a:ext cx="588964" cy="66675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27694ED-2B11-6151-EB53-0A872FD66E0D}"/>
              </a:ext>
            </a:extLst>
          </p:cNvPr>
          <p:cNvSpPr/>
          <p:nvPr/>
        </p:nvSpPr>
        <p:spPr>
          <a:xfrm>
            <a:off x="2424871" y="5540159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x</a:t>
            </a:r>
            <a:endParaRPr lang="en-US" sz="28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244F71-E715-317B-354E-2E026B5A37C3}"/>
              </a:ext>
            </a:extLst>
          </p:cNvPr>
          <p:cNvSpPr/>
          <p:nvPr/>
        </p:nvSpPr>
        <p:spPr>
          <a:xfrm>
            <a:off x="1027871" y="4216184"/>
            <a:ext cx="3770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y</a:t>
            </a:r>
            <a:endParaRPr lang="en-US" sz="28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6AED4B-0336-A717-3C45-D8E81AE59D3F}"/>
              </a:ext>
            </a:extLst>
          </p:cNvPr>
          <p:cNvSpPr/>
          <p:nvPr/>
        </p:nvSpPr>
        <p:spPr>
          <a:xfrm>
            <a:off x="1040695" y="6008144"/>
            <a:ext cx="3440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z</a:t>
            </a:r>
            <a:endParaRPr lang="en-US" sz="2800" dirty="0"/>
          </a:p>
        </p:txBody>
      </p:sp>
      <p:sp>
        <p:nvSpPr>
          <p:cNvPr id="15" name="Smiley Face 14">
            <a:extLst>
              <a:ext uri="{FF2B5EF4-FFF2-40B4-BE49-F238E27FC236}">
                <a16:creationId xmlns:a16="http://schemas.microsoft.com/office/drawing/2014/main" id="{61B01DC9-BD57-BF2F-0E4F-5FE7FAC71A62}"/>
              </a:ext>
            </a:extLst>
          </p:cNvPr>
          <p:cNvSpPr/>
          <p:nvPr/>
        </p:nvSpPr>
        <p:spPr>
          <a:xfrm>
            <a:off x="3384739" y="5658474"/>
            <a:ext cx="294105" cy="294105"/>
          </a:xfrm>
          <a:prstGeom prst="smileyF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miley Face 15">
            <a:extLst>
              <a:ext uri="{FF2B5EF4-FFF2-40B4-BE49-F238E27FC236}">
                <a16:creationId xmlns:a16="http://schemas.microsoft.com/office/drawing/2014/main" id="{C3B8FA22-423C-05A5-B8F8-89D07473F62A}"/>
              </a:ext>
            </a:extLst>
          </p:cNvPr>
          <p:cNvSpPr/>
          <p:nvPr/>
        </p:nvSpPr>
        <p:spPr>
          <a:xfrm>
            <a:off x="1748341" y="5634569"/>
            <a:ext cx="294105" cy="294105"/>
          </a:xfrm>
          <a:prstGeom prst="smileyF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miley Face 16">
            <a:extLst>
              <a:ext uri="{FF2B5EF4-FFF2-40B4-BE49-F238E27FC236}">
                <a16:creationId xmlns:a16="http://schemas.microsoft.com/office/drawing/2014/main" id="{F550E789-40DE-2BD7-44B2-E267352C29C9}"/>
              </a:ext>
            </a:extLst>
          </p:cNvPr>
          <p:cNvSpPr/>
          <p:nvPr/>
        </p:nvSpPr>
        <p:spPr>
          <a:xfrm>
            <a:off x="4043721" y="3057775"/>
            <a:ext cx="294105" cy="294105"/>
          </a:xfrm>
          <a:prstGeom prst="smileyF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miley Face 17">
            <a:extLst>
              <a:ext uri="{FF2B5EF4-FFF2-40B4-BE49-F238E27FC236}">
                <a16:creationId xmlns:a16="http://schemas.microsoft.com/office/drawing/2014/main" id="{6F77B24F-760C-F41C-A10C-CF7DB35FA39F}"/>
              </a:ext>
            </a:extLst>
          </p:cNvPr>
          <p:cNvSpPr/>
          <p:nvPr/>
        </p:nvSpPr>
        <p:spPr>
          <a:xfrm>
            <a:off x="851129" y="4859610"/>
            <a:ext cx="294105" cy="294105"/>
          </a:xfrm>
          <a:prstGeom prst="smileyF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miley Face 18">
            <a:extLst>
              <a:ext uri="{FF2B5EF4-FFF2-40B4-BE49-F238E27FC236}">
                <a16:creationId xmlns:a16="http://schemas.microsoft.com/office/drawing/2014/main" id="{9E99D5E0-D313-981D-50E5-8576929D024A}"/>
              </a:ext>
            </a:extLst>
          </p:cNvPr>
          <p:cNvSpPr/>
          <p:nvPr/>
        </p:nvSpPr>
        <p:spPr>
          <a:xfrm>
            <a:off x="1782208" y="6258465"/>
            <a:ext cx="294105" cy="294105"/>
          </a:xfrm>
          <a:prstGeom prst="smileyF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miley Face 19">
            <a:extLst>
              <a:ext uri="{FF2B5EF4-FFF2-40B4-BE49-F238E27FC236}">
                <a16:creationId xmlns:a16="http://schemas.microsoft.com/office/drawing/2014/main" id="{421652E2-24D0-0794-542D-CB139A7D18FD}"/>
              </a:ext>
            </a:extLst>
          </p:cNvPr>
          <p:cNvSpPr/>
          <p:nvPr/>
        </p:nvSpPr>
        <p:spPr>
          <a:xfrm>
            <a:off x="2198795" y="3071305"/>
            <a:ext cx="294105" cy="294105"/>
          </a:xfrm>
          <a:prstGeom prst="smileyF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miley Face 20">
            <a:extLst>
              <a:ext uri="{FF2B5EF4-FFF2-40B4-BE49-F238E27FC236}">
                <a16:creationId xmlns:a16="http://schemas.microsoft.com/office/drawing/2014/main" id="{BABD75F5-BEFA-1F35-5E64-8294B9195B6F}"/>
              </a:ext>
            </a:extLst>
          </p:cNvPr>
          <p:cNvSpPr/>
          <p:nvPr/>
        </p:nvSpPr>
        <p:spPr>
          <a:xfrm>
            <a:off x="2042446" y="4071952"/>
            <a:ext cx="294105" cy="294105"/>
          </a:xfrm>
          <a:prstGeom prst="smileyF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miley Face 21">
            <a:extLst>
              <a:ext uri="{FF2B5EF4-FFF2-40B4-BE49-F238E27FC236}">
                <a16:creationId xmlns:a16="http://schemas.microsoft.com/office/drawing/2014/main" id="{6685845F-89C4-1B25-C1DD-75E69BF0739D}"/>
              </a:ext>
            </a:extLst>
          </p:cNvPr>
          <p:cNvSpPr/>
          <p:nvPr/>
        </p:nvSpPr>
        <p:spPr>
          <a:xfrm>
            <a:off x="3668569" y="4257389"/>
            <a:ext cx="294105" cy="294105"/>
          </a:xfrm>
          <a:prstGeom prst="smileyF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miley Face 22">
            <a:extLst>
              <a:ext uri="{FF2B5EF4-FFF2-40B4-BE49-F238E27FC236}">
                <a16:creationId xmlns:a16="http://schemas.microsoft.com/office/drawing/2014/main" id="{2D52564A-F3E7-B745-B23C-006A07606CB0}"/>
              </a:ext>
            </a:extLst>
          </p:cNvPr>
          <p:cNvSpPr/>
          <p:nvPr/>
        </p:nvSpPr>
        <p:spPr>
          <a:xfrm>
            <a:off x="3683495" y="5006662"/>
            <a:ext cx="294105" cy="294105"/>
          </a:xfrm>
          <a:prstGeom prst="smileyF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Smiley Face 23">
            <a:extLst>
              <a:ext uri="{FF2B5EF4-FFF2-40B4-BE49-F238E27FC236}">
                <a16:creationId xmlns:a16="http://schemas.microsoft.com/office/drawing/2014/main" id="{8FEF6AD4-DF70-5CB2-3924-FC0D40A59AF2}"/>
              </a:ext>
            </a:extLst>
          </p:cNvPr>
          <p:cNvSpPr/>
          <p:nvPr/>
        </p:nvSpPr>
        <p:spPr>
          <a:xfrm>
            <a:off x="2500068" y="5086324"/>
            <a:ext cx="294105" cy="294105"/>
          </a:xfrm>
          <a:prstGeom prst="smileyF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Smiley Face 24">
            <a:extLst>
              <a:ext uri="{FF2B5EF4-FFF2-40B4-BE49-F238E27FC236}">
                <a16:creationId xmlns:a16="http://schemas.microsoft.com/office/drawing/2014/main" id="{E9BFF5CF-DF44-C893-9558-A7C278F4BE7D}"/>
              </a:ext>
            </a:extLst>
          </p:cNvPr>
          <p:cNvSpPr/>
          <p:nvPr/>
        </p:nvSpPr>
        <p:spPr>
          <a:xfrm>
            <a:off x="4351172" y="3255202"/>
            <a:ext cx="294105" cy="294105"/>
          </a:xfrm>
          <a:prstGeom prst="smileyF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Smiley Face 25">
            <a:extLst>
              <a:ext uri="{FF2B5EF4-FFF2-40B4-BE49-F238E27FC236}">
                <a16:creationId xmlns:a16="http://schemas.microsoft.com/office/drawing/2014/main" id="{23773753-E91D-69A7-EBFA-07D89964602E}"/>
              </a:ext>
            </a:extLst>
          </p:cNvPr>
          <p:cNvSpPr/>
          <p:nvPr/>
        </p:nvSpPr>
        <p:spPr>
          <a:xfrm>
            <a:off x="3511808" y="6199040"/>
            <a:ext cx="294105" cy="294105"/>
          </a:xfrm>
          <a:prstGeom prst="smileyF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Smiley Face 26">
            <a:extLst>
              <a:ext uri="{FF2B5EF4-FFF2-40B4-BE49-F238E27FC236}">
                <a16:creationId xmlns:a16="http://schemas.microsoft.com/office/drawing/2014/main" id="{3FE8DA72-AD96-E7D2-E1D0-51D3980B60DE}"/>
              </a:ext>
            </a:extLst>
          </p:cNvPr>
          <p:cNvSpPr/>
          <p:nvPr/>
        </p:nvSpPr>
        <p:spPr>
          <a:xfrm>
            <a:off x="1333965" y="5761099"/>
            <a:ext cx="294105" cy="294105"/>
          </a:xfrm>
          <a:prstGeom prst="smileyF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1B71FE-5C9E-A604-4988-2BA5C9928396}"/>
              </a:ext>
            </a:extLst>
          </p:cNvPr>
          <p:cNvSpPr txBox="1"/>
          <p:nvPr/>
        </p:nvSpPr>
        <p:spPr>
          <a:xfrm>
            <a:off x="1038827" y="5436207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/>
                <a:cs typeface="Times New Roman"/>
              </a:rPr>
              <a:t>E</a:t>
            </a:r>
            <a:r>
              <a:rPr lang="en-US" baseline="-25000" dirty="0"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4F09AB1-CCBC-D7D4-299B-FDA70D355958}"/>
              </a:ext>
            </a:extLst>
          </p:cNvPr>
          <p:cNvSpPr txBox="1"/>
          <p:nvPr/>
        </p:nvSpPr>
        <p:spPr>
          <a:xfrm>
            <a:off x="2757965" y="5138089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/>
                <a:cs typeface="Times New Roman"/>
              </a:rPr>
              <a:t>E</a:t>
            </a:r>
            <a:r>
              <a:rPr lang="en-US" baseline="-25000" dirty="0"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7ACAF8D-09F8-79B9-0EA2-F075869D5584}"/>
              </a:ext>
            </a:extLst>
          </p:cNvPr>
          <p:cNvSpPr txBox="1"/>
          <p:nvPr/>
        </p:nvSpPr>
        <p:spPr>
          <a:xfrm>
            <a:off x="702963" y="5062208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/>
                <a:cs typeface="Times New Roman"/>
              </a:rPr>
              <a:t>E</a:t>
            </a:r>
            <a:r>
              <a:rPr lang="en-US" baseline="-25000" dirty="0"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8A9620-6269-FED0-8DB6-8615BD9F81EA}"/>
              </a:ext>
            </a:extLst>
          </p:cNvPr>
          <p:cNvSpPr txBox="1"/>
          <p:nvPr/>
        </p:nvSpPr>
        <p:spPr>
          <a:xfrm>
            <a:off x="2407224" y="3233009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/>
                <a:cs typeface="Times New Roman"/>
              </a:rPr>
              <a:t>E</a:t>
            </a:r>
            <a:r>
              <a:rPr lang="en-US" baseline="-25000" dirty="0"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7337E95-A937-515E-235B-6427614AD696}"/>
              </a:ext>
            </a:extLst>
          </p:cNvPr>
          <p:cNvSpPr txBox="1"/>
          <p:nvPr/>
        </p:nvSpPr>
        <p:spPr>
          <a:xfrm>
            <a:off x="2034254" y="6186674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/>
                <a:cs typeface="Times New Roman"/>
              </a:rPr>
              <a:t>E</a:t>
            </a:r>
            <a:r>
              <a:rPr lang="en-US" baseline="-25000" dirty="0">
                <a:latin typeface="Times New Roman"/>
                <a:cs typeface="Times New Roman"/>
              </a:rPr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61504F-8D6E-1092-EDB1-AEE87FF47167}"/>
              </a:ext>
            </a:extLst>
          </p:cNvPr>
          <p:cNvSpPr txBox="1"/>
          <p:nvPr/>
        </p:nvSpPr>
        <p:spPr>
          <a:xfrm>
            <a:off x="3803296" y="3233009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/>
                <a:cs typeface="Times New Roman"/>
              </a:rPr>
              <a:t>E</a:t>
            </a:r>
            <a:r>
              <a:rPr lang="en-US" baseline="-25000" dirty="0">
                <a:latin typeface="Times New Roman"/>
                <a:cs typeface="Times New Roman"/>
              </a:rPr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513736-A853-579D-CEDD-17689D453DED}"/>
              </a:ext>
            </a:extLst>
          </p:cNvPr>
          <p:cNvSpPr txBox="1"/>
          <p:nvPr/>
        </p:nvSpPr>
        <p:spPr>
          <a:xfrm>
            <a:off x="1706412" y="4011465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/>
                <a:cs typeface="Times New Roman"/>
              </a:rPr>
              <a:t>E</a:t>
            </a:r>
            <a:r>
              <a:rPr lang="en-US" baseline="-25000" dirty="0">
                <a:latin typeface="Times New Roman"/>
                <a:cs typeface="Times New Roman"/>
              </a:rPr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5DEE136-E3B4-BEB8-80E9-1222DD9DA3E2}"/>
              </a:ext>
            </a:extLst>
          </p:cNvPr>
          <p:cNvSpPr txBox="1"/>
          <p:nvPr/>
        </p:nvSpPr>
        <p:spPr>
          <a:xfrm>
            <a:off x="3083983" y="5616831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/>
                <a:cs typeface="Times New Roman"/>
              </a:rPr>
              <a:t>E</a:t>
            </a:r>
            <a:r>
              <a:rPr lang="en-US" baseline="-25000" dirty="0"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37E2971-E1C4-DF0E-73C6-6759A146809E}"/>
              </a:ext>
            </a:extLst>
          </p:cNvPr>
          <p:cNvSpPr txBox="1"/>
          <p:nvPr/>
        </p:nvSpPr>
        <p:spPr>
          <a:xfrm>
            <a:off x="4440791" y="3498321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/>
                <a:cs typeface="Times New Roman"/>
              </a:rPr>
              <a:t>E</a:t>
            </a:r>
            <a:r>
              <a:rPr lang="en-US" baseline="-25000" dirty="0">
                <a:latin typeface="Times New Roman"/>
                <a:cs typeface="Times New Roman"/>
              </a:rPr>
              <a:t>10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7509241-7288-8167-22FC-25D31C4B685C}"/>
              </a:ext>
            </a:extLst>
          </p:cNvPr>
          <p:cNvSpPr txBox="1"/>
          <p:nvPr/>
        </p:nvSpPr>
        <p:spPr>
          <a:xfrm>
            <a:off x="3209464" y="6162032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/>
                <a:cs typeface="Times New Roman"/>
              </a:rPr>
              <a:t>E</a:t>
            </a:r>
            <a:r>
              <a:rPr lang="en-US" baseline="-25000" dirty="0"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49DDF43-E23F-24E1-CA1A-771D6B0AB2D3}"/>
              </a:ext>
            </a:extLst>
          </p:cNvPr>
          <p:cNvSpPr txBox="1"/>
          <p:nvPr/>
        </p:nvSpPr>
        <p:spPr>
          <a:xfrm>
            <a:off x="3896096" y="4326792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/>
                <a:cs typeface="Times New Roman"/>
              </a:rPr>
              <a:t>E</a:t>
            </a:r>
            <a:r>
              <a:rPr lang="en-US" baseline="-25000" dirty="0"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DE296F2-E7EF-DBE5-9D64-18FCEAA09593}"/>
              </a:ext>
            </a:extLst>
          </p:cNvPr>
          <p:cNvSpPr txBox="1"/>
          <p:nvPr/>
        </p:nvSpPr>
        <p:spPr>
          <a:xfrm>
            <a:off x="3396563" y="5028650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/>
                <a:cs typeface="Times New Roman"/>
              </a:rPr>
              <a:t>E</a:t>
            </a:r>
            <a:r>
              <a:rPr lang="en-US" baseline="-25000" dirty="0"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99C2F7E-FFDA-2514-E665-A20BEEB7A886}"/>
              </a:ext>
            </a:extLst>
          </p:cNvPr>
          <p:cNvSpPr txBox="1"/>
          <p:nvPr/>
        </p:nvSpPr>
        <p:spPr>
          <a:xfrm>
            <a:off x="2026939" y="5634754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/>
                <a:cs typeface="Times New Roman"/>
              </a:rPr>
              <a:t>E</a:t>
            </a:r>
            <a:r>
              <a:rPr lang="en-US" baseline="-25000" dirty="0"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41" name="Rectangle 5">
            <a:extLst>
              <a:ext uri="{FF2B5EF4-FFF2-40B4-BE49-F238E27FC236}">
                <a16:creationId xmlns:a16="http://schemas.microsoft.com/office/drawing/2014/main" id="{303B031A-2876-28E5-2E90-EB1C6244F1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0998" y="3019990"/>
            <a:ext cx="3923985" cy="8476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Which microstate is most likely??</a:t>
            </a:r>
          </a:p>
        </p:txBody>
      </p:sp>
      <p:sp>
        <p:nvSpPr>
          <p:cNvPr id="42" name="Rectangle 5">
            <a:extLst>
              <a:ext uri="{FF2B5EF4-FFF2-40B4-BE49-F238E27FC236}">
                <a16:creationId xmlns:a16="http://schemas.microsoft.com/office/drawing/2014/main" id="{E7475BF7-1553-5888-E21F-E1B817C57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1415" y="3816636"/>
            <a:ext cx="4152586" cy="1089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000" dirty="0">
                <a:solidFill>
                  <a:srgbClr val="000000"/>
                </a:solidFill>
                <a:latin typeface="Times New Roman" pitchFamily="18" charset="0"/>
              </a:rPr>
              <a:t>Assume any microstate is just as likely as any other: </a:t>
            </a:r>
            <a:r>
              <a:rPr lang="en-GB" sz="2000" dirty="0">
                <a:solidFill>
                  <a:srgbClr val="000000"/>
                </a:solidFill>
                <a:latin typeface="Times New Roman"/>
                <a:cs typeface="Times New Roman"/>
              </a:rPr>
              <a:t>“</a:t>
            </a:r>
            <a:r>
              <a:rPr lang="en-GB" sz="2000" b="1" dirty="0">
                <a:latin typeface="Times New Roman"/>
                <a:cs typeface="Times New Roman"/>
              </a:rPr>
              <a:t>The principle of a priori probability</a:t>
            </a:r>
            <a:r>
              <a:rPr lang="en-GB" sz="2000" dirty="0">
                <a:latin typeface="Times New Roman"/>
                <a:cs typeface="Times New Roman"/>
              </a:rPr>
              <a:t>”</a:t>
            </a:r>
            <a:endParaRPr lang="en-GB" sz="20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43" name="Rectangle 5">
            <a:extLst>
              <a:ext uri="{FF2B5EF4-FFF2-40B4-BE49-F238E27FC236}">
                <a16:creationId xmlns:a16="http://schemas.microsoft.com/office/drawing/2014/main" id="{4FE51C6D-4060-5A6E-94C8-078CC0077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734" y="5016224"/>
            <a:ext cx="3923985" cy="172146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But, … if all the microstates are equally likely, we can figure out which </a:t>
            </a:r>
            <a:r>
              <a:rPr lang="en-GB" sz="2400" i="1" u="sng" dirty="0" err="1">
                <a:solidFill>
                  <a:srgbClr val="000000"/>
                </a:solidFill>
                <a:latin typeface="Times New Roman" pitchFamily="18" charset="0"/>
              </a:rPr>
              <a:t>macrostate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 is most likely! </a:t>
            </a:r>
          </a:p>
        </p:txBody>
      </p:sp>
      <p:sp>
        <p:nvSpPr>
          <p:cNvPr id="44" name="Rectangle 5">
            <a:extLst>
              <a:ext uri="{FF2B5EF4-FFF2-40B4-BE49-F238E27FC236}">
                <a16:creationId xmlns:a16="http://schemas.microsoft.com/office/drawing/2014/main" id="{A69CF39E-1558-D711-8BBE-1EB02D3DD4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497542"/>
            <a:ext cx="8686800" cy="93551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As the particles bounce around they are constantly exchanging energy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BBBECB4-2BDF-C64B-42BE-EFCD12CDEB84}"/>
              </a:ext>
            </a:extLst>
          </p:cNvPr>
          <p:cNvSpPr/>
          <p:nvPr/>
        </p:nvSpPr>
        <p:spPr>
          <a:xfrm>
            <a:off x="337140" y="2380729"/>
            <a:ext cx="59727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The microstate is constantly changing</a:t>
            </a:r>
          </a:p>
        </p:txBody>
      </p:sp>
      <p:pic>
        <p:nvPicPr>
          <p:cNvPr id="46" name="Picture 2">
            <a:extLst>
              <a:ext uri="{FF2B5EF4-FFF2-40B4-BE49-F238E27FC236}">
                <a16:creationId xmlns:a16="http://schemas.microsoft.com/office/drawing/2014/main" id="{15DEC197-0C1B-7F77-91A9-335E9C4F6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2D7042D9-B1A2-55CE-609B-6A64A3847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18" y="11641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Most Probable </a:t>
            </a:r>
            <a:r>
              <a:rPr lang="en-GB" sz="4000" dirty="0" err="1">
                <a:solidFill>
                  <a:srgbClr val="000000"/>
                </a:solidFill>
                <a:latin typeface="Times New Roman" pitchFamily="18" charset="0"/>
              </a:rPr>
              <a:t>Macrostate</a:t>
            </a:r>
            <a:endParaRPr lang="en-GB" sz="4000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60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3718" y="11641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Most Probable </a:t>
            </a:r>
            <a:r>
              <a:rPr lang="en-GB" sz="4000" dirty="0" err="1">
                <a:solidFill>
                  <a:srgbClr val="000000"/>
                </a:solidFill>
                <a:latin typeface="Times New Roman" pitchFamily="18" charset="0"/>
              </a:rPr>
              <a:t>Macrostate</a:t>
            </a:r>
            <a:endParaRPr lang="en-GB" sz="4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2" name="Rectangle 5"/>
          <p:cNvSpPr>
            <a:spLocks noChangeArrowheads="1"/>
          </p:cNvSpPr>
          <p:nvPr/>
        </p:nvSpPr>
        <p:spPr bwMode="auto">
          <a:xfrm>
            <a:off x="228600" y="1270558"/>
            <a:ext cx="8686800" cy="93551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The most probable </a:t>
            </a:r>
            <a:r>
              <a:rPr lang="en-GB" sz="2800" dirty="0" err="1">
                <a:solidFill>
                  <a:srgbClr val="000000"/>
                </a:solidFill>
                <a:latin typeface="Times New Roman" pitchFamily="18" charset="0"/>
              </a:rPr>
              <a:t>macrostate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is the configuration that can occur the most number of 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337140" y="2220323"/>
            <a:ext cx="8349660" cy="13029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There are </a:t>
            </a: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J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 wave functions available to to all the particles</a:t>
            </a: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The number of ways to achieve a </a:t>
            </a:r>
            <a:r>
              <a:rPr lang="en-GB" sz="2400" dirty="0" err="1">
                <a:solidFill>
                  <a:srgbClr val="000000"/>
                </a:solidFill>
                <a:latin typeface="Times New Roman" pitchFamily="18" charset="0"/>
              </a:rPr>
              <a:t>macrostate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 with </a:t>
            </a: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N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 total particles:</a:t>
            </a:r>
          </a:p>
        </p:txBody>
      </p:sp>
      <p:sp>
        <p:nvSpPr>
          <p:cNvPr id="9" name="Rectangle 8"/>
          <p:cNvSpPr/>
          <p:nvPr/>
        </p:nvSpPr>
        <p:spPr>
          <a:xfrm>
            <a:off x="14712" y="5063225"/>
            <a:ext cx="5342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# ways to arrange particle energies and get </a:t>
            </a:r>
            <a:r>
              <a:rPr lang="en-GB" dirty="0" err="1">
                <a:solidFill>
                  <a:srgbClr val="000000"/>
                </a:solidFill>
                <a:latin typeface="Times New Roman" pitchFamily="18" charset="0"/>
              </a:rPr>
              <a:t>macrostate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GB" i="1" dirty="0" err="1">
                <a:solidFill>
                  <a:srgbClr val="000000"/>
                </a:solidFill>
                <a:latin typeface="Times New Roman" pitchFamily="18" charset="0"/>
              </a:rPr>
              <a:t>i</a:t>
            </a:r>
            <a:endParaRPr lang="en-US" i="1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3131" y="3750500"/>
            <a:ext cx="3685674" cy="1013312"/>
          </a:xfrm>
          <a:prstGeom prst="rect">
            <a:avLst/>
          </a:prstGeom>
        </p:spPr>
      </p:pic>
      <p:cxnSp>
        <p:nvCxnSpPr>
          <p:cNvPr id="73" name="Straight Arrow Connector 72"/>
          <p:cNvCxnSpPr/>
          <p:nvPr/>
        </p:nvCxnSpPr>
        <p:spPr>
          <a:xfrm flipV="1">
            <a:off x="2463131" y="4585361"/>
            <a:ext cx="223922" cy="53473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4531895" y="4763812"/>
            <a:ext cx="30747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 flipV="1">
            <a:off x="4719055" y="4830979"/>
            <a:ext cx="852036" cy="4495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633789" y="5120098"/>
            <a:ext cx="328161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Read: n</a:t>
            </a:r>
            <a:r>
              <a:rPr lang="en-GB" baseline="-25000" dirty="0">
                <a:solidFill>
                  <a:srgbClr val="000000"/>
                </a:solidFill>
                <a:latin typeface="Times New Roman" pitchFamily="18" charset="0"/>
              </a:rPr>
              <a:t>3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 particles have wave function 3</a:t>
            </a:r>
            <a:endParaRPr lang="en-US" dirty="0"/>
          </a:p>
        </p:txBody>
      </p:sp>
      <p:sp>
        <p:nvSpPr>
          <p:cNvPr id="74" name="Rectangle 73"/>
          <p:cNvSpPr/>
          <p:nvPr/>
        </p:nvSpPr>
        <p:spPr>
          <a:xfrm>
            <a:off x="6276811" y="3480806"/>
            <a:ext cx="22388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Plug in the occupation number vector</a:t>
            </a:r>
            <a:endParaRPr lang="en-US" dirty="0"/>
          </a:p>
        </p:txBody>
      </p:sp>
      <p:cxnSp>
        <p:nvCxnSpPr>
          <p:cNvPr id="21" name="Straight Arrow Connector 20"/>
          <p:cNvCxnSpPr>
            <a:stCxn id="74" idx="2"/>
          </p:cNvCxnSpPr>
          <p:nvPr/>
        </p:nvCxnSpPr>
        <p:spPr>
          <a:xfrm flipH="1">
            <a:off x="6148805" y="4127137"/>
            <a:ext cx="1247443" cy="3512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0" y="5766429"/>
            <a:ext cx="52577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# number of microstates corresponding to </a:t>
            </a:r>
            <a:r>
              <a:rPr lang="en-GB" dirty="0" err="1">
                <a:solidFill>
                  <a:srgbClr val="000000"/>
                </a:solidFill>
                <a:latin typeface="Times New Roman" pitchFamily="18" charset="0"/>
              </a:rPr>
              <a:t>macrostate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GB" i="1" dirty="0" err="1">
                <a:solidFill>
                  <a:srgbClr val="000000"/>
                </a:solidFill>
                <a:latin typeface="Times New Roman" pitchFamily="18" charset="0"/>
              </a:rPr>
              <a:t>i</a:t>
            </a:r>
            <a:endParaRPr lang="en-US" i="1" dirty="0"/>
          </a:p>
        </p:txBody>
      </p:sp>
      <p:sp>
        <p:nvSpPr>
          <p:cNvPr id="80" name="Rectangle 79"/>
          <p:cNvSpPr/>
          <p:nvPr/>
        </p:nvSpPr>
        <p:spPr>
          <a:xfrm>
            <a:off x="2179558" y="5442186"/>
            <a:ext cx="567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-or-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576502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9" grpId="0"/>
      <p:bldP spid="74" grpId="0"/>
      <p:bldP spid="75" grpId="0"/>
      <p:bldP spid="8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3718" y="11641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Most Probable </a:t>
            </a:r>
            <a:r>
              <a:rPr lang="en-GB" sz="4000" dirty="0" err="1">
                <a:solidFill>
                  <a:srgbClr val="000000"/>
                </a:solidFill>
                <a:latin typeface="Times New Roman" pitchFamily="18" charset="0"/>
              </a:rPr>
              <a:t>Macrostate</a:t>
            </a:r>
            <a:endParaRPr lang="en-GB" sz="4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2" name="Rectangle 5"/>
          <p:cNvSpPr>
            <a:spLocks noChangeArrowheads="1"/>
          </p:cNvSpPr>
          <p:nvPr/>
        </p:nvSpPr>
        <p:spPr bwMode="auto">
          <a:xfrm>
            <a:off x="228600" y="1270558"/>
            <a:ext cx="8686800" cy="93551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Which </a:t>
            </a:r>
            <a:r>
              <a:rPr lang="en-GB" sz="2800" dirty="0" err="1">
                <a:solidFill>
                  <a:srgbClr val="000000"/>
                </a:solidFill>
                <a:latin typeface="Times New Roman" pitchFamily="18" charset="0"/>
              </a:rPr>
              <a:t>macrostate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is more probable: {3,2,8,0,0,1,0,0} or {3,3,7,0,0,1,0,0} or {2,4,1,2,2,0,1,2}??</a:t>
            </a:r>
          </a:p>
        </p:txBody>
      </p:sp>
      <p:sp>
        <p:nvSpPr>
          <p:cNvPr id="6" name="Rectangle 5"/>
          <p:cNvSpPr/>
          <p:nvPr/>
        </p:nvSpPr>
        <p:spPr>
          <a:xfrm>
            <a:off x="5039894" y="2549174"/>
            <a:ext cx="16439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= 180,180</a:t>
            </a:r>
            <a:endParaRPr lang="en-US" sz="2800" dirty="0"/>
          </a:p>
        </p:txBody>
      </p:sp>
      <p:sp>
        <p:nvSpPr>
          <p:cNvPr id="16" name="Rectangle 15"/>
          <p:cNvSpPr/>
          <p:nvPr/>
        </p:nvSpPr>
        <p:spPr>
          <a:xfrm>
            <a:off x="5013155" y="3711726"/>
            <a:ext cx="16439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= 480,480</a:t>
            </a:r>
            <a:endParaRPr lang="en-US" sz="2800" dirty="0"/>
          </a:p>
        </p:txBody>
      </p:sp>
      <p:sp>
        <p:nvSpPr>
          <p:cNvPr id="17" name="Rectangle 16"/>
          <p:cNvSpPr/>
          <p:nvPr/>
        </p:nvSpPr>
        <p:spPr>
          <a:xfrm>
            <a:off x="417345" y="5688050"/>
            <a:ext cx="789781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 err="1">
                <a:solidFill>
                  <a:srgbClr val="000000"/>
                </a:solidFill>
                <a:latin typeface="Times New Roman" pitchFamily="18" charset="0"/>
              </a:rPr>
              <a:t>Macrostate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3 is (way) more probable. There are more ways to get it (</a:t>
            </a:r>
            <a:r>
              <a:rPr lang="en-GB" sz="2800" i="1" dirty="0">
                <a:solidFill>
                  <a:srgbClr val="000000"/>
                </a:solidFill>
                <a:latin typeface="Times New Roman" pitchFamily="18" charset="0"/>
              </a:rPr>
              <a:t>i.e.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corresponds to more microstates).</a:t>
            </a:r>
            <a:endParaRPr lang="en-US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3992" y="2423020"/>
            <a:ext cx="2918326" cy="72958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0624" y="3618150"/>
            <a:ext cx="2904957" cy="72624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3992" y="4672596"/>
            <a:ext cx="2784643" cy="696161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071968" y="4712700"/>
            <a:ext cx="22723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= 227,026,800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19165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6" grpId="0"/>
      <p:bldP spid="17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3718" y="11641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Most Probable </a:t>
            </a:r>
            <a:r>
              <a:rPr lang="en-GB" sz="4000" dirty="0" err="1">
                <a:solidFill>
                  <a:srgbClr val="000000"/>
                </a:solidFill>
                <a:latin typeface="Times New Roman" pitchFamily="18" charset="0"/>
              </a:rPr>
              <a:t>Macrostate</a:t>
            </a:r>
            <a:endParaRPr lang="en-GB" sz="4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2" name="Rectangle 5"/>
          <p:cNvSpPr>
            <a:spLocks noChangeArrowheads="1"/>
          </p:cNvSpPr>
          <p:nvPr/>
        </p:nvSpPr>
        <p:spPr bwMode="auto">
          <a:xfrm>
            <a:off x="228600" y="1297294"/>
            <a:ext cx="8686800" cy="93551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Which ever </a:t>
            </a:r>
            <a:r>
              <a:rPr lang="en-GB" sz="3200" dirty="0" err="1">
                <a:solidFill>
                  <a:srgbClr val="000000"/>
                </a:solidFill>
                <a:latin typeface="Times New Roman" pitchFamily="18" charset="0"/>
              </a:rPr>
              <a:t>macrostate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 has the most number of microstates is most probable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228600" y="2759524"/>
            <a:ext cx="8686800" cy="296215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Find the maximum of </a:t>
            </a:r>
            <a:r>
              <a:rPr lang="en-GB" sz="2800" i="1" dirty="0" err="1">
                <a:solidFill>
                  <a:srgbClr val="000000"/>
                </a:solidFill>
                <a:latin typeface="Times New Roman" pitchFamily="18" charset="0"/>
              </a:rPr>
              <a:t>t</a:t>
            </a:r>
            <a:r>
              <a:rPr lang="en-GB" sz="2800" i="1" baseline="-25000" dirty="0" err="1">
                <a:solidFill>
                  <a:srgbClr val="000000"/>
                </a:solidFill>
                <a:latin typeface="Times New Roman" pitchFamily="18" charset="0"/>
              </a:rPr>
              <a:t>i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(</a:t>
            </a:r>
            <a:r>
              <a:rPr lang="en-GB" sz="2800" dirty="0" err="1">
                <a:solidFill>
                  <a:srgbClr val="000000"/>
                </a:solidFill>
                <a:latin typeface="Times New Roman" pitchFamily="18" charset="0"/>
              </a:rPr>
              <a:t>macrostate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with the most microstates) </a:t>
            </a:r>
            <a:r>
              <a:rPr lang="en-GB" sz="2800" i="1" u="sng" dirty="0">
                <a:solidFill>
                  <a:srgbClr val="000000"/>
                </a:solidFill>
                <a:latin typeface="Times New Roman" pitchFamily="18" charset="0"/>
              </a:rPr>
              <a:t>given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the constraints</a:t>
            </a:r>
          </a:p>
          <a:p>
            <a:pPr marL="1344613" lvl="2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The total energy  </a:t>
            </a:r>
            <a:r>
              <a:rPr lang="en-GB" sz="2800" i="1" dirty="0">
                <a:solidFill>
                  <a:srgbClr val="000000"/>
                </a:solidFill>
                <a:latin typeface="Times New Roman" pitchFamily="18" charset="0"/>
              </a:rPr>
              <a:t>E,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remains constant</a:t>
            </a:r>
          </a:p>
          <a:p>
            <a:pPr marL="1344613" lvl="2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The total number of particles </a:t>
            </a:r>
            <a:r>
              <a:rPr lang="en-GB" sz="2800" i="1" dirty="0">
                <a:solidFill>
                  <a:srgbClr val="000000"/>
                </a:solidFill>
                <a:latin typeface="Times New Roman" pitchFamily="18" charset="0"/>
              </a:rPr>
              <a:t>N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, remains constant</a:t>
            </a:r>
          </a:p>
          <a:p>
            <a:pPr marL="1344613" lvl="2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The number of microstates accessible to the particles increases as temperature </a:t>
            </a:r>
            <a:r>
              <a:rPr lang="en-GB" sz="2800" i="1" dirty="0">
                <a:solidFill>
                  <a:srgbClr val="000000"/>
                </a:solidFill>
                <a:latin typeface="Times New Roman" pitchFamily="18" charset="0"/>
              </a:rPr>
              <a:t>T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increases</a:t>
            </a:r>
          </a:p>
        </p:txBody>
      </p:sp>
    </p:spTree>
    <p:extLst>
      <p:ext uri="{BB962C8B-B14F-4D97-AF65-F5344CB8AC3E}">
        <p14:creationId xmlns:p14="http://schemas.microsoft.com/office/powerpoint/2010/main" val="2851058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3718" y="11641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The Boltzmann Distribution</a:t>
            </a:r>
          </a:p>
        </p:txBody>
      </p:sp>
      <p:sp>
        <p:nvSpPr>
          <p:cNvPr id="42" name="Rectangle 5"/>
          <p:cNvSpPr>
            <a:spLocks noChangeArrowheads="1"/>
          </p:cNvSpPr>
          <p:nvPr/>
        </p:nvSpPr>
        <p:spPr bwMode="auto">
          <a:xfrm>
            <a:off x="228600" y="1270558"/>
            <a:ext cx="8686800" cy="93551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The </a:t>
            </a:r>
            <a:r>
              <a:rPr lang="en-GB" sz="2800" dirty="0" err="1">
                <a:solidFill>
                  <a:srgbClr val="000000"/>
                </a:solidFill>
                <a:latin typeface="Times New Roman" pitchFamily="18" charset="0"/>
              </a:rPr>
              <a:t>macrostate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with the most microstates (given the </a:t>
            </a:r>
            <a:r>
              <a:rPr lang="en-GB" sz="2800" i="1" dirty="0">
                <a:solidFill>
                  <a:srgbClr val="000000"/>
                </a:solidFill>
                <a:latin typeface="Times New Roman" pitchFamily="18" charset="0"/>
              </a:rPr>
              <a:t>E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, </a:t>
            </a:r>
            <a:r>
              <a:rPr lang="en-GB" sz="2800" i="1" dirty="0">
                <a:solidFill>
                  <a:srgbClr val="000000"/>
                </a:solidFill>
                <a:latin typeface="Times New Roman" pitchFamily="18" charset="0"/>
              </a:rPr>
              <a:t>N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, and </a:t>
            </a:r>
            <a:r>
              <a:rPr lang="en-GB" sz="2800" i="1" dirty="0">
                <a:solidFill>
                  <a:srgbClr val="000000"/>
                </a:solidFill>
                <a:latin typeface="Times New Roman" pitchFamily="18" charset="0"/>
              </a:rPr>
              <a:t>T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constraints) occurs when the </a:t>
            </a:r>
            <a:r>
              <a:rPr lang="en-GB" sz="2800" dirty="0" err="1">
                <a:solidFill>
                  <a:srgbClr val="000000"/>
                </a:solidFill>
                <a:latin typeface="Times New Roman" pitchFamily="18" charset="0"/>
              </a:rPr>
              <a:t>n</a:t>
            </a:r>
            <a:r>
              <a:rPr lang="en-GB" sz="2800" i="1" baseline="-25000" dirty="0" err="1">
                <a:solidFill>
                  <a:srgbClr val="000000"/>
                </a:solidFill>
                <a:latin typeface="Times New Roman" pitchFamily="18" charset="0"/>
              </a:rPr>
              <a:t>j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equal: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718" y="4697314"/>
            <a:ext cx="3281108" cy="1200328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Number of particles with wave function </a:t>
            </a: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j 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(i.e. in single particle state </a:t>
            </a: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j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)</a:t>
            </a: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5953772" y="2239695"/>
            <a:ext cx="2733028" cy="830997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Energy of the wave function </a:t>
            </a: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j</a:t>
            </a:r>
            <a:endParaRPr lang="en-US" sz="2400" i="1" dirty="0"/>
          </a:p>
        </p:txBody>
      </p:sp>
      <p:sp>
        <p:nvSpPr>
          <p:cNvPr id="11" name="Rectangle 10"/>
          <p:cNvSpPr/>
          <p:nvPr/>
        </p:nvSpPr>
        <p:spPr>
          <a:xfrm>
            <a:off x="6868172" y="4163850"/>
            <a:ext cx="1978643" cy="830997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Temperature of the box is </a:t>
            </a: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T</a:t>
            </a:r>
            <a:endParaRPr lang="en-US" sz="2400" i="1" dirty="0"/>
          </a:p>
        </p:txBody>
      </p:sp>
      <p:sp>
        <p:nvSpPr>
          <p:cNvPr id="12" name="Rectangle 11"/>
          <p:cNvSpPr/>
          <p:nvPr/>
        </p:nvSpPr>
        <p:spPr>
          <a:xfrm>
            <a:off x="457478" y="2392095"/>
            <a:ext cx="2733028" cy="830997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Total number of particles in the box</a:t>
            </a:r>
            <a:endParaRPr lang="en-US" sz="2400" i="1" dirty="0"/>
          </a:p>
        </p:txBody>
      </p:sp>
      <p:sp>
        <p:nvSpPr>
          <p:cNvPr id="13" name="Rectangle 12"/>
          <p:cNvSpPr/>
          <p:nvPr/>
        </p:nvSpPr>
        <p:spPr>
          <a:xfrm>
            <a:off x="3298541" y="5404422"/>
            <a:ext cx="5783409" cy="1200328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Normalization constant (</a:t>
            </a:r>
            <a:r>
              <a:rPr lang="en-GB" sz="2400" b="1" dirty="0">
                <a:solidFill>
                  <a:srgbClr val="000000"/>
                </a:solidFill>
                <a:latin typeface="Times New Roman" pitchFamily="18" charset="0"/>
              </a:rPr>
              <a:t>partition function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) so that </a:t>
            </a:r>
            <a:r>
              <a:rPr lang="en-GB" sz="2400" dirty="0" err="1">
                <a:solidFill>
                  <a:srgbClr val="000000"/>
                </a:solidFill>
                <a:latin typeface="Times New Roman" pitchFamily="18" charset="0"/>
              </a:rPr>
              <a:t>n</a:t>
            </a:r>
            <a:r>
              <a:rPr lang="en-GB" sz="2400" baseline="-25000" dirty="0" err="1">
                <a:solidFill>
                  <a:srgbClr val="000000"/>
                </a:solidFill>
                <a:latin typeface="Times New Roman" pitchFamily="18" charset="0"/>
              </a:rPr>
              <a:t>j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/</a:t>
            </a: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N 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can be interpreted as the probability that </a:t>
            </a:r>
            <a:r>
              <a:rPr lang="en-GB" sz="2400" dirty="0" err="1">
                <a:solidFill>
                  <a:srgbClr val="000000"/>
                </a:solidFill>
                <a:latin typeface="Times New Roman" pitchFamily="18" charset="0"/>
              </a:rPr>
              <a:t>n</a:t>
            </a:r>
            <a:r>
              <a:rPr lang="en-GB" sz="2400" i="1" baseline="-25000" dirty="0" err="1">
                <a:solidFill>
                  <a:srgbClr val="000000"/>
                </a:solidFill>
                <a:latin typeface="Times New Roman" pitchFamily="18" charset="0"/>
              </a:rPr>
              <a:t>j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 particles have energy </a:t>
            </a:r>
            <a:r>
              <a:rPr lang="en-GB" sz="2400" i="1" dirty="0" err="1">
                <a:solidFill>
                  <a:srgbClr val="000000"/>
                </a:solidFill>
                <a:latin typeface="Times New Roman" pitchFamily="18" charset="0"/>
              </a:rPr>
              <a:t>e</a:t>
            </a:r>
            <a:r>
              <a:rPr lang="en-GB" sz="2400" i="1" baseline="-25000" dirty="0" err="1">
                <a:solidFill>
                  <a:srgbClr val="000000"/>
                </a:solidFill>
                <a:latin typeface="Times New Roman" pitchFamily="18" charset="0"/>
              </a:rPr>
              <a:t>j</a:t>
            </a:r>
            <a:endParaRPr lang="en-US" sz="2400" i="1" baseline="-25000" dirty="0"/>
          </a:p>
        </p:txBody>
      </p:sp>
      <p:cxnSp>
        <p:nvCxnSpPr>
          <p:cNvPr id="8" name="Straight Arrow Connector 7"/>
          <p:cNvCxnSpPr>
            <a:stCxn id="6" idx="0"/>
          </p:cNvCxnSpPr>
          <p:nvPr/>
        </p:nvCxnSpPr>
        <p:spPr>
          <a:xfrm flipV="1">
            <a:off x="1744272" y="4163850"/>
            <a:ext cx="1105875" cy="533464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2850147" y="2673684"/>
            <a:ext cx="1240590" cy="735263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0" idx="1"/>
          </p:cNvCxnSpPr>
          <p:nvPr/>
        </p:nvCxnSpPr>
        <p:spPr>
          <a:xfrm flipH="1">
            <a:off x="5481053" y="2655194"/>
            <a:ext cx="472719" cy="567898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 flipV="1">
            <a:off x="5855368" y="3916947"/>
            <a:ext cx="1029369" cy="360948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4296381" y="4579349"/>
            <a:ext cx="0" cy="825073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Left Brace 1">
            <a:extLst>
              <a:ext uri="{FF2B5EF4-FFF2-40B4-BE49-F238E27FC236}">
                <a16:creationId xmlns:a16="http://schemas.microsoft.com/office/drawing/2014/main" id="{E89084B5-5BDB-86F7-7D99-3A6A357699AB}"/>
              </a:ext>
            </a:extLst>
          </p:cNvPr>
          <p:cNvSpPr/>
          <p:nvPr/>
        </p:nvSpPr>
        <p:spPr>
          <a:xfrm rot="16200000">
            <a:off x="5046680" y="3687350"/>
            <a:ext cx="451572" cy="1339753"/>
          </a:xfrm>
          <a:prstGeom prst="leftBrac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842B46-CF19-BDD5-AFBA-699E4FEB6DF6}"/>
              </a:ext>
            </a:extLst>
          </p:cNvPr>
          <p:cNvSpPr txBox="1"/>
          <p:nvPr/>
        </p:nvSpPr>
        <p:spPr>
          <a:xfrm>
            <a:off x="4510736" y="4512648"/>
            <a:ext cx="1894522" cy="369332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0000"/>
                </a:solidFill>
                <a:latin typeface="Times New Roman" pitchFamily="18" charset="0"/>
              </a:rPr>
              <a:t>Boltzmann factor</a:t>
            </a:r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A913B6-D32C-0EB5-2D90-8493DB261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4394" y="3349049"/>
            <a:ext cx="3013659" cy="1004553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578154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  <p:bldP spid="12" grpId="0"/>
      <p:bldP spid="13" grpId="0"/>
      <p:bldP spid="2" grpId="0" animBg="1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3718" y="11641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Partition Function</a:t>
            </a:r>
          </a:p>
        </p:txBody>
      </p:sp>
      <p:sp>
        <p:nvSpPr>
          <p:cNvPr id="42" name="Rectangle 5"/>
          <p:cNvSpPr>
            <a:spLocks noChangeArrowheads="1"/>
          </p:cNvSpPr>
          <p:nvPr/>
        </p:nvSpPr>
        <p:spPr bwMode="auto">
          <a:xfrm>
            <a:off x="228600" y="1297294"/>
            <a:ext cx="8686800" cy="167049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The </a:t>
            </a:r>
            <a:r>
              <a:rPr lang="en-GB" sz="2800" b="1" dirty="0">
                <a:solidFill>
                  <a:srgbClr val="000000"/>
                </a:solidFill>
                <a:latin typeface="Times New Roman" pitchFamily="18" charset="0"/>
              </a:rPr>
              <a:t>partition function </a:t>
            </a:r>
            <a:r>
              <a:rPr lang="en-GB" sz="2800" i="1" dirty="0">
                <a:solidFill>
                  <a:srgbClr val="000000"/>
                </a:solidFill>
                <a:latin typeface="Times New Roman" pitchFamily="18" charset="0"/>
              </a:rPr>
              <a:t>Z</a:t>
            </a:r>
            <a:r>
              <a:rPr lang="en-GB" sz="2800" b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can be interpreted as how the total number of particles are “</a:t>
            </a:r>
            <a:r>
              <a:rPr lang="en-GB" sz="2800" i="1" u="sng" dirty="0">
                <a:solidFill>
                  <a:srgbClr val="000000"/>
                </a:solidFill>
                <a:latin typeface="Times New Roman" pitchFamily="18" charset="0"/>
              </a:rPr>
              <a:t>partitioned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” amongst all the energies </a:t>
            </a:r>
            <a:r>
              <a:rPr lang="en-GB" sz="2800" i="1" dirty="0" err="1">
                <a:solidFill>
                  <a:srgbClr val="000000"/>
                </a:solidFill>
                <a:latin typeface="Times New Roman" pitchFamily="18" charset="0"/>
              </a:rPr>
              <a:t>e</a:t>
            </a:r>
            <a:r>
              <a:rPr lang="en-GB" sz="2800" i="1" baseline="-25000" dirty="0" err="1">
                <a:solidFill>
                  <a:srgbClr val="000000"/>
                </a:solidFill>
                <a:latin typeface="Times New Roman" pitchFamily="18" charset="0"/>
              </a:rPr>
              <a:t>j</a:t>
            </a:r>
            <a:endParaRPr lang="en-GB" sz="2800" i="1" baseline="-25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228600" y="3559521"/>
            <a:ext cx="8686800" cy="50447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Huh?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233952" y="3979281"/>
            <a:ext cx="8686800" cy="83335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Look at the ratio of particles in the first excited state to particles in the ground state: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16" y="4812632"/>
            <a:ext cx="3011349" cy="369332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# particles in first excited state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54816" y="6355348"/>
            <a:ext cx="2569934" cy="369332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# particles in ground state</a:t>
            </a:r>
            <a:endParaRPr lang="en-US" dirty="0"/>
          </a:p>
        </p:txBody>
      </p:sp>
      <p:cxnSp>
        <p:nvCxnSpPr>
          <p:cNvPr id="15" name="Straight Arrow Connector 14"/>
          <p:cNvCxnSpPr>
            <a:stCxn id="6" idx="2"/>
          </p:cNvCxnSpPr>
          <p:nvPr/>
        </p:nvCxnSpPr>
        <p:spPr>
          <a:xfrm>
            <a:off x="1560491" y="5181964"/>
            <a:ext cx="725509" cy="28572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4" idx="0"/>
          </p:cNvCxnSpPr>
          <p:nvPr/>
        </p:nvCxnSpPr>
        <p:spPr>
          <a:xfrm flipV="1">
            <a:off x="1339783" y="5962316"/>
            <a:ext cx="946217" cy="393032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8C2DBAE-D389-2091-AC43-0CBE76FDEF52}"/>
              </a:ext>
            </a:extLst>
          </p:cNvPr>
          <p:cNvSpPr txBox="1"/>
          <p:nvPr/>
        </p:nvSpPr>
        <p:spPr>
          <a:xfrm>
            <a:off x="5791223" y="2716609"/>
            <a:ext cx="3417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zustandssumme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sum over states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71A9080-3D0D-66BB-C8EB-2FD07CC036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7624" y="2342567"/>
            <a:ext cx="2216217" cy="112844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1DAD14B-A4FD-27EA-1029-CAE8700C95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752" y="3171014"/>
            <a:ext cx="927511" cy="512401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EAF41B6-87C2-A236-17D7-120310479B95}"/>
              </a:ext>
            </a:extLst>
          </p:cNvPr>
          <p:cNvCxnSpPr>
            <a:cxnSpLocks/>
          </p:cNvCxnSpPr>
          <p:nvPr/>
        </p:nvCxnSpPr>
        <p:spPr>
          <a:xfrm flipH="1" flipV="1">
            <a:off x="4914900" y="2901275"/>
            <a:ext cx="226852" cy="375444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4F30F39A-FB6A-DBE5-E494-8F3318B73E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7801" y="5259396"/>
            <a:ext cx="1452051" cy="84201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A0AE821-70B6-D121-E70C-9A3D001121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5342" y="5259396"/>
            <a:ext cx="1220387" cy="73223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6E43669-E896-6566-0C7A-8362B05839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9789" y="5437761"/>
            <a:ext cx="1941830" cy="32992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E910EB6-0A44-EBC5-77BF-0DA917F050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47224" y="5469845"/>
            <a:ext cx="1139626" cy="35556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9447198-62CB-D18F-3381-8C492747A78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80637" y="5385424"/>
            <a:ext cx="364419" cy="67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601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7" grpId="0"/>
      <p:bldP spid="6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3718" y="11641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Partition Function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233952" y="1118439"/>
            <a:ext cx="8686800" cy="83335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Thus the particles in the first excited state are a fraction of the particles in the ground state: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8900" y="2350355"/>
            <a:ext cx="3011349" cy="369332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# particles in first excited state</a:t>
            </a:r>
            <a:endParaRPr lang="en-US" dirty="0"/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2354575" y="2719687"/>
            <a:ext cx="725509" cy="28572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001299" y="3567617"/>
            <a:ext cx="2909771" cy="369332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# particles in the ground state</a:t>
            </a:r>
            <a:endParaRPr lang="en-US" dirty="0"/>
          </a:p>
        </p:txBody>
      </p:sp>
      <p:cxnSp>
        <p:nvCxnSpPr>
          <p:cNvPr id="24" name="Straight Arrow Connector 23"/>
          <p:cNvCxnSpPr/>
          <p:nvPr/>
        </p:nvCxnSpPr>
        <p:spPr>
          <a:xfrm flipV="1">
            <a:off x="4012648" y="3261895"/>
            <a:ext cx="358825" cy="505884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124120" y="3584581"/>
            <a:ext cx="3636573" cy="369332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fraction (</a:t>
            </a:r>
            <a:r>
              <a:rPr lang="en-GB" b="1" dirty="0">
                <a:solidFill>
                  <a:srgbClr val="000000"/>
                </a:solidFill>
                <a:latin typeface="Times New Roman" pitchFamily="18" charset="0"/>
              </a:rPr>
              <a:t>relative Boltzmann factor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)</a:t>
            </a:r>
            <a:endParaRPr lang="en-US" dirty="0"/>
          </a:p>
        </p:txBody>
      </p:sp>
      <p:cxnSp>
        <p:nvCxnSpPr>
          <p:cNvPr id="27" name="Straight Arrow Connector 26"/>
          <p:cNvCxnSpPr/>
          <p:nvPr/>
        </p:nvCxnSpPr>
        <p:spPr>
          <a:xfrm flipH="1" flipV="1">
            <a:off x="5124120" y="3187120"/>
            <a:ext cx="310928" cy="505884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5"/>
          <p:cNvSpPr>
            <a:spLocks noChangeArrowheads="1"/>
          </p:cNvSpPr>
          <p:nvPr/>
        </p:nvSpPr>
        <p:spPr bwMode="auto">
          <a:xfrm>
            <a:off x="233952" y="4238629"/>
            <a:ext cx="8686800" cy="83335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We would find the same thing for the number of particles in the other excited states: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7368" y="6289842"/>
            <a:ext cx="7588210" cy="369332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# of particles in state </a:t>
            </a:r>
            <a:r>
              <a:rPr lang="en-GB" i="1" dirty="0">
                <a:solidFill>
                  <a:srgbClr val="000000"/>
                </a:solidFill>
                <a:latin typeface="Times New Roman" pitchFamily="18" charset="0"/>
              </a:rPr>
              <a:t>j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 is a fraction of the number of particles in the ground state</a:t>
            </a:r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4736407" y="5379728"/>
            <a:ext cx="761747" cy="369332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where</a:t>
            </a:r>
            <a:endParaRPr lang="en-US" dirty="0"/>
          </a:p>
        </p:txBody>
      </p:sp>
      <p:cxnSp>
        <p:nvCxnSpPr>
          <p:cNvPr id="33" name="Straight Arrow Connector 32"/>
          <p:cNvCxnSpPr/>
          <p:nvPr/>
        </p:nvCxnSpPr>
        <p:spPr>
          <a:xfrm flipV="1">
            <a:off x="1605614" y="5935581"/>
            <a:ext cx="0" cy="354262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ight Brace 39"/>
          <p:cNvSpPr/>
          <p:nvPr/>
        </p:nvSpPr>
        <p:spPr>
          <a:xfrm rot="5400000">
            <a:off x="3248562" y="5525134"/>
            <a:ext cx="622299" cy="1108986"/>
          </a:xfrm>
          <a:prstGeom prst="rightBrac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4715141" y="4860578"/>
            <a:ext cx="4122681" cy="369332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state </a:t>
            </a:r>
            <a:r>
              <a:rPr lang="en-GB" i="1" dirty="0">
                <a:solidFill>
                  <a:srgbClr val="000000"/>
                </a:solidFill>
                <a:latin typeface="Times New Roman" pitchFamily="18" charset="0"/>
              </a:rPr>
              <a:t>j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’s energy relative to the ground state</a:t>
            </a:r>
            <a:endParaRPr lang="en-US" dirty="0"/>
          </a:p>
        </p:txBody>
      </p:sp>
      <p:cxnSp>
        <p:nvCxnSpPr>
          <p:cNvPr id="44" name="Straight Arrow Connector 43"/>
          <p:cNvCxnSpPr>
            <a:stCxn id="43" idx="2"/>
          </p:cNvCxnSpPr>
          <p:nvPr/>
        </p:nvCxnSpPr>
        <p:spPr>
          <a:xfrm flipH="1">
            <a:off x="5894137" y="5229910"/>
            <a:ext cx="882345" cy="293927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72715678-7302-B7C7-4F1B-35B67B906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4858" y="2634247"/>
            <a:ext cx="2692400" cy="558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41D716D-3BC9-9222-08EF-1CA83E5D14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9913" y="5254540"/>
            <a:ext cx="2654300" cy="622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B37B69-3DC6-FAD3-5491-E214D7DD0B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6668" y="5401827"/>
            <a:ext cx="2024577" cy="41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527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26" grpId="0"/>
      <p:bldP spid="29" grpId="0"/>
      <p:bldP spid="28" grpId="0"/>
      <p:bldP spid="31" grpId="0"/>
      <p:bldP spid="40" grpId="0" animBg="1"/>
      <p:bldP spid="4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3718" y="11641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Partition Function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233952" y="1118439"/>
            <a:ext cx="8686800" cy="83335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We can write the total particle number, </a:t>
            </a: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N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 “partitioned out” amongst the energy levels in this way:</a:t>
            </a:r>
          </a:p>
        </p:txBody>
      </p:sp>
      <p:sp>
        <p:nvSpPr>
          <p:cNvPr id="3" name="Rectangle 2"/>
          <p:cNvSpPr/>
          <p:nvPr/>
        </p:nvSpPr>
        <p:spPr>
          <a:xfrm>
            <a:off x="6706840" y="2225308"/>
            <a:ext cx="2383729" cy="400110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GB" sz="2000" dirty="0">
                <a:solidFill>
                  <a:srgbClr val="000000"/>
                </a:solidFill>
                <a:latin typeface="Times New Roman" pitchFamily="18" charset="0"/>
              </a:rPr>
              <a:t>Total particle number</a:t>
            </a:r>
            <a:endParaRPr lang="en-US" sz="2000" dirty="0"/>
          </a:p>
        </p:txBody>
      </p:sp>
      <p:sp>
        <p:nvSpPr>
          <p:cNvPr id="32" name="Rectangle 31"/>
          <p:cNvSpPr/>
          <p:nvPr/>
        </p:nvSpPr>
        <p:spPr>
          <a:xfrm>
            <a:off x="7887937" y="3299046"/>
            <a:ext cx="1207382" cy="400110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GB" sz="2000" dirty="0">
                <a:solidFill>
                  <a:srgbClr val="000000"/>
                </a:solidFill>
                <a:latin typeface="Times New Roman" pitchFamily="18" charset="0"/>
              </a:rPr>
              <a:t>Substitute</a:t>
            </a:r>
            <a:endParaRPr lang="en-US" sz="2000" dirty="0"/>
          </a:p>
        </p:txBody>
      </p:sp>
      <p:sp>
        <p:nvSpPr>
          <p:cNvPr id="6" name="Right Brace 5"/>
          <p:cNvSpPr/>
          <p:nvPr/>
        </p:nvSpPr>
        <p:spPr>
          <a:xfrm rot="5400000">
            <a:off x="3799515" y="2757966"/>
            <a:ext cx="481266" cy="4705716"/>
          </a:xfrm>
          <a:prstGeom prst="rightBrac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1337480" y="5271248"/>
            <a:ext cx="5904180" cy="400110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GB" sz="2000" dirty="0">
                <a:solidFill>
                  <a:srgbClr val="000000"/>
                </a:solidFill>
                <a:latin typeface="Times New Roman" pitchFamily="18" charset="0"/>
              </a:rPr>
              <a:t>This is just the partition function (scaled by a constant)!</a:t>
            </a:r>
            <a:endParaRPr lang="en-US" sz="2000" dirty="0"/>
          </a:p>
        </p:txBody>
      </p:sp>
      <p:sp>
        <p:nvSpPr>
          <p:cNvPr id="35" name="Rectangle 34"/>
          <p:cNvSpPr/>
          <p:nvPr/>
        </p:nvSpPr>
        <p:spPr>
          <a:xfrm>
            <a:off x="7652039" y="4407756"/>
            <a:ext cx="1507144" cy="400110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GB" sz="2000" dirty="0">
                <a:solidFill>
                  <a:srgbClr val="000000"/>
                </a:solidFill>
                <a:latin typeface="Times New Roman" pitchFamily="18" charset="0"/>
              </a:rPr>
              <a:t>Factor out </a:t>
            </a:r>
            <a:r>
              <a:rPr lang="en-GB" sz="2000" i="1" dirty="0">
                <a:solidFill>
                  <a:srgbClr val="000000"/>
                </a:solidFill>
                <a:latin typeface="Times New Roman" pitchFamily="18" charset="0"/>
              </a:rPr>
              <a:t>n</a:t>
            </a:r>
            <a:r>
              <a:rPr lang="en-GB" sz="2000" baseline="-25000" dirty="0">
                <a:solidFill>
                  <a:srgbClr val="000000"/>
                </a:solidFill>
                <a:latin typeface="Times New Roman" pitchFamily="18" charset="0"/>
              </a:rPr>
              <a:t>1</a:t>
            </a:r>
            <a:endParaRPr lang="en-US" sz="2000" baseline="-25000" dirty="0"/>
          </a:p>
        </p:txBody>
      </p:sp>
      <p:sp>
        <p:nvSpPr>
          <p:cNvPr id="17" name="Rectangle 16"/>
          <p:cNvSpPr/>
          <p:nvPr/>
        </p:nvSpPr>
        <p:spPr>
          <a:xfrm>
            <a:off x="1687290" y="6168574"/>
            <a:ext cx="753732" cy="400110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GB" sz="2000" dirty="0">
                <a:solidFill>
                  <a:srgbClr val="000000"/>
                </a:solidFill>
                <a:latin typeface="Times New Roman" pitchFamily="18" charset="0"/>
              </a:rPr>
              <a:t>Note:</a:t>
            </a:r>
            <a:endParaRPr lang="en-US" sz="2000" baseline="-25000" dirty="0"/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4211053" y="5743450"/>
            <a:ext cx="574843" cy="380219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A5CAF1A6-0B22-9B28-DE5A-3AC37A3F1E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987" y="2293651"/>
            <a:ext cx="4141280" cy="2859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EF6CC20-F702-489F-F9C5-4784B88B0E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987" y="3243526"/>
            <a:ext cx="6572421" cy="39832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3DA1629-BE75-8B97-E9E4-250032F0C6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987" y="4269040"/>
            <a:ext cx="6138180" cy="60106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D0223A5-9EBC-3705-B6D8-61D45FCDC5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2626" y="4373032"/>
            <a:ext cx="925555" cy="37022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780F692-E780-365C-D6DD-6893D1DA8F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06374" y="6031594"/>
            <a:ext cx="2064893" cy="467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908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2" grpId="0"/>
      <p:bldP spid="6" grpId="0" animBg="1"/>
      <p:bldP spid="34" grpId="0"/>
      <p:bldP spid="35" grpId="0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3718" y="11641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Example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233952" y="1118438"/>
            <a:ext cx="8686800" cy="485724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Consider a 1D box of length 50 </a:t>
            </a:r>
            <a:r>
              <a:rPr lang="en-GB" sz="2400" dirty="0">
                <a:solidFill>
                  <a:srgbClr val="000000"/>
                </a:solidFill>
                <a:latin typeface="Symbol" charset="2"/>
                <a:cs typeface="Symbol" charset="2"/>
              </a:rPr>
              <a:t>m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m at 77K containing 2.3 mols of neutrino particles (</a:t>
            </a:r>
            <a:r>
              <a:rPr lang="en-GB" sz="2400" i="1" dirty="0" err="1">
                <a:solidFill>
                  <a:srgbClr val="000000"/>
                </a:solidFill>
                <a:latin typeface="Times New Roman" pitchFamily="18" charset="0"/>
              </a:rPr>
              <a:t>m</a:t>
            </a:r>
            <a:r>
              <a:rPr lang="en-GB" sz="2400" baseline="-25000" dirty="0" err="1">
                <a:solidFill>
                  <a:srgbClr val="000000"/>
                </a:solidFill>
                <a:latin typeface="Times New Roman" pitchFamily="18" charset="0"/>
              </a:rPr>
              <a:t>neutrino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=1.78×10</a:t>
            </a:r>
            <a:r>
              <a:rPr lang="en-GB" sz="2400" baseline="30000" dirty="0">
                <a:solidFill>
                  <a:srgbClr val="000000"/>
                </a:solidFill>
                <a:latin typeface="Times New Roman" pitchFamily="18" charset="0"/>
              </a:rPr>
              <a:t>-37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 kg). This system is constructed such that only the first 4 “particle in a box” (P.I.A.B.) states are available to be occupied by the particles.</a:t>
            </a:r>
          </a:p>
          <a:p>
            <a:pPr marL="430213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24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563563" indent="-457200">
              <a:spcBef>
                <a:spcPts val="800"/>
              </a:spcBef>
              <a:buFont typeface="+mj-lt"/>
              <a:buAutoNum type="alphaLcPeriod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What is the value of the (scaled) partition function with respect to the ground state </a:t>
            </a: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Z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? What about </a:t>
            </a: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Z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? </a:t>
            </a:r>
          </a:p>
          <a:p>
            <a:pPr marL="563563" indent="-457200">
              <a:spcBef>
                <a:spcPts val="800"/>
              </a:spcBef>
              <a:buFont typeface="+mj-lt"/>
              <a:buAutoNum type="alphaLcPeriod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What are the most likely </a:t>
            </a: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number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 of neutrinos in each P.I.A.B. state (</a:t>
            </a: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i.e.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 the most likely </a:t>
            </a:r>
            <a:r>
              <a:rPr lang="en-GB" sz="2400" dirty="0" err="1">
                <a:solidFill>
                  <a:srgbClr val="000000"/>
                </a:solidFill>
                <a:latin typeface="Times New Roman" pitchFamily="18" charset="0"/>
              </a:rPr>
              <a:t>macrostate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)? </a:t>
            </a: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Mols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 of neutrinos?</a:t>
            </a:r>
          </a:p>
          <a:p>
            <a:pPr marL="563563" indent="-457200">
              <a:spcBef>
                <a:spcPts val="800"/>
              </a:spcBef>
              <a:buFont typeface="+mj-lt"/>
              <a:buAutoNum type="alphaLcPeriod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What is the probability of finding a neutrino in each state?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780631" y="338221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~</a:t>
            </a:r>
          </a:p>
        </p:txBody>
      </p:sp>
    </p:spTree>
    <p:extLst>
      <p:ext uri="{BB962C8B-B14F-4D97-AF65-F5344CB8AC3E}">
        <p14:creationId xmlns:p14="http://schemas.microsoft.com/office/powerpoint/2010/main" val="22033310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3718" y="11641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Example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0D3CD7-C7E9-CD40-4554-761CFB30DC55}"/>
              </a:ext>
            </a:extLst>
          </p:cNvPr>
          <p:cNvSpPr/>
          <p:nvPr/>
        </p:nvSpPr>
        <p:spPr>
          <a:xfrm>
            <a:off x="103718" y="1022800"/>
            <a:ext cx="8936564" cy="5693866"/>
          </a:xfrm>
          <a:prstGeom prst="rect">
            <a:avLst/>
          </a:prstGeom>
          <a:solidFill>
            <a:srgbClr val="000C78"/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library(che302r)</a:t>
            </a:r>
          </a:p>
          <a:p>
            <a:endParaRPr lang="en-US" sz="14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400" dirty="0">
                <a:solidFill>
                  <a:srgbClr val="FFFF00"/>
                </a:solidFill>
                <a:latin typeface="Courier"/>
                <a:cs typeface="Courier"/>
              </a:rPr>
              <a:t># Energy of a particle mass m in box state </a:t>
            </a:r>
            <a:r>
              <a:rPr lang="en-US" sz="1400" dirty="0" err="1">
                <a:solidFill>
                  <a:srgbClr val="FFFF00"/>
                </a:solidFill>
                <a:latin typeface="Courier"/>
                <a:cs typeface="Courier"/>
              </a:rPr>
              <a:t>i</a:t>
            </a:r>
            <a:r>
              <a:rPr lang="en-US" sz="1400" dirty="0">
                <a:solidFill>
                  <a:srgbClr val="FFFF00"/>
                </a:solidFill>
                <a:latin typeface="Courier"/>
                <a:cs typeface="Courier"/>
              </a:rPr>
              <a:t> when the box length is L:</a:t>
            </a:r>
          </a:p>
          <a:p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en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 &lt;- </a:t>
            </a:r>
            <a:r>
              <a:rPr lang="en-US" sz="1400" dirty="0">
                <a:solidFill>
                  <a:schemeClr val="accent6"/>
                </a:solidFill>
                <a:latin typeface="Courier"/>
                <a:cs typeface="Courier"/>
              </a:rPr>
              <a:t>function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i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, m, L) {</a:t>
            </a:r>
          </a:p>
          <a:p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  (hb^2 * pi^2)/(2*m*L^2) * i^2</a:t>
            </a:r>
          </a:p>
          <a:p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}</a:t>
            </a:r>
          </a:p>
          <a:p>
            <a:endParaRPr lang="en-US" sz="14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400" dirty="0">
                <a:solidFill>
                  <a:srgbClr val="FFFF00"/>
                </a:solidFill>
                <a:latin typeface="Courier"/>
                <a:cs typeface="Courier"/>
              </a:rPr>
              <a:t># Boltzmann factor for particle at energy </a:t>
            </a:r>
            <a:r>
              <a:rPr lang="en-US" sz="1400" dirty="0" err="1">
                <a:solidFill>
                  <a:srgbClr val="FFFF00"/>
                </a:solidFill>
                <a:latin typeface="Courier"/>
                <a:cs typeface="Courier"/>
              </a:rPr>
              <a:t>ei</a:t>
            </a:r>
            <a:r>
              <a:rPr lang="en-US" sz="1400" dirty="0">
                <a:solidFill>
                  <a:srgbClr val="FFFF00"/>
                </a:solidFill>
                <a:latin typeface="Courier"/>
                <a:cs typeface="Courier"/>
              </a:rPr>
              <a:t> and temperature Temp:</a:t>
            </a:r>
          </a:p>
          <a:p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bf &lt;- </a:t>
            </a:r>
            <a:r>
              <a:rPr lang="en-US" sz="1400" dirty="0">
                <a:solidFill>
                  <a:schemeClr val="accent6"/>
                </a:solidFill>
                <a:latin typeface="Courier"/>
                <a:cs typeface="Courier"/>
              </a:rPr>
              <a:t>function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ei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, Temp) {</a:t>
            </a:r>
          </a:p>
          <a:p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  exp(-</a:t>
            </a:r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ei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/(kB*Temp))</a:t>
            </a:r>
          </a:p>
          <a:p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}</a:t>
            </a:r>
          </a:p>
          <a:p>
            <a:endParaRPr lang="en-US" sz="14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num.states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 &lt;- 4        </a:t>
            </a:r>
            <a:r>
              <a:rPr lang="en-US" sz="1400" dirty="0">
                <a:solidFill>
                  <a:srgbClr val="FFFF00"/>
                </a:solidFill>
                <a:latin typeface="Courier"/>
                <a:cs typeface="Courier"/>
              </a:rPr>
              <a:t># Number of PIAB states     </a:t>
            </a:r>
          </a:p>
          <a:p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L.box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      &lt;- 50e-6    </a:t>
            </a:r>
            <a:r>
              <a:rPr lang="en-US" sz="1400" dirty="0">
                <a:solidFill>
                  <a:srgbClr val="FFFF00"/>
                </a:solidFill>
                <a:latin typeface="Courier"/>
                <a:cs typeface="Courier"/>
              </a:rPr>
              <a:t># Box length</a:t>
            </a:r>
          </a:p>
          <a:p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m.particle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 &lt;- 1.78e-37 </a:t>
            </a:r>
            <a:r>
              <a:rPr lang="en-US" sz="1400" dirty="0">
                <a:solidFill>
                  <a:srgbClr val="FFFF00"/>
                </a:solidFill>
                <a:latin typeface="Courier"/>
                <a:cs typeface="Courier"/>
              </a:rPr>
              <a:t># Mass of particle(s)</a:t>
            </a:r>
          </a:p>
          <a:p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TT         &lt;- 77       </a:t>
            </a:r>
            <a:r>
              <a:rPr lang="en-US" sz="1400" dirty="0">
                <a:solidFill>
                  <a:srgbClr val="FFFF00"/>
                </a:solidFill>
                <a:latin typeface="Courier"/>
                <a:cs typeface="Courier"/>
              </a:rPr>
              <a:t># Temperature</a:t>
            </a:r>
          </a:p>
          <a:p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N          &lt;- 2.3*N.A  </a:t>
            </a:r>
            <a:r>
              <a:rPr lang="en-US" sz="1400" dirty="0">
                <a:solidFill>
                  <a:srgbClr val="FFFF00"/>
                </a:solidFill>
                <a:latin typeface="Courier"/>
                <a:cs typeface="Courier"/>
              </a:rPr>
              <a:t># Total number of particles</a:t>
            </a:r>
          </a:p>
          <a:p>
            <a:endParaRPr lang="en-US" sz="14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400" dirty="0">
                <a:solidFill>
                  <a:srgbClr val="FFFF00"/>
                </a:solidFill>
                <a:latin typeface="Courier"/>
                <a:cs typeface="Courier"/>
              </a:rPr>
              <a:t># PIAB energies:</a:t>
            </a:r>
          </a:p>
          <a:p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e &lt;- </a:t>
            </a:r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en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(1:num.states, m = </a:t>
            </a:r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m.particle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, L = </a:t>
            </a:r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L.box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e</a:t>
            </a:r>
          </a:p>
          <a:p>
            <a:endParaRPr lang="en-US" sz="14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400" dirty="0">
                <a:solidFill>
                  <a:srgbClr val="FFFF00"/>
                </a:solidFill>
                <a:latin typeface="Courier"/>
                <a:cs typeface="Courier"/>
              </a:rPr>
              <a:t># Compute the scaled partition function, Z-tilde:</a:t>
            </a:r>
          </a:p>
          <a:p>
            <a:r>
              <a:rPr lang="en-US" sz="1400" dirty="0">
                <a:solidFill>
                  <a:srgbClr val="FFFF00"/>
                </a:solidFill>
                <a:latin typeface="Courier"/>
                <a:cs typeface="Courier"/>
              </a:rPr>
              <a:t># PIAB energies relative to PIAB state 1:</a:t>
            </a:r>
          </a:p>
          <a:p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e.tilde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 &lt;- e-e[1]</a:t>
            </a:r>
          </a:p>
          <a:p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e.tilde</a:t>
            </a:r>
            <a:endParaRPr lang="en-US" sz="1400" dirty="0">
              <a:solidFill>
                <a:schemeClr val="bg1"/>
              </a:solidFill>
              <a:latin typeface="Courier"/>
              <a:cs typeface="Courier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04AB37-73AE-0F7B-5B40-7AC9CC7EB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5810" y="5363210"/>
            <a:ext cx="4182110" cy="3415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432F6F-B310-FABB-21FA-02EDDEC20D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3120" y="6252311"/>
            <a:ext cx="4182110" cy="341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509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60D3CD7-C7E9-CD40-4554-761CFB30DC55}"/>
              </a:ext>
            </a:extLst>
          </p:cNvPr>
          <p:cNvSpPr/>
          <p:nvPr/>
        </p:nvSpPr>
        <p:spPr>
          <a:xfrm>
            <a:off x="103718" y="462730"/>
            <a:ext cx="8936564" cy="6340197"/>
          </a:xfrm>
          <a:prstGeom prst="rect">
            <a:avLst/>
          </a:prstGeom>
          <a:solidFill>
            <a:srgbClr val="000C78"/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FF00"/>
                </a:solidFill>
                <a:latin typeface="Courier"/>
                <a:cs typeface="Courier"/>
              </a:rPr>
              <a:t># Boltzmann factors relative to PIAB state 1:</a:t>
            </a:r>
          </a:p>
          <a:p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bfs.tilde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 &lt;- bf(</a:t>
            </a:r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e.tilde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, Temp = TT)</a:t>
            </a:r>
          </a:p>
          <a:p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bfs.tilde</a:t>
            </a:r>
            <a:endParaRPr lang="en-US" sz="1400" dirty="0">
              <a:solidFill>
                <a:schemeClr val="bg1"/>
              </a:solidFill>
              <a:latin typeface="Courier"/>
              <a:cs typeface="Courier"/>
            </a:endParaRPr>
          </a:p>
          <a:p>
            <a:endParaRPr lang="en-US" sz="14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400" dirty="0">
                <a:solidFill>
                  <a:srgbClr val="FFFF00"/>
                </a:solidFill>
                <a:latin typeface="Courier"/>
                <a:cs typeface="Courier"/>
              </a:rPr>
              <a:t># a. Sum to get Z-tilde:</a:t>
            </a:r>
          </a:p>
          <a:p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Z.tilde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 &lt;- sum(</a:t>
            </a:r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bfs.tilde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Z.tilde</a:t>
            </a:r>
            <a:endParaRPr lang="en-US" sz="1400" dirty="0">
              <a:solidFill>
                <a:schemeClr val="bg1"/>
              </a:solidFill>
              <a:latin typeface="Courier"/>
              <a:cs typeface="Courier"/>
            </a:endParaRPr>
          </a:p>
          <a:p>
            <a:endParaRPr lang="en-US" sz="14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400" dirty="0">
                <a:solidFill>
                  <a:srgbClr val="FFFF00"/>
                </a:solidFill>
                <a:latin typeface="Courier"/>
                <a:cs typeface="Courier"/>
              </a:rPr>
              <a:t># a. Compute partition function, Z:</a:t>
            </a:r>
          </a:p>
          <a:p>
            <a:r>
              <a:rPr lang="en-US" sz="1400" dirty="0">
                <a:solidFill>
                  <a:srgbClr val="FFFF00"/>
                </a:solidFill>
                <a:latin typeface="Courier"/>
                <a:cs typeface="Courier"/>
              </a:rPr>
              <a:t># Boltzmann factors for each PIAB state:</a:t>
            </a:r>
          </a:p>
          <a:p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bfs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 &lt;- bf(e, Temp = TT)</a:t>
            </a:r>
          </a:p>
          <a:p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bfs</a:t>
            </a:r>
            <a:endParaRPr lang="en-US" sz="1400" dirty="0">
              <a:solidFill>
                <a:schemeClr val="bg1"/>
              </a:solidFill>
              <a:latin typeface="Courier"/>
              <a:cs typeface="Courier"/>
            </a:endParaRPr>
          </a:p>
          <a:p>
            <a:endParaRPr lang="en-US" sz="14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400" dirty="0">
                <a:solidFill>
                  <a:srgbClr val="FFFF00"/>
                </a:solidFill>
                <a:latin typeface="Courier"/>
                <a:cs typeface="Courier"/>
              </a:rPr>
              <a:t># a. Sum of the Boltzmann factors is the partition function</a:t>
            </a:r>
          </a:p>
          <a:p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Z &lt;- sum(</a:t>
            </a:r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bfs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Z</a:t>
            </a:r>
          </a:p>
          <a:p>
            <a:endParaRPr lang="en-US" sz="14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400" dirty="0">
                <a:solidFill>
                  <a:srgbClr val="FFFF00"/>
                </a:solidFill>
                <a:latin typeface="Courier"/>
                <a:cs typeface="Courier"/>
              </a:rPr>
              <a:t># b. Most likely number of particles in each P.I.A.B. state (most likely</a:t>
            </a:r>
          </a:p>
          <a:p>
            <a:r>
              <a:rPr lang="en-US" sz="1400" dirty="0">
                <a:solidFill>
                  <a:srgbClr val="FFFF00"/>
                </a:solidFill>
                <a:latin typeface="Courier"/>
                <a:cs typeface="Courier"/>
              </a:rPr>
              <a:t># </a:t>
            </a:r>
            <a:r>
              <a:rPr lang="en-US" sz="1400" dirty="0" err="1">
                <a:solidFill>
                  <a:srgbClr val="FFFF00"/>
                </a:solidFill>
                <a:latin typeface="Courier"/>
                <a:cs typeface="Courier"/>
              </a:rPr>
              <a:t>macrostate</a:t>
            </a:r>
            <a:r>
              <a:rPr lang="en-US" sz="1400" dirty="0">
                <a:solidFill>
                  <a:srgbClr val="FFFF00"/>
                </a:solidFill>
                <a:latin typeface="Courier"/>
                <a:cs typeface="Courier"/>
              </a:rPr>
              <a:t>):</a:t>
            </a:r>
          </a:p>
          <a:p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n &lt;- N/Z * </a:t>
            </a:r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bfs</a:t>
            </a:r>
            <a:endParaRPr lang="en-US" sz="14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n</a:t>
            </a:r>
          </a:p>
          <a:p>
            <a:endParaRPr lang="en-US" sz="14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400" dirty="0">
                <a:solidFill>
                  <a:srgbClr val="FFFF00"/>
                </a:solidFill>
                <a:latin typeface="Courier"/>
                <a:cs typeface="Courier"/>
              </a:rPr>
              <a:t># c. Most likely number of mols of particles in each P.I.A.B. state:</a:t>
            </a:r>
          </a:p>
          <a:p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n/N.A</a:t>
            </a:r>
          </a:p>
          <a:p>
            <a:endParaRPr lang="en-US" sz="14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400" dirty="0">
                <a:solidFill>
                  <a:srgbClr val="FFFF00"/>
                </a:solidFill>
                <a:latin typeface="Courier"/>
                <a:cs typeface="Courier"/>
              </a:rPr>
              <a:t># d. Probability of finding a particle in each state:</a:t>
            </a:r>
          </a:p>
          <a:p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n/N</a:t>
            </a:r>
          </a:p>
          <a:p>
            <a:endParaRPr lang="en-US" sz="14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sum(n/N) </a:t>
            </a:r>
            <a:r>
              <a:rPr lang="en-US" sz="1400" dirty="0">
                <a:solidFill>
                  <a:srgbClr val="FFFF00"/>
                </a:solidFill>
                <a:latin typeface="Courier"/>
                <a:cs typeface="Courier"/>
              </a:rPr>
              <a:t># Check: Sum pf probabilities == 1??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09A524-9978-FD53-F3B8-A15F35D96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6400" y="1625698"/>
            <a:ext cx="1397000" cy="4405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4F2DEA-A9D7-E036-36D7-AAB5A2CADE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0550" y="3593176"/>
            <a:ext cx="1397000" cy="4405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9E8F9B-011D-93E6-836E-5B7D8E0CE3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0550" y="4591521"/>
            <a:ext cx="4902200" cy="4003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638D01-3975-CAAF-B303-DA775848500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20419" b="-488"/>
          <a:stretch/>
        </p:blipFill>
        <p:spPr>
          <a:xfrm>
            <a:off x="1908175" y="5428695"/>
            <a:ext cx="3473450" cy="3582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B7778B-0BC7-F017-A8DD-ABEF04DB31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19605" y="6108851"/>
            <a:ext cx="3726815" cy="35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982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3718" y="11641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Recap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32A0D6F-98CA-384B-88D8-92A80A313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8600" y="3560985"/>
            <a:ext cx="3606800" cy="939800"/>
          </a:xfrm>
          <a:prstGeom prst="rect">
            <a:avLst/>
          </a:prstGeom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66554B74-16AE-DFC0-A8C5-B11000C59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043302"/>
            <a:ext cx="8686800" cy="151701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600" dirty="0">
                <a:solidFill>
                  <a:srgbClr val="000000"/>
                </a:solidFill>
                <a:latin typeface="Times New Roman" pitchFamily="18" charset="0"/>
              </a:rPr>
              <a:t>The Boltzmann distribution tells us the probability of finding a system to be in a state characterized by the set of </a:t>
            </a:r>
            <a:r>
              <a:rPr lang="en-GB" sz="2600" b="1" dirty="0">
                <a:solidFill>
                  <a:srgbClr val="000000"/>
                </a:solidFill>
                <a:latin typeface="Times New Roman" pitchFamily="18" charset="0"/>
              </a:rPr>
              <a:t>quantum numbers</a:t>
            </a:r>
            <a:r>
              <a:rPr lang="en-GB" sz="260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GB" sz="2600" b="1" i="1" dirty="0">
                <a:solidFill>
                  <a:srgbClr val="000000"/>
                </a:solidFill>
                <a:latin typeface="Symbol" pitchFamily="2" charset="2"/>
              </a:rPr>
              <a:t>k </a:t>
            </a:r>
            <a:r>
              <a:rPr lang="en-GB" sz="2600" dirty="0">
                <a:solidFill>
                  <a:srgbClr val="000000"/>
                </a:solidFill>
                <a:latin typeface="Times New Roman" pitchFamily="18" charset="0"/>
              </a:rPr>
              <a:t>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D251DD-31A9-36AB-16A0-FA055283F5F0}"/>
              </a:ext>
            </a:extLst>
          </p:cNvPr>
          <p:cNvSpPr/>
          <p:nvPr/>
        </p:nvSpPr>
        <p:spPr>
          <a:xfrm>
            <a:off x="103718" y="4697314"/>
            <a:ext cx="32811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Probability of observing system in a state with quantum numbers </a:t>
            </a:r>
            <a:r>
              <a:rPr lang="en-GB" sz="2400" dirty="0">
                <a:solidFill>
                  <a:srgbClr val="000000"/>
                </a:solidFill>
                <a:latin typeface="Symbol" pitchFamily="2" charset="2"/>
              </a:rPr>
              <a:t>k</a:t>
            </a:r>
            <a:endParaRPr lang="en-US" sz="2400" dirty="0">
              <a:latin typeface="Symbol" pitchFamily="2" charset="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30D9D9-BBEC-3DDA-77B4-E3F84C4B3674}"/>
              </a:ext>
            </a:extLst>
          </p:cNvPr>
          <p:cNvSpPr/>
          <p:nvPr/>
        </p:nvSpPr>
        <p:spPr>
          <a:xfrm>
            <a:off x="4025265" y="2182167"/>
            <a:ext cx="29616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Energy as a function of quantum numbers </a:t>
            </a:r>
            <a:r>
              <a:rPr lang="en-GB" sz="2400" dirty="0">
                <a:solidFill>
                  <a:srgbClr val="000000"/>
                </a:solidFill>
                <a:latin typeface="Symbol" pitchFamily="2" charset="2"/>
              </a:rPr>
              <a:t>k</a:t>
            </a:r>
            <a:endParaRPr lang="en-US" sz="2400" i="1" dirty="0">
              <a:latin typeface="Symbol" pitchFamily="2" charset="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0BE1DD-0E02-40B0-64A8-25935C90DBFB}"/>
              </a:ext>
            </a:extLst>
          </p:cNvPr>
          <p:cNvSpPr/>
          <p:nvPr/>
        </p:nvSpPr>
        <p:spPr>
          <a:xfrm>
            <a:off x="6428334" y="4302746"/>
            <a:ext cx="207905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Temperature of the system</a:t>
            </a:r>
            <a:endParaRPr lang="en-US" sz="2400" i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6ACB8E-F83C-4C3D-23B7-F53721AD6150}"/>
              </a:ext>
            </a:extLst>
          </p:cNvPr>
          <p:cNvSpPr/>
          <p:nvPr/>
        </p:nvSpPr>
        <p:spPr>
          <a:xfrm>
            <a:off x="3749956" y="5462294"/>
            <a:ext cx="44912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000000"/>
                </a:solidFill>
                <a:latin typeface="Times New Roman" pitchFamily="18" charset="0"/>
              </a:rPr>
              <a:t>Partition function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 (normalization constant). This can be a big headache to find….</a:t>
            </a:r>
            <a:endParaRPr lang="en-US" sz="2400" i="1" baseline="-250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66ABA12-1D9A-5E3B-229C-6F817C125AF7}"/>
              </a:ext>
            </a:extLst>
          </p:cNvPr>
          <p:cNvCxnSpPr>
            <a:cxnSpLocks/>
          </p:cNvCxnSpPr>
          <p:nvPr/>
        </p:nvCxnSpPr>
        <p:spPr>
          <a:xfrm flipV="1">
            <a:off x="1534178" y="4150059"/>
            <a:ext cx="1105875" cy="533464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687C0A9-D984-3EFB-D800-C0C5BAA23695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5506079" y="3013164"/>
            <a:ext cx="449536" cy="530852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D35EB76-90BB-78F5-F6BF-5FAF93200509}"/>
              </a:ext>
            </a:extLst>
          </p:cNvPr>
          <p:cNvCxnSpPr/>
          <p:nvPr/>
        </p:nvCxnSpPr>
        <p:spPr>
          <a:xfrm flipH="1" flipV="1">
            <a:off x="6329930" y="4055843"/>
            <a:ext cx="1029369" cy="360948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6AE3E81-87E0-3C46-32F8-248A6244DE42}"/>
              </a:ext>
            </a:extLst>
          </p:cNvPr>
          <p:cNvCxnSpPr>
            <a:cxnSpLocks/>
          </p:cNvCxnSpPr>
          <p:nvPr/>
        </p:nvCxnSpPr>
        <p:spPr>
          <a:xfrm flipV="1">
            <a:off x="4747795" y="4637221"/>
            <a:ext cx="0" cy="825073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3920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3718" y="11641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Boltzmann distribution</a:t>
            </a:r>
          </a:p>
        </p:txBody>
      </p:sp>
      <p:sp>
        <p:nvSpPr>
          <p:cNvPr id="42" name="Rectangle 5"/>
          <p:cNvSpPr>
            <a:spLocks noChangeArrowheads="1"/>
          </p:cNvSpPr>
          <p:nvPr/>
        </p:nvSpPr>
        <p:spPr bwMode="auto">
          <a:xfrm>
            <a:off x="228600" y="1043302"/>
            <a:ext cx="8686800" cy="93551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600" dirty="0">
                <a:solidFill>
                  <a:srgbClr val="000000"/>
                </a:solidFill>
                <a:latin typeface="Times New Roman" pitchFamily="18" charset="0"/>
              </a:rPr>
              <a:t>This form of the Boltzmann distribution isn’t too useful to us because: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228600" y="1830172"/>
            <a:ext cx="8686800" cy="197933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We don’t really know </a:t>
            </a: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Z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 (yet)</a:t>
            </a: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For “normal” temperatures (e.g. room temp), the total number of  wave functions reachable, enumerated by </a:t>
            </a:r>
            <a:r>
              <a:rPr lang="en-GB" sz="2400" b="1" dirty="0">
                <a:solidFill>
                  <a:srgbClr val="000000"/>
                </a:solidFill>
                <a:latin typeface="Symbol" pitchFamily="2" charset="2"/>
              </a:rPr>
              <a:t>k</a:t>
            </a:r>
            <a:r>
              <a:rPr lang="en-GB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(the quantum numbers),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 is HUGE and their corresponding </a:t>
            </a: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E</a:t>
            </a:r>
            <a:r>
              <a:rPr lang="en-GB" sz="2400" b="1" baseline="-25000" dirty="0">
                <a:solidFill>
                  <a:srgbClr val="000000"/>
                </a:solidFill>
                <a:latin typeface="Symbol" pitchFamily="2" charset="2"/>
              </a:rPr>
              <a:t>k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 are super close together (essentially “un-quantized”)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28600" y="3859700"/>
            <a:ext cx="8686800" cy="5016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600" dirty="0">
                <a:solidFill>
                  <a:srgbClr val="000000"/>
                </a:solidFill>
                <a:latin typeface="Times New Roman" pitchFamily="18" charset="0"/>
              </a:rPr>
              <a:t>So we’ll use these forms of Boltzmann’s distribution: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3E95B2-C984-F053-C01A-540D9088C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9964" y="5440277"/>
            <a:ext cx="3330372" cy="7488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F65F5C-3F89-DC8A-4691-5876A5B352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664" y="5440277"/>
            <a:ext cx="3507730" cy="74884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FB0022B-C73D-4DE9-E6B6-8DE6119E52A8}"/>
              </a:ext>
            </a:extLst>
          </p:cNvPr>
          <p:cNvSpPr txBox="1"/>
          <p:nvPr/>
        </p:nvSpPr>
        <p:spPr>
          <a:xfrm>
            <a:off x="317279" y="6331901"/>
            <a:ext cx="4000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Boltzmann for discrete state energies </a:t>
            </a:r>
            <a:r>
              <a:rPr lang="en-GB" i="1" dirty="0">
                <a:solidFill>
                  <a:srgbClr val="000000"/>
                </a:solidFill>
                <a:latin typeface="Times New Roman" pitchFamily="18" charset="0"/>
              </a:rPr>
              <a:t>E</a:t>
            </a:r>
            <a:r>
              <a:rPr lang="en-GB" baseline="-25000" dirty="0">
                <a:solidFill>
                  <a:srgbClr val="000000"/>
                </a:solidFill>
                <a:latin typeface="Symbol" pitchFamily="2" charset="2"/>
              </a:rPr>
              <a:t>k</a:t>
            </a:r>
            <a:endParaRPr lang="en-US" baseline="-25000" dirty="0">
              <a:latin typeface="Symbol" pitchFamily="2" charset="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DBC40D-D522-AEB5-F8EA-82AE62D8830F}"/>
              </a:ext>
            </a:extLst>
          </p:cNvPr>
          <p:cNvSpPr txBox="1"/>
          <p:nvPr/>
        </p:nvSpPr>
        <p:spPr>
          <a:xfrm>
            <a:off x="4914900" y="6193402"/>
            <a:ext cx="4000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Boltzmann for state energies </a:t>
            </a:r>
            <a:r>
              <a:rPr lang="en-GB" i="1" dirty="0">
                <a:solidFill>
                  <a:srgbClr val="000000"/>
                </a:solidFill>
                <a:latin typeface="Times New Roman" pitchFamily="18" charset="0"/>
              </a:rPr>
              <a:t>E</a:t>
            </a:r>
            <a:r>
              <a:rPr lang="en-GB" baseline="-25000" dirty="0">
                <a:solidFill>
                  <a:srgbClr val="000000"/>
                </a:solidFill>
                <a:latin typeface="Symbol" pitchFamily="2" charset="2"/>
              </a:rPr>
              <a:t>k</a:t>
            </a: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 close together that we can treat as if continuous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042EDC7-B996-E31B-32EA-5B24F76E9E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5969" y="4368621"/>
            <a:ext cx="908050" cy="50165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35EE8B1A-26FF-EB78-F564-710CE080023B}"/>
              </a:ext>
            </a:extLst>
          </p:cNvPr>
          <p:cNvSpPr/>
          <p:nvPr/>
        </p:nvSpPr>
        <p:spPr>
          <a:xfrm>
            <a:off x="2843745" y="4285496"/>
            <a:ext cx="195219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rgbClr val="000000"/>
                </a:solidFill>
                <a:latin typeface="Times New Roman" pitchFamily="18" charset="0"/>
              </a:rPr>
              <a:t>degeneracy</a:t>
            </a:r>
            <a:r>
              <a:rPr lang="en-GB" sz="1600" dirty="0">
                <a:solidFill>
                  <a:srgbClr val="000000"/>
                </a:solidFill>
                <a:latin typeface="Times New Roman" pitchFamily="18" charset="0"/>
              </a:rPr>
              <a:t> for state</a:t>
            </a:r>
            <a:r>
              <a:rPr lang="en-GB" sz="1600" baseline="30000" dirty="0">
                <a:solidFill>
                  <a:srgbClr val="000000"/>
                </a:solidFill>
                <a:latin typeface="Times New Roman" pitchFamily="18" charset="0"/>
              </a:rPr>
              <a:t>*</a:t>
            </a:r>
            <a:r>
              <a:rPr lang="en-GB" sz="1600" dirty="0">
                <a:solidFill>
                  <a:srgbClr val="000000"/>
                </a:solidFill>
                <a:latin typeface="Times New Roman" pitchFamily="18" charset="0"/>
              </a:rPr>
              <a:t> with energy </a:t>
            </a:r>
            <a:r>
              <a:rPr lang="en-GB" sz="1600" i="1" dirty="0">
                <a:solidFill>
                  <a:srgbClr val="000000"/>
                </a:solidFill>
                <a:latin typeface="Times New Roman" pitchFamily="18" charset="0"/>
              </a:rPr>
              <a:t>E</a:t>
            </a:r>
            <a:r>
              <a:rPr lang="en-GB" sz="1600" b="1" baseline="-25000" dirty="0">
                <a:solidFill>
                  <a:srgbClr val="000000"/>
                </a:solidFill>
                <a:latin typeface="Symbol" pitchFamily="2" charset="2"/>
              </a:rPr>
              <a:t>k</a:t>
            </a:r>
            <a:endParaRPr lang="en-US" sz="1600" b="1" i="1" baseline="-25000" dirty="0">
              <a:latin typeface="Symbol" pitchFamily="2" charset="2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7062B9-EA78-32F8-14B5-3E4887683EE2}"/>
              </a:ext>
            </a:extLst>
          </p:cNvPr>
          <p:cNvSpPr/>
          <p:nvPr/>
        </p:nvSpPr>
        <p:spPr>
          <a:xfrm>
            <a:off x="103718" y="4668403"/>
            <a:ext cx="18874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rgbClr val="000000"/>
                </a:solidFill>
                <a:latin typeface="Times New Roman" pitchFamily="18" charset="0"/>
              </a:rPr>
              <a:t>probability</a:t>
            </a:r>
            <a:r>
              <a:rPr lang="en-GB" sz="1600" dirty="0">
                <a:solidFill>
                  <a:srgbClr val="000000"/>
                </a:solidFill>
                <a:latin typeface="Times New Roman" pitchFamily="18" charset="0"/>
              </a:rPr>
              <a:t> for state having energy </a:t>
            </a:r>
            <a:r>
              <a:rPr lang="en-GB" sz="1600" i="1" dirty="0">
                <a:solidFill>
                  <a:srgbClr val="000000"/>
                </a:solidFill>
                <a:latin typeface="Times New Roman" pitchFamily="18" charset="0"/>
              </a:rPr>
              <a:t>E</a:t>
            </a:r>
            <a:r>
              <a:rPr lang="en-GB" sz="1600" b="1" baseline="-25000" dirty="0">
                <a:solidFill>
                  <a:srgbClr val="000000"/>
                </a:solidFill>
                <a:latin typeface="Symbol" pitchFamily="2" charset="2"/>
              </a:rPr>
              <a:t>k</a:t>
            </a:r>
            <a:endParaRPr lang="en-US" sz="1600" b="1" i="1" baseline="-25000" dirty="0">
              <a:latin typeface="Symbol" pitchFamily="2" charset="2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CB93515-750C-198D-F779-439C292C47B7}"/>
              </a:ext>
            </a:extLst>
          </p:cNvPr>
          <p:cNvSpPr/>
          <p:nvPr/>
        </p:nvSpPr>
        <p:spPr>
          <a:xfrm>
            <a:off x="6824558" y="4493549"/>
            <a:ext cx="182795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rgbClr val="000000"/>
                </a:solidFill>
                <a:latin typeface="Times New Roman" pitchFamily="18" charset="0"/>
              </a:rPr>
              <a:t>likelihood</a:t>
            </a:r>
            <a:r>
              <a:rPr lang="en-GB" sz="1600" dirty="0">
                <a:solidFill>
                  <a:srgbClr val="000000"/>
                </a:solidFill>
                <a:latin typeface="Times New Roman" pitchFamily="18" charset="0"/>
              </a:rPr>
              <a:t> for state having energy </a:t>
            </a:r>
            <a:r>
              <a:rPr lang="en-GB" sz="1600" i="1" dirty="0">
                <a:solidFill>
                  <a:srgbClr val="000000"/>
                </a:solidFill>
                <a:latin typeface="Times New Roman" pitchFamily="18" charset="0"/>
              </a:rPr>
              <a:t>E</a:t>
            </a:r>
            <a:r>
              <a:rPr lang="en-GB" sz="1600" b="1" baseline="-25000" dirty="0">
                <a:solidFill>
                  <a:srgbClr val="000000"/>
                </a:solidFill>
                <a:latin typeface="Symbol" pitchFamily="2" charset="2"/>
              </a:rPr>
              <a:t>k</a:t>
            </a:r>
            <a:endParaRPr lang="en-US" sz="1600" b="1" i="1" baseline="-25000" dirty="0">
              <a:latin typeface="Symbol" pitchFamily="2" charset="2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64B9B6B-A21D-0B4F-6A30-1E628CD35A0F}"/>
              </a:ext>
            </a:extLst>
          </p:cNvPr>
          <p:cNvCxnSpPr>
            <a:cxnSpLocks/>
          </p:cNvCxnSpPr>
          <p:nvPr/>
        </p:nvCxnSpPr>
        <p:spPr>
          <a:xfrm>
            <a:off x="4183380" y="4856639"/>
            <a:ext cx="2503159" cy="696153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EF12DB4-8F55-7E20-DC67-0BCDF3F13C5F}"/>
              </a:ext>
            </a:extLst>
          </p:cNvPr>
          <p:cNvCxnSpPr>
            <a:cxnSpLocks/>
          </p:cNvCxnSpPr>
          <p:nvPr/>
        </p:nvCxnSpPr>
        <p:spPr>
          <a:xfrm flipH="1">
            <a:off x="3097530" y="4847555"/>
            <a:ext cx="1085850" cy="727217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A05562B-AB5E-401F-5640-828CF076CE62}"/>
              </a:ext>
            </a:extLst>
          </p:cNvPr>
          <p:cNvCxnSpPr>
            <a:cxnSpLocks/>
          </p:cNvCxnSpPr>
          <p:nvPr/>
        </p:nvCxnSpPr>
        <p:spPr>
          <a:xfrm>
            <a:off x="809314" y="5235501"/>
            <a:ext cx="0" cy="391899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D067215-47C0-1D96-8AEE-FE7B74AAD7B7}"/>
              </a:ext>
            </a:extLst>
          </p:cNvPr>
          <p:cNvCxnSpPr>
            <a:cxnSpLocks/>
          </p:cNvCxnSpPr>
          <p:nvPr/>
        </p:nvCxnSpPr>
        <p:spPr>
          <a:xfrm flipH="1">
            <a:off x="6119811" y="4897002"/>
            <a:ext cx="739037" cy="744552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7429DDD-5356-D4D6-5800-9BE0CCC6D093}"/>
              </a:ext>
            </a:extLst>
          </p:cNvPr>
          <p:cNvCxnSpPr>
            <a:cxnSpLocks/>
          </p:cNvCxnSpPr>
          <p:nvPr/>
        </p:nvCxnSpPr>
        <p:spPr>
          <a:xfrm flipH="1">
            <a:off x="3683994" y="4782998"/>
            <a:ext cx="1351975" cy="803902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858350D-DD3F-2396-7F89-9B3BE6263BCF}"/>
              </a:ext>
            </a:extLst>
          </p:cNvPr>
          <p:cNvCxnSpPr>
            <a:cxnSpLocks/>
          </p:cNvCxnSpPr>
          <p:nvPr/>
        </p:nvCxnSpPr>
        <p:spPr>
          <a:xfrm>
            <a:off x="5950798" y="4812132"/>
            <a:ext cx="2121083" cy="836281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E776295-3010-6441-7E08-68F31FE46E3B}"/>
              </a:ext>
            </a:extLst>
          </p:cNvPr>
          <p:cNvSpPr txBox="1"/>
          <p:nvPr/>
        </p:nvSpPr>
        <p:spPr>
          <a:xfrm>
            <a:off x="-23469" y="6624855"/>
            <a:ext cx="24032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*Also called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density of states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47928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5" grpId="0"/>
      <p:bldP spid="17" grpId="0"/>
      <p:bldP spid="18" grpId="0"/>
      <p:bldP spid="1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A211BF77-8ED7-5A26-4A59-CA2AC74278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3925B85-CED0-F415-C53F-8D809605A8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18" y="11641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Zustandssumme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(sum over states)</a:t>
            </a:r>
            <a:endParaRPr lang="en-GB" sz="4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76A693-EC4C-CC9C-9459-4E4D23AC5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62879"/>
            <a:ext cx="8686800" cy="50246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In theory, we can find </a:t>
            </a: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Z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 with: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A73EAC-BE03-06AD-1D3D-952B3B28D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088" y="1870648"/>
            <a:ext cx="2720565" cy="6587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5BB52F-2892-7AF6-C114-300878A8D14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192"/>
          <a:stretch>
            <a:fillRect/>
          </a:stretch>
        </p:blipFill>
        <p:spPr>
          <a:xfrm>
            <a:off x="765388" y="4443577"/>
            <a:ext cx="2780452" cy="7100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56105AB-DC7D-6DD9-F046-0119CDBB8A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456" y="3062904"/>
            <a:ext cx="3558979" cy="7100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5D0478-E483-1BA0-AA4D-6E02DD4307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088" y="5721773"/>
            <a:ext cx="2780452" cy="710085"/>
          </a:xfrm>
          <a:prstGeom prst="rect">
            <a:avLst/>
          </a:prstGeom>
        </p:spPr>
      </p:pic>
      <p:sp>
        <p:nvSpPr>
          <p:cNvPr id="12" name="Rectangle 5">
            <a:extLst>
              <a:ext uri="{FF2B5EF4-FFF2-40B4-BE49-F238E27FC236}">
                <a16:creationId xmlns:a16="http://schemas.microsoft.com/office/drawing/2014/main" id="{97936435-3ECA-4653-511F-21DB559F0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6943" y="1870648"/>
            <a:ext cx="4299857" cy="65875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106363">
              <a:spcBef>
                <a:spcPts val="800"/>
              </a:spcBef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Usually impossible to use this directly because sum is too long</a:t>
            </a: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43627144-C02E-BD98-90DA-EAD0887CF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6940" y="3762103"/>
            <a:ext cx="4299857" cy="123280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106363">
              <a:spcBef>
                <a:spcPts val="800"/>
              </a:spcBef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If we can get a </a:t>
            </a:r>
            <a:r>
              <a:rPr lang="en-GB" dirty="0" err="1">
                <a:solidFill>
                  <a:srgbClr val="000000"/>
                </a:solidFill>
                <a:latin typeface="Times New Roman" pitchFamily="18" charset="0"/>
              </a:rPr>
              <a:t>d.o.s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.(</a:t>
            </a:r>
            <a:r>
              <a:rPr lang="en-GB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GB" b="1" dirty="0">
                <a:solidFill>
                  <a:srgbClr val="000000"/>
                </a:solidFill>
                <a:latin typeface="Symbol" pitchFamily="2" charset="2"/>
              </a:rPr>
              <a:t>k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)), and there are so many states that the </a:t>
            </a:r>
            <a:r>
              <a:rPr lang="en-GB" i="1" dirty="0">
                <a:solidFill>
                  <a:srgbClr val="000000"/>
                </a:solidFill>
                <a:latin typeface="Times New Roman" pitchFamily="18" charset="0"/>
              </a:rPr>
              <a:t>E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’s are effectively continuous, we can replace the sum with an integral  </a:t>
            </a: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B09568C9-A59D-2D29-A5E5-96A1DF215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6941" y="5721773"/>
            <a:ext cx="4299857" cy="90520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106363">
              <a:spcBef>
                <a:spcPts val="800"/>
              </a:spcBef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Sometimes we can change variables from many-dimensional </a:t>
            </a:r>
            <a:r>
              <a:rPr lang="en-GB" b="1" dirty="0">
                <a:solidFill>
                  <a:srgbClr val="000000"/>
                </a:solidFill>
                <a:latin typeface="Symbol" pitchFamily="2" charset="2"/>
              </a:rPr>
              <a:t>k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 to one-dimensional </a:t>
            </a:r>
            <a:r>
              <a:rPr lang="en-GB" i="1" dirty="0">
                <a:solidFill>
                  <a:srgbClr val="000000"/>
                </a:solidFill>
                <a:latin typeface="Times New Roman" pitchFamily="18" charset="0"/>
              </a:rPr>
              <a:t>E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 to simplify the integral</a:t>
            </a: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CBFFC545-5834-A1FF-3963-F5BE54F5F88F}"/>
              </a:ext>
            </a:extLst>
          </p:cNvPr>
          <p:cNvSpPr/>
          <p:nvPr/>
        </p:nvSpPr>
        <p:spPr>
          <a:xfrm>
            <a:off x="3962071" y="3102499"/>
            <a:ext cx="468086" cy="2175696"/>
          </a:xfrm>
          <a:prstGeom prst="rightBrac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F8B098-0608-8ED4-F550-A5CD6B9B5697}"/>
              </a:ext>
            </a:extLst>
          </p:cNvPr>
          <p:cNvCxnSpPr/>
          <p:nvPr/>
        </p:nvCxnSpPr>
        <p:spPr>
          <a:xfrm flipH="1">
            <a:off x="3363686" y="2013857"/>
            <a:ext cx="1023254" cy="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EB88020-8E65-C4DD-D4E9-0412C50A7CE8}"/>
              </a:ext>
            </a:extLst>
          </p:cNvPr>
          <p:cNvCxnSpPr/>
          <p:nvPr/>
        </p:nvCxnSpPr>
        <p:spPr>
          <a:xfrm flipH="1">
            <a:off x="3352802" y="6063345"/>
            <a:ext cx="1023254" cy="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8002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/>
      <p:bldP spid="1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353482" y="1113778"/>
            <a:ext cx="8686800" cy="93551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For a big box and lots of particles, the </a:t>
            </a: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E</a:t>
            </a:r>
            <a:r>
              <a:rPr lang="en-GB" sz="2400" b="1" baseline="-25000" dirty="0">
                <a:solidFill>
                  <a:srgbClr val="000000"/>
                </a:solidFill>
                <a:latin typeface="Symbol" pitchFamily="2" charset="2"/>
              </a:rPr>
              <a:t>k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 are very close together so we can get away with:</a:t>
            </a: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890926" y="3729212"/>
            <a:ext cx="8002702" cy="71264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200" dirty="0">
                <a:solidFill>
                  <a:srgbClr val="000000"/>
                </a:solidFill>
                <a:latin typeface="Times New Roman" pitchFamily="18" charset="0"/>
              </a:rPr>
              <a:t>In fact if we can figure out </a:t>
            </a:r>
            <a:r>
              <a:rPr lang="en-GB" sz="2200" i="1" dirty="0">
                <a:solidFill>
                  <a:srgbClr val="000000"/>
                </a:solidFill>
                <a:latin typeface="Times New Roman" pitchFamily="18" charset="0"/>
              </a:rPr>
              <a:t>g</a:t>
            </a:r>
            <a:r>
              <a:rPr lang="en-GB" sz="2200" dirty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GB" sz="2200" b="1" dirty="0">
                <a:solidFill>
                  <a:srgbClr val="000000"/>
                </a:solidFill>
                <a:latin typeface="Times New Roman" pitchFamily="18" charset="0"/>
              </a:rPr>
              <a:t>n</a:t>
            </a:r>
            <a:r>
              <a:rPr lang="en-GB" sz="2200" dirty="0">
                <a:solidFill>
                  <a:srgbClr val="000000"/>
                </a:solidFill>
                <a:latin typeface="Times New Roman" pitchFamily="18" charset="0"/>
              </a:rPr>
              <a:t>) and transform it to </a:t>
            </a:r>
            <a:r>
              <a:rPr lang="en-GB" sz="2200" i="1" dirty="0">
                <a:solidFill>
                  <a:srgbClr val="000000"/>
                </a:solidFill>
                <a:latin typeface="Times New Roman" pitchFamily="18" charset="0"/>
              </a:rPr>
              <a:t>g</a:t>
            </a:r>
            <a:r>
              <a:rPr lang="en-GB" sz="2200" dirty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GB" sz="2200" i="1" dirty="0">
                <a:solidFill>
                  <a:srgbClr val="000000"/>
                </a:solidFill>
                <a:latin typeface="Times New Roman" pitchFamily="18" charset="0"/>
              </a:rPr>
              <a:t>E</a:t>
            </a:r>
            <a:r>
              <a:rPr lang="en-GB" sz="2200" dirty="0">
                <a:solidFill>
                  <a:srgbClr val="000000"/>
                </a:solidFill>
                <a:latin typeface="Times New Roman" pitchFamily="18" charset="0"/>
              </a:rPr>
              <a:t>) we  can boil this integral down to: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5130EA3B-8EF0-73D9-F9E0-E267E43F0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1D7A143-9180-E025-2D20-2C2A7AB8D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18" y="11641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Zustandssumme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(sum over states)</a:t>
            </a:r>
            <a:endParaRPr lang="en-GB" sz="4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A2FC52-4DBD-4CE4-8767-0C30D7AE4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" y="4995306"/>
            <a:ext cx="4406900" cy="1079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639F86-3541-8552-DF8D-7AAD2E6FF7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7300" y="2049289"/>
            <a:ext cx="6629400" cy="107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495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3718" y="11641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From “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-space”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H="1" flipV="1">
            <a:off x="2296158" y="4531774"/>
            <a:ext cx="4753220" cy="4791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2272627" y="770855"/>
            <a:ext cx="23531" cy="3760919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>
            <a:off x="484188" y="4555729"/>
            <a:ext cx="1811971" cy="1861113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" name="Group 35"/>
          <p:cNvGrpSpPr/>
          <p:nvPr/>
        </p:nvGrpSpPr>
        <p:grpSpPr>
          <a:xfrm>
            <a:off x="1714438" y="3323159"/>
            <a:ext cx="1730375" cy="1873250"/>
            <a:chOff x="508000" y="3270250"/>
            <a:chExt cx="1730375" cy="1873250"/>
          </a:xfrm>
          <a:effectLst/>
        </p:grpSpPr>
        <p:cxnSp>
          <p:nvCxnSpPr>
            <p:cNvPr id="25" name="Straight Connector 24"/>
            <p:cNvCxnSpPr/>
            <p:nvPr/>
          </p:nvCxnSpPr>
          <p:spPr>
            <a:xfrm flipV="1">
              <a:off x="1079500" y="3270250"/>
              <a:ext cx="0" cy="1206500"/>
            </a:xfrm>
            <a:prstGeom prst="line">
              <a:avLst/>
            </a:prstGeom>
            <a:ln>
              <a:solidFill>
                <a:schemeClr val="tx1"/>
              </a:solidFill>
              <a:headEnd type="none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1063625" y="4476750"/>
              <a:ext cx="1174750" cy="0"/>
            </a:xfrm>
            <a:prstGeom prst="line">
              <a:avLst/>
            </a:prstGeom>
            <a:ln>
              <a:solidFill>
                <a:schemeClr val="tx1"/>
              </a:solidFill>
              <a:headEnd type="none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H="1">
              <a:off x="508000" y="4476750"/>
              <a:ext cx="588964" cy="666750"/>
            </a:xfrm>
            <a:prstGeom prst="line">
              <a:avLst/>
            </a:prstGeom>
            <a:ln>
              <a:solidFill>
                <a:schemeClr val="tx1"/>
              </a:solidFill>
              <a:headEnd type="none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ectangle 38"/>
          <p:cNvSpPr/>
          <p:nvPr/>
        </p:nvSpPr>
        <p:spPr>
          <a:xfrm>
            <a:off x="3254313" y="4542008"/>
            <a:ext cx="483893" cy="523220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GB" sz="2800" dirty="0" err="1">
                <a:solidFill>
                  <a:srgbClr val="000000"/>
                </a:solidFill>
                <a:latin typeface="Times New Roman" pitchFamily="18" charset="0"/>
              </a:rPr>
              <a:t>k</a:t>
            </a:r>
            <a:r>
              <a:rPr lang="en-GB" sz="2800" baseline="-25000" dirty="0" err="1">
                <a:solidFill>
                  <a:srgbClr val="000000"/>
                </a:solidFill>
                <a:latin typeface="Times New Roman" pitchFamily="18" charset="0"/>
              </a:rPr>
              <a:t>x</a:t>
            </a:r>
            <a:endParaRPr lang="en-US" sz="2800" baseline="-25000" dirty="0"/>
          </a:p>
        </p:txBody>
      </p:sp>
      <p:sp>
        <p:nvSpPr>
          <p:cNvPr id="40" name="Rectangle 39"/>
          <p:cNvSpPr/>
          <p:nvPr/>
        </p:nvSpPr>
        <p:spPr>
          <a:xfrm>
            <a:off x="1616689" y="3111089"/>
            <a:ext cx="492443" cy="523220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GB" sz="2800" dirty="0" err="1">
                <a:solidFill>
                  <a:srgbClr val="000000"/>
                </a:solidFill>
                <a:latin typeface="Times New Roman" pitchFamily="18" charset="0"/>
              </a:rPr>
              <a:t>k</a:t>
            </a:r>
            <a:r>
              <a:rPr lang="en-GB" sz="2800" baseline="-25000" dirty="0" err="1">
                <a:solidFill>
                  <a:srgbClr val="000000"/>
                </a:solidFill>
                <a:latin typeface="Times New Roman" pitchFamily="18" charset="0"/>
              </a:rPr>
              <a:t>y</a:t>
            </a:r>
            <a:endParaRPr lang="en-US" sz="2800" baseline="-25000" dirty="0"/>
          </a:p>
        </p:txBody>
      </p:sp>
      <p:sp>
        <p:nvSpPr>
          <p:cNvPr id="41" name="Rectangle 40"/>
          <p:cNvSpPr/>
          <p:nvPr/>
        </p:nvSpPr>
        <p:spPr>
          <a:xfrm>
            <a:off x="1963713" y="4903049"/>
            <a:ext cx="470451" cy="523220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GB" sz="2800" dirty="0" err="1">
                <a:solidFill>
                  <a:srgbClr val="000000"/>
                </a:solidFill>
                <a:latin typeface="Times New Roman" pitchFamily="18" charset="0"/>
              </a:rPr>
              <a:t>k</a:t>
            </a:r>
            <a:r>
              <a:rPr lang="en-GB" sz="2800" baseline="-25000" dirty="0" err="1">
                <a:solidFill>
                  <a:srgbClr val="000000"/>
                </a:solidFill>
                <a:latin typeface="Times New Roman" pitchFamily="18" charset="0"/>
              </a:rPr>
              <a:t>z</a:t>
            </a:r>
            <a:endParaRPr lang="en-US" sz="2800" baseline="-25000" dirty="0"/>
          </a:p>
        </p:txBody>
      </p:sp>
      <p:grpSp>
        <p:nvGrpSpPr>
          <p:cNvPr id="6" name="Group 5"/>
          <p:cNvGrpSpPr/>
          <p:nvPr/>
        </p:nvGrpSpPr>
        <p:grpSpPr>
          <a:xfrm>
            <a:off x="2096177" y="909053"/>
            <a:ext cx="366292" cy="3277848"/>
            <a:chOff x="2096177" y="909053"/>
            <a:chExt cx="366292" cy="3277848"/>
          </a:xfrm>
          <a:effectLst/>
        </p:grpSpPr>
        <p:cxnSp>
          <p:nvCxnSpPr>
            <p:cNvPr id="3" name="Straight Connector 2"/>
            <p:cNvCxnSpPr/>
            <p:nvPr/>
          </p:nvCxnSpPr>
          <p:spPr>
            <a:xfrm>
              <a:off x="2098841" y="909053"/>
              <a:ext cx="352924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2104193" y="1195133"/>
              <a:ext cx="352924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2104193" y="1475861"/>
              <a:ext cx="352924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2096177" y="1788677"/>
              <a:ext cx="352924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2104193" y="2117525"/>
              <a:ext cx="352924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2109545" y="2403605"/>
              <a:ext cx="352924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2109545" y="2684333"/>
              <a:ext cx="352924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2101529" y="2997149"/>
              <a:ext cx="352924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2104193" y="3253805"/>
              <a:ext cx="352924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2109545" y="3553253"/>
              <a:ext cx="352924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2109545" y="3874085"/>
              <a:ext cx="352924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2101529" y="4186901"/>
              <a:ext cx="352924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/>
          <p:cNvGrpSpPr/>
          <p:nvPr/>
        </p:nvGrpSpPr>
        <p:grpSpPr>
          <a:xfrm rot="5400000">
            <a:off x="4295565" y="2754200"/>
            <a:ext cx="366292" cy="3608890"/>
            <a:chOff x="2096177" y="909053"/>
            <a:chExt cx="366292" cy="3247742"/>
          </a:xfrm>
          <a:effectLst/>
        </p:grpSpPr>
        <p:cxnSp>
          <p:nvCxnSpPr>
            <p:cNvPr id="54" name="Straight Connector 53"/>
            <p:cNvCxnSpPr/>
            <p:nvPr/>
          </p:nvCxnSpPr>
          <p:spPr>
            <a:xfrm>
              <a:off x="2098841" y="909053"/>
              <a:ext cx="352924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2104193" y="1165027"/>
              <a:ext cx="352924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2104193" y="1445755"/>
              <a:ext cx="352924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2096177" y="1758571"/>
              <a:ext cx="352924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2104193" y="2087419"/>
              <a:ext cx="352924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2109545" y="2373499"/>
              <a:ext cx="352924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2109545" y="2654227"/>
              <a:ext cx="352924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2101529" y="2967043"/>
              <a:ext cx="352924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>
              <a:off x="2104193" y="3277171"/>
              <a:ext cx="352924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2109545" y="3599342"/>
              <a:ext cx="352924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2109545" y="3843979"/>
              <a:ext cx="352924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>
              <a:off x="2101529" y="4156795"/>
              <a:ext cx="352924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453153" y="4634847"/>
            <a:ext cx="1930457" cy="1620216"/>
            <a:chOff x="453153" y="4634847"/>
            <a:chExt cx="1930457" cy="1620216"/>
          </a:xfrm>
          <a:effectLst/>
        </p:grpSpPr>
        <p:cxnSp>
          <p:nvCxnSpPr>
            <p:cNvPr id="8" name="Straight Connector 7"/>
            <p:cNvCxnSpPr/>
            <p:nvPr/>
          </p:nvCxnSpPr>
          <p:spPr>
            <a:xfrm flipV="1">
              <a:off x="1950345" y="4634847"/>
              <a:ext cx="433265" cy="2664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 flipV="1">
              <a:off x="1862121" y="4747143"/>
              <a:ext cx="433265" cy="2664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 flipV="1">
              <a:off x="1755177" y="4867455"/>
              <a:ext cx="433265" cy="2664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 flipV="1">
              <a:off x="1653585" y="4993119"/>
              <a:ext cx="433265" cy="2664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 flipV="1">
              <a:off x="1541289" y="5108079"/>
              <a:ext cx="433265" cy="2664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 flipV="1">
              <a:off x="1426329" y="5247111"/>
              <a:ext cx="433265" cy="2664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/>
            <p:nvPr/>
          </p:nvCxnSpPr>
          <p:spPr>
            <a:xfrm flipV="1">
              <a:off x="1319385" y="5380791"/>
              <a:ext cx="433265" cy="2664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>
            <a:xfrm flipV="1">
              <a:off x="1191057" y="5493087"/>
              <a:ext cx="433265" cy="2664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 flipV="1">
              <a:off x="1067920" y="5632112"/>
              <a:ext cx="433265" cy="2664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/>
          </p:nvCxnSpPr>
          <p:spPr>
            <a:xfrm flipV="1">
              <a:off x="875577" y="5819271"/>
              <a:ext cx="433265" cy="2664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>
            <a:xfrm flipV="1">
              <a:off x="693777" y="6011775"/>
              <a:ext cx="433265" cy="2664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 flipV="1">
              <a:off x="453153" y="6252399"/>
              <a:ext cx="433265" cy="2664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Right Brace 11"/>
          <p:cNvSpPr/>
          <p:nvPr/>
        </p:nvSpPr>
        <p:spPr>
          <a:xfrm>
            <a:off x="2553375" y="2684333"/>
            <a:ext cx="347579" cy="312816"/>
          </a:xfrm>
          <a:prstGeom prst="rightBrac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ight Brace 89"/>
          <p:cNvSpPr/>
          <p:nvPr/>
        </p:nvSpPr>
        <p:spPr>
          <a:xfrm rot="16200000">
            <a:off x="4296417" y="3986078"/>
            <a:ext cx="347579" cy="304407"/>
          </a:xfrm>
          <a:prstGeom prst="rightBrace">
            <a:avLst>
              <a:gd name="adj1" fmla="val 31284"/>
              <a:gd name="adj2" fmla="val 50000"/>
            </a:avLst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ight Brace 90"/>
          <p:cNvSpPr/>
          <p:nvPr/>
        </p:nvSpPr>
        <p:spPr>
          <a:xfrm rot="14219575">
            <a:off x="1410914" y="4606315"/>
            <a:ext cx="347579" cy="235835"/>
          </a:xfrm>
          <a:prstGeom prst="rightBrac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4144208" y="3494743"/>
            <a:ext cx="754542" cy="52322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Symbol" charset="2"/>
                <a:cs typeface="Symbol" charset="2"/>
              </a:rPr>
              <a:t>p</a:t>
            </a:r>
            <a:r>
              <a:rPr lang="en-US" sz="2800" dirty="0">
                <a:latin typeface="Times New Roman"/>
                <a:cs typeface="Times New Roman"/>
              </a:rPr>
              <a:t>/</a:t>
            </a:r>
            <a:r>
              <a:rPr lang="en-US" sz="2800" i="1" dirty="0">
                <a:latin typeface="Times New Roman"/>
                <a:cs typeface="Times New Roman"/>
              </a:rPr>
              <a:t>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893495" y="2507661"/>
            <a:ext cx="754542" cy="52322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Symbol" charset="2"/>
                <a:cs typeface="Symbol" charset="2"/>
              </a:rPr>
              <a:t>p</a:t>
            </a:r>
            <a:r>
              <a:rPr lang="en-US" sz="2800" dirty="0">
                <a:latin typeface="Times New Roman"/>
                <a:cs typeface="Times New Roman"/>
              </a:rPr>
              <a:t>/</a:t>
            </a:r>
            <a:r>
              <a:rPr lang="en-US" sz="2800" i="1" dirty="0">
                <a:latin typeface="Times New Roman"/>
                <a:cs typeface="Times New Roman"/>
              </a:rPr>
              <a:t>b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276314" y="4100946"/>
            <a:ext cx="754542" cy="52322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Symbol" charset="2"/>
                <a:cs typeface="Symbol" charset="2"/>
              </a:rPr>
              <a:t>p</a:t>
            </a:r>
            <a:r>
              <a:rPr lang="en-US" sz="2800" dirty="0">
                <a:latin typeface="Times New Roman"/>
                <a:cs typeface="Times New Roman"/>
              </a:rPr>
              <a:t>/</a:t>
            </a:r>
            <a:r>
              <a:rPr lang="en-US" sz="2800" i="1" dirty="0">
                <a:latin typeface="Times New Roman"/>
                <a:cs typeface="Times New Roman"/>
              </a:rPr>
              <a:t>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63378" y="1121881"/>
            <a:ext cx="4180096" cy="461665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marL="430213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For particle in a 3D box: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3"/>
          <a:srcRect r="70764"/>
          <a:stretch/>
        </p:blipFill>
        <p:spPr>
          <a:xfrm>
            <a:off x="6741914" y="1655633"/>
            <a:ext cx="1396059" cy="1028700"/>
          </a:xfrm>
          <a:prstGeom prst="rect">
            <a:avLst/>
          </a:prstGeom>
          <a:effectLst/>
        </p:spPr>
      </p:pic>
      <p:pic>
        <p:nvPicPr>
          <p:cNvPr id="94" name="Picture 93"/>
          <p:cNvPicPr>
            <a:picLocks noChangeAspect="1"/>
          </p:cNvPicPr>
          <p:nvPr/>
        </p:nvPicPr>
        <p:blipFill rotWithShape="1">
          <a:blip r:embed="rId3"/>
          <a:srcRect l="35306" r="34179"/>
          <a:stretch/>
        </p:blipFill>
        <p:spPr>
          <a:xfrm>
            <a:off x="6741914" y="2601923"/>
            <a:ext cx="1457158" cy="1028700"/>
          </a:xfrm>
          <a:prstGeom prst="rect">
            <a:avLst/>
          </a:prstGeom>
          <a:effectLst/>
        </p:spPr>
      </p:pic>
      <p:pic>
        <p:nvPicPr>
          <p:cNvPr id="95" name="Picture 94"/>
          <p:cNvPicPr>
            <a:picLocks noChangeAspect="1"/>
          </p:cNvPicPr>
          <p:nvPr/>
        </p:nvPicPr>
        <p:blipFill rotWithShape="1">
          <a:blip r:embed="rId3"/>
          <a:srcRect l="68621"/>
          <a:stretch/>
        </p:blipFill>
        <p:spPr>
          <a:xfrm>
            <a:off x="6741914" y="3630191"/>
            <a:ext cx="1498414" cy="1028700"/>
          </a:xfrm>
          <a:prstGeom prst="rect">
            <a:avLst/>
          </a:prstGeom>
          <a:effectLst/>
        </p:spPr>
      </p:pic>
      <p:cxnSp>
        <p:nvCxnSpPr>
          <p:cNvPr id="7" name="Straight Arrow Connector 6"/>
          <p:cNvCxnSpPr/>
          <p:nvPr/>
        </p:nvCxnSpPr>
        <p:spPr>
          <a:xfrm flipV="1">
            <a:off x="6943033" y="4471739"/>
            <a:ext cx="0" cy="462469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431319" y="4938336"/>
            <a:ext cx="3664000" cy="646331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Quantum numbers </a:t>
            </a:r>
            <a:r>
              <a:rPr lang="en-GB" i="1" dirty="0" err="1">
                <a:solidFill>
                  <a:srgbClr val="000000"/>
                </a:solidFill>
                <a:latin typeface="Times New Roman" pitchFamily="18" charset="0"/>
              </a:rPr>
              <a:t>n</a:t>
            </a:r>
            <a:r>
              <a:rPr lang="en-GB" i="1" baseline="-25000" dirty="0" err="1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, </a:t>
            </a:r>
            <a:r>
              <a:rPr lang="en-GB" i="1" dirty="0" err="1">
                <a:solidFill>
                  <a:srgbClr val="000000"/>
                </a:solidFill>
                <a:latin typeface="Times New Roman" pitchFamily="18" charset="0"/>
              </a:rPr>
              <a:t>n</a:t>
            </a:r>
            <a:r>
              <a:rPr lang="en-GB" i="1" baseline="-25000" dirty="0" err="1">
                <a:solidFill>
                  <a:srgbClr val="000000"/>
                </a:solidFill>
                <a:latin typeface="Times New Roman" pitchFamily="18" charset="0"/>
              </a:rPr>
              <a:t>y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 and </a:t>
            </a:r>
            <a:r>
              <a:rPr lang="en-GB" i="1" dirty="0" err="1">
                <a:solidFill>
                  <a:srgbClr val="000000"/>
                </a:solidFill>
                <a:latin typeface="Times New Roman" pitchFamily="18" charset="0"/>
              </a:rPr>
              <a:t>n</a:t>
            </a:r>
            <a:r>
              <a:rPr lang="en-GB" i="1" baseline="-25000" dirty="0" err="1">
                <a:solidFill>
                  <a:srgbClr val="000000"/>
                </a:solidFill>
                <a:latin typeface="Times New Roman" pitchFamily="18" charset="0"/>
              </a:rPr>
              <a:t>z</a:t>
            </a:r>
            <a:r>
              <a:rPr lang="en-GB" i="1" baseline="-2500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define a point in </a:t>
            </a:r>
            <a:r>
              <a:rPr lang="en-GB" i="1" dirty="0">
                <a:solidFill>
                  <a:srgbClr val="000000"/>
                </a:solidFill>
                <a:latin typeface="Times New Roman" pitchFamily="18" charset="0"/>
              </a:rPr>
              <a:t>k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-space</a:t>
            </a:r>
            <a:endParaRPr lang="en-US" dirty="0"/>
          </a:p>
        </p:txBody>
      </p:sp>
      <p:sp>
        <p:nvSpPr>
          <p:cNvPr id="75" name="Rectangle 74"/>
          <p:cNvSpPr/>
          <p:nvPr/>
        </p:nvSpPr>
        <p:spPr>
          <a:xfrm>
            <a:off x="5431319" y="5604713"/>
            <a:ext cx="3159839" cy="369332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Points in </a:t>
            </a:r>
            <a:r>
              <a:rPr lang="en-GB" i="1" dirty="0">
                <a:solidFill>
                  <a:srgbClr val="000000"/>
                </a:solidFill>
                <a:latin typeface="Times New Roman" pitchFamily="18" charset="0"/>
              </a:rPr>
              <a:t>k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-space are discrete</a:t>
            </a:r>
            <a:endParaRPr lang="en-US" dirty="0"/>
          </a:p>
        </p:txBody>
      </p:sp>
      <p:sp>
        <p:nvSpPr>
          <p:cNvPr id="77" name="Rectangle 76"/>
          <p:cNvSpPr/>
          <p:nvPr/>
        </p:nvSpPr>
        <p:spPr>
          <a:xfrm>
            <a:off x="5450040" y="6051209"/>
            <a:ext cx="3645280" cy="646331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“Distance” in </a:t>
            </a:r>
            <a:r>
              <a:rPr lang="en-GB" i="1" dirty="0">
                <a:solidFill>
                  <a:srgbClr val="000000"/>
                </a:solidFill>
                <a:latin typeface="Times New Roman" pitchFamily="18" charset="0"/>
              </a:rPr>
              <a:t>k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-space is inverse length</a:t>
            </a:r>
            <a:endParaRPr lang="en-US" dirty="0"/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2272627" y="2403605"/>
            <a:ext cx="2165689" cy="2134974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Picture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6937" y="1472477"/>
            <a:ext cx="1930402" cy="630335"/>
          </a:xfrm>
          <a:prstGeom prst="rect">
            <a:avLst/>
          </a:prstGeom>
          <a:effectLst/>
        </p:spPr>
      </p:pic>
      <p:grpSp>
        <p:nvGrpSpPr>
          <p:cNvPr id="101" name="Group 100"/>
          <p:cNvGrpSpPr/>
          <p:nvPr/>
        </p:nvGrpSpPr>
        <p:grpSpPr>
          <a:xfrm>
            <a:off x="4363740" y="2056023"/>
            <a:ext cx="494906" cy="427790"/>
            <a:chOff x="2587625" y="2921000"/>
            <a:chExt cx="4064000" cy="3381374"/>
          </a:xfrm>
          <a:effectLst/>
        </p:grpSpPr>
        <p:sp>
          <p:nvSpPr>
            <p:cNvPr id="102" name="Cube 101"/>
            <p:cNvSpPr/>
            <p:nvPr/>
          </p:nvSpPr>
          <p:spPr>
            <a:xfrm>
              <a:off x="2587625" y="2921000"/>
              <a:ext cx="4064000" cy="3381374"/>
            </a:xfrm>
            <a:prstGeom prst="cube">
              <a:avLst/>
            </a:prstGeom>
            <a:noFill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3" name="Straight Connector 102"/>
            <p:cNvCxnSpPr/>
            <p:nvPr/>
          </p:nvCxnSpPr>
          <p:spPr>
            <a:xfrm flipH="1" flipV="1">
              <a:off x="3444875" y="5413375"/>
              <a:ext cx="3206750" cy="3175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>
              <a:off x="3429000" y="2921000"/>
              <a:ext cx="15875" cy="2492375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 flipH="1">
              <a:off x="2587625" y="5429250"/>
              <a:ext cx="857250" cy="873124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ectangle 49"/>
          <p:cNvSpPr/>
          <p:nvPr/>
        </p:nvSpPr>
        <p:spPr>
          <a:xfrm>
            <a:off x="4285252" y="2520873"/>
            <a:ext cx="1819203" cy="369332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A state in </a:t>
            </a:r>
            <a:r>
              <a:rPr lang="en-GB" i="1" dirty="0">
                <a:solidFill>
                  <a:srgbClr val="000000"/>
                </a:solidFill>
                <a:latin typeface="Times New Roman" pitchFamily="18" charset="0"/>
              </a:rPr>
              <a:t>k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-space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466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41" grpId="0"/>
      <p:bldP spid="12" grpId="0" animBg="1"/>
      <p:bldP spid="90" grpId="0" animBg="1"/>
      <p:bldP spid="91" grpId="0" animBg="1"/>
      <p:bldP spid="13" grpId="0"/>
      <p:bldP spid="92" grpId="0"/>
      <p:bldP spid="93" grpId="0"/>
      <p:bldP spid="10" grpId="0"/>
      <p:bldP spid="75" grpId="0"/>
      <p:bldP spid="77" grpId="0"/>
      <p:bldP spid="5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3718" y="11641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i="1" dirty="0">
                <a:solidFill>
                  <a:srgbClr val="000000"/>
                </a:solidFill>
                <a:latin typeface="Times New Roman" pitchFamily="18" charset="0"/>
              </a:rPr>
              <a:t>k</a:t>
            </a: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-space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H="1" flipV="1">
            <a:off x="2002062" y="4531774"/>
            <a:ext cx="4753220" cy="4791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978531" y="770855"/>
            <a:ext cx="23531" cy="3760919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>
            <a:off x="190092" y="4555729"/>
            <a:ext cx="1811971" cy="1861113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" name="Group 35"/>
          <p:cNvGrpSpPr/>
          <p:nvPr/>
        </p:nvGrpSpPr>
        <p:grpSpPr>
          <a:xfrm>
            <a:off x="1420342" y="3323159"/>
            <a:ext cx="1730375" cy="1873250"/>
            <a:chOff x="508000" y="3270250"/>
            <a:chExt cx="1730375" cy="1873250"/>
          </a:xfrm>
          <a:effectLst/>
        </p:grpSpPr>
        <p:cxnSp>
          <p:nvCxnSpPr>
            <p:cNvPr id="25" name="Straight Connector 24"/>
            <p:cNvCxnSpPr/>
            <p:nvPr/>
          </p:nvCxnSpPr>
          <p:spPr>
            <a:xfrm flipV="1">
              <a:off x="1079500" y="3270250"/>
              <a:ext cx="0" cy="1206500"/>
            </a:xfrm>
            <a:prstGeom prst="line">
              <a:avLst/>
            </a:prstGeom>
            <a:ln>
              <a:solidFill>
                <a:schemeClr val="tx1"/>
              </a:solidFill>
              <a:headEnd type="none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1063625" y="4476750"/>
              <a:ext cx="1174750" cy="0"/>
            </a:xfrm>
            <a:prstGeom prst="line">
              <a:avLst/>
            </a:prstGeom>
            <a:ln>
              <a:solidFill>
                <a:schemeClr val="tx1"/>
              </a:solidFill>
              <a:headEnd type="none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H="1">
              <a:off x="508000" y="4476750"/>
              <a:ext cx="588964" cy="666750"/>
            </a:xfrm>
            <a:prstGeom prst="line">
              <a:avLst/>
            </a:prstGeom>
            <a:ln>
              <a:solidFill>
                <a:schemeClr val="tx1"/>
              </a:solidFill>
              <a:headEnd type="none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ectangle 38"/>
          <p:cNvSpPr/>
          <p:nvPr/>
        </p:nvSpPr>
        <p:spPr>
          <a:xfrm>
            <a:off x="2960217" y="4542008"/>
            <a:ext cx="483893" cy="523220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GB" sz="2800" dirty="0" err="1">
                <a:solidFill>
                  <a:srgbClr val="000000"/>
                </a:solidFill>
                <a:latin typeface="Times New Roman" pitchFamily="18" charset="0"/>
              </a:rPr>
              <a:t>k</a:t>
            </a:r>
            <a:r>
              <a:rPr lang="en-GB" sz="2800" baseline="-25000" dirty="0" err="1">
                <a:solidFill>
                  <a:srgbClr val="000000"/>
                </a:solidFill>
                <a:latin typeface="Times New Roman" pitchFamily="18" charset="0"/>
              </a:rPr>
              <a:t>x</a:t>
            </a:r>
            <a:endParaRPr lang="en-US" sz="2800" baseline="-25000" dirty="0"/>
          </a:p>
        </p:txBody>
      </p:sp>
      <p:sp>
        <p:nvSpPr>
          <p:cNvPr id="40" name="Rectangle 39"/>
          <p:cNvSpPr/>
          <p:nvPr/>
        </p:nvSpPr>
        <p:spPr>
          <a:xfrm>
            <a:off x="1322593" y="3111089"/>
            <a:ext cx="492443" cy="523220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GB" sz="2800" dirty="0" err="1">
                <a:solidFill>
                  <a:srgbClr val="000000"/>
                </a:solidFill>
                <a:latin typeface="Times New Roman" pitchFamily="18" charset="0"/>
              </a:rPr>
              <a:t>k</a:t>
            </a:r>
            <a:r>
              <a:rPr lang="en-GB" sz="2800" baseline="-25000" dirty="0" err="1">
                <a:solidFill>
                  <a:srgbClr val="000000"/>
                </a:solidFill>
                <a:latin typeface="Times New Roman" pitchFamily="18" charset="0"/>
              </a:rPr>
              <a:t>y</a:t>
            </a:r>
            <a:endParaRPr lang="en-US" sz="2800" baseline="-25000" dirty="0"/>
          </a:p>
        </p:txBody>
      </p:sp>
      <p:sp>
        <p:nvSpPr>
          <p:cNvPr id="41" name="Rectangle 40"/>
          <p:cNvSpPr/>
          <p:nvPr/>
        </p:nvSpPr>
        <p:spPr>
          <a:xfrm>
            <a:off x="1669617" y="4903049"/>
            <a:ext cx="470451" cy="523220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GB" sz="2800" dirty="0" err="1">
                <a:solidFill>
                  <a:srgbClr val="000000"/>
                </a:solidFill>
                <a:latin typeface="Times New Roman" pitchFamily="18" charset="0"/>
              </a:rPr>
              <a:t>k</a:t>
            </a:r>
            <a:r>
              <a:rPr lang="en-GB" sz="2800" baseline="-25000" dirty="0" err="1">
                <a:solidFill>
                  <a:srgbClr val="000000"/>
                </a:solidFill>
                <a:latin typeface="Times New Roman" pitchFamily="18" charset="0"/>
              </a:rPr>
              <a:t>z</a:t>
            </a:r>
            <a:endParaRPr lang="en-US" sz="2800" baseline="-25000" dirty="0"/>
          </a:p>
        </p:txBody>
      </p:sp>
      <p:grpSp>
        <p:nvGrpSpPr>
          <p:cNvPr id="48" name="Group 47"/>
          <p:cNvGrpSpPr/>
          <p:nvPr/>
        </p:nvGrpSpPr>
        <p:grpSpPr>
          <a:xfrm>
            <a:off x="855586" y="1537379"/>
            <a:ext cx="4379399" cy="4170949"/>
            <a:chOff x="1149682" y="1537379"/>
            <a:chExt cx="4379399" cy="4170949"/>
          </a:xfrm>
          <a:effectLst/>
        </p:grpSpPr>
        <p:sp>
          <p:nvSpPr>
            <p:cNvPr id="29" name="Freeform 28"/>
            <p:cNvSpPr/>
            <p:nvPr/>
          </p:nvSpPr>
          <p:spPr>
            <a:xfrm>
              <a:off x="2272632" y="1537380"/>
              <a:ext cx="3256448" cy="3034632"/>
            </a:xfrm>
            <a:custGeom>
              <a:avLst/>
              <a:gdLst>
                <a:gd name="connsiteX0" fmla="*/ 0 w 3256448"/>
                <a:gd name="connsiteY0" fmla="*/ 0 h 3034632"/>
                <a:gd name="connsiteX1" fmla="*/ 534736 w 3256448"/>
                <a:gd name="connsiteY1" fmla="*/ 26737 h 3034632"/>
                <a:gd name="connsiteX2" fmla="*/ 1096210 w 3256448"/>
                <a:gd name="connsiteY2" fmla="*/ 160421 h 3034632"/>
                <a:gd name="connsiteX3" fmla="*/ 1671052 w 3256448"/>
                <a:gd name="connsiteY3" fmla="*/ 414421 h 3034632"/>
                <a:gd name="connsiteX4" fmla="*/ 2179052 w 3256448"/>
                <a:gd name="connsiteY4" fmla="*/ 802105 h 3034632"/>
                <a:gd name="connsiteX5" fmla="*/ 2580105 w 3256448"/>
                <a:gd name="connsiteY5" fmla="*/ 1229895 h 3034632"/>
                <a:gd name="connsiteX6" fmla="*/ 2914315 w 3256448"/>
                <a:gd name="connsiteY6" fmla="*/ 1684421 h 3034632"/>
                <a:gd name="connsiteX7" fmla="*/ 3141579 w 3256448"/>
                <a:gd name="connsiteY7" fmla="*/ 2245895 h 3034632"/>
                <a:gd name="connsiteX8" fmla="*/ 3248526 w 3256448"/>
                <a:gd name="connsiteY8" fmla="*/ 2860842 h 3034632"/>
                <a:gd name="connsiteX9" fmla="*/ 3248526 w 3256448"/>
                <a:gd name="connsiteY9" fmla="*/ 3034632 h 3034632"/>
                <a:gd name="connsiteX10" fmla="*/ 3248526 w 3256448"/>
                <a:gd name="connsiteY10" fmla="*/ 3034632 h 3034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56448" h="3034632">
                  <a:moveTo>
                    <a:pt x="0" y="0"/>
                  </a:moveTo>
                  <a:cubicBezTo>
                    <a:pt x="176017" y="0"/>
                    <a:pt x="352034" y="0"/>
                    <a:pt x="534736" y="26737"/>
                  </a:cubicBezTo>
                  <a:cubicBezTo>
                    <a:pt x="717438" y="53474"/>
                    <a:pt x="906824" y="95807"/>
                    <a:pt x="1096210" y="160421"/>
                  </a:cubicBezTo>
                  <a:cubicBezTo>
                    <a:pt x="1285596" y="225035"/>
                    <a:pt x="1490578" y="307474"/>
                    <a:pt x="1671052" y="414421"/>
                  </a:cubicBezTo>
                  <a:cubicBezTo>
                    <a:pt x="1851526" y="521368"/>
                    <a:pt x="2027543" y="666193"/>
                    <a:pt x="2179052" y="802105"/>
                  </a:cubicBezTo>
                  <a:cubicBezTo>
                    <a:pt x="2330561" y="938017"/>
                    <a:pt x="2457561" y="1082842"/>
                    <a:pt x="2580105" y="1229895"/>
                  </a:cubicBezTo>
                  <a:cubicBezTo>
                    <a:pt x="2702649" y="1376948"/>
                    <a:pt x="2820736" y="1515088"/>
                    <a:pt x="2914315" y="1684421"/>
                  </a:cubicBezTo>
                  <a:cubicBezTo>
                    <a:pt x="3007894" y="1853754"/>
                    <a:pt x="3085877" y="2049825"/>
                    <a:pt x="3141579" y="2245895"/>
                  </a:cubicBezTo>
                  <a:cubicBezTo>
                    <a:pt x="3197281" y="2441965"/>
                    <a:pt x="3230702" y="2729386"/>
                    <a:pt x="3248526" y="2860842"/>
                  </a:cubicBezTo>
                  <a:cubicBezTo>
                    <a:pt x="3266351" y="2992298"/>
                    <a:pt x="3248526" y="3034632"/>
                    <a:pt x="3248526" y="3034632"/>
                  </a:cubicBezTo>
                  <a:lnTo>
                    <a:pt x="3248526" y="3034632"/>
                  </a:lnTo>
                </a:path>
              </a:pathLst>
            </a:cu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 43"/>
            <p:cNvSpPr/>
            <p:nvPr/>
          </p:nvSpPr>
          <p:spPr>
            <a:xfrm flipH="1">
              <a:off x="1149682" y="1537379"/>
              <a:ext cx="1275347" cy="4170949"/>
            </a:xfrm>
            <a:custGeom>
              <a:avLst/>
              <a:gdLst>
                <a:gd name="connsiteX0" fmla="*/ 0 w 3256448"/>
                <a:gd name="connsiteY0" fmla="*/ 0 h 3034632"/>
                <a:gd name="connsiteX1" fmla="*/ 534736 w 3256448"/>
                <a:gd name="connsiteY1" fmla="*/ 26737 h 3034632"/>
                <a:gd name="connsiteX2" fmla="*/ 1096210 w 3256448"/>
                <a:gd name="connsiteY2" fmla="*/ 160421 h 3034632"/>
                <a:gd name="connsiteX3" fmla="*/ 1671052 w 3256448"/>
                <a:gd name="connsiteY3" fmla="*/ 414421 h 3034632"/>
                <a:gd name="connsiteX4" fmla="*/ 2179052 w 3256448"/>
                <a:gd name="connsiteY4" fmla="*/ 802105 h 3034632"/>
                <a:gd name="connsiteX5" fmla="*/ 2580105 w 3256448"/>
                <a:gd name="connsiteY5" fmla="*/ 1229895 h 3034632"/>
                <a:gd name="connsiteX6" fmla="*/ 2914315 w 3256448"/>
                <a:gd name="connsiteY6" fmla="*/ 1684421 h 3034632"/>
                <a:gd name="connsiteX7" fmla="*/ 3141579 w 3256448"/>
                <a:gd name="connsiteY7" fmla="*/ 2245895 h 3034632"/>
                <a:gd name="connsiteX8" fmla="*/ 3248526 w 3256448"/>
                <a:gd name="connsiteY8" fmla="*/ 2860842 h 3034632"/>
                <a:gd name="connsiteX9" fmla="*/ 3248526 w 3256448"/>
                <a:gd name="connsiteY9" fmla="*/ 3034632 h 3034632"/>
                <a:gd name="connsiteX10" fmla="*/ 3248526 w 3256448"/>
                <a:gd name="connsiteY10" fmla="*/ 3034632 h 3034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56448" h="3034632">
                  <a:moveTo>
                    <a:pt x="0" y="0"/>
                  </a:moveTo>
                  <a:cubicBezTo>
                    <a:pt x="176017" y="0"/>
                    <a:pt x="352034" y="0"/>
                    <a:pt x="534736" y="26737"/>
                  </a:cubicBezTo>
                  <a:cubicBezTo>
                    <a:pt x="717438" y="53474"/>
                    <a:pt x="906824" y="95807"/>
                    <a:pt x="1096210" y="160421"/>
                  </a:cubicBezTo>
                  <a:cubicBezTo>
                    <a:pt x="1285596" y="225035"/>
                    <a:pt x="1490578" y="307474"/>
                    <a:pt x="1671052" y="414421"/>
                  </a:cubicBezTo>
                  <a:cubicBezTo>
                    <a:pt x="1851526" y="521368"/>
                    <a:pt x="2027543" y="666193"/>
                    <a:pt x="2179052" y="802105"/>
                  </a:cubicBezTo>
                  <a:cubicBezTo>
                    <a:pt x="2330561" y="938017"/>
                    <a:pt x="2457561" y="1082842"/>
                    <a:pt x="2580105" y="1229895"/>
                  </a:cubicBezTo>
                  <a:cubicBezTo>
                    <a:pt x="2702649" y="1376948"/>
                    <a:pt x="2820736" y="1515088"/>
                    <a:pt x="2914315" y="1684421"/>
                  </a:cubicBezTo>
                  <a:cubicBezTo>
                    <a:pt x="3007894" y="1853754"/>
                    <a:pt x="3085877" y="2049825"/>
                    <a:pt x="3141579" y="2245895"/>
                  </a:cubicBezTo>
                  <a:cubicBezTo>
                    <a:pt x="3197281" y="2441965"/>
                    <a:pt x="3230702" y="2729386"/>
                    <a:pt x="3248526" y="2860842"/>
                  </a:cubicBezTo>
                  <a:cubicBezTo>
                    <a:pt x="3266351" y="2992298"/>
                    <a:pt x="3248526" y="3034632"/>
                    <a:pt x="3248526" y="3034632"/>
                  </a:cubicBezTo>
                  <a:lnTo>
                    <a:pt x="3248526" y="3034632"/>
                  </a:lnTo>
                </a:path>
              </a:pathLst>
            </a:cu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Freeform 45"/>
            <p:cNvSpPr/>
            <p:nvPr/>
          </p:nvSpPr>
          <p:spPr>
            <a:xfrm flipV="1">
              <a:off x="1149683" y="4555728"/>
              <a:ext cx="4379398" cy="1152600"/>
            </a:xfrm>
            <a:custGeom>
              <a:avLst/>
              <a:gdLst>
                <a:gd name="connsiteX0" fmla="*/ 0 w 3256448"/>
                <a:gd name="connsiteY0" fmla="*/ 0 h 3034632"/>
                <a:gd name="connsiteX1" fmla="*/ 534736 w 3256448"/>
                <a:gd name="connsiteY1" fmla="*/ 26737 h 3034632"/>
                <a:gd name="connsiteX2" fmla="*/ 1096210 w 3256448"/>
                <a:gd name="connsiteY2" fmla="*/ 160421 h 3034632"/>
                <a:gd name="connsiteX3" fmla="*/ 1671052 w 3256448"/>
                <a:gd name="connsiteY3" fmla="*/ 414421 h 3034632"/>
                <a:gd name="connsiteX4" fmla="*/ 2179052 w 3256448"/>
                <a:gd name="connsiteY4" fmla="*/ 802105 h 3034632"/>
                <a:gd name="connsiteX5" fmla="*/ 2580105 w 3256448"/>
                <a:gd name="connsiteY5" fmla="*/ 1229895 h 3034632"/>
                <a:gd name="connsiteX6" fmla="*/ 2914315 w 3256448"/>
                <a:gd name="connsiteY6" fmla="*/ 1684421 h 3034632"/>
                <a:gd name="connsiteX7" fmla="*/ 3141579 w 3256448"/>
                <a:gd name="connsiteY7" fmla="*/ 2245895 h 3034632"/>
                <a:gd name="connsiteX8" fmla="*/ 3248526 w 3256448"/>
                <a:gd name="connsiteY8" fmla="*/ 2860842 h 3034632"/>
                <a:gd name="connsiteX9" fmla="*/ 3248526 w 3256448"/>
                <a:gd name="connsiteY9" fmla="*/ 3034632 h 3034632"/>
                <a:gd name="connsiteX10" fmla="*/ 3248526 w 3256448"/>
                <a:gd name="connsiteY10" fmla="*/ 3034632 h 3034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56448" h="3034632">
                  <a:moveTo>
                    <a:pt x="0" y="0"/>
                  </a:moveTo>
                  <a:cubicBezTo>
                    <a:pt x="176017" y="0"/>
                    <a:pt x="352034" y="0"/>
                    <a:pt x="534736" y="26737"/>
                  </a:cubicBezTo>
                  <a:cubicBezTo>
                    <a:pt x="717438" y="53474"/>
                    <a:pt x="906824" y="95807"/>
                    <a:pt x="1096210" y="160421"/>
                  </a:cubicBezTo>
                  <a:cubicBezTo>
                    <a:pt x="1285596" y="225035"/>
                    <a:pt x="1490578" y="307474"/>
                    <a:pt x="1671052" y="414421"/>
                  </a:cubicBezTo>
                  <a:cubicBezTo>
                    <a:pt x="1851526" y="521368"/>
                    <a:pt x="2027543" y="666193"/>
                    <a:pt x="2179052" y="802105"/>
                  </a:cubicBezTo>
                  <a:cubicBezTo>
                    <a:pt x="2330561" y="938017"/>
                    <a:pt x="2457561" y="1082842"/>
                    <a:pt x="2580105" y="1229895"/>
                  </a:cubicBezTo>
                  <a:cubicBezTo>
                    <a:pt x="2702649" y="1376948"/>
                    <a:pt x="2820736" y="1515088"/>
                    <a:pt x="2914315" y="1684421"/>
                  </a:cubicBezTo>
                  <a:cubicBezTo>
                    <a:pt x="3007894" y="1853754"/>
                    <a:pt x="3085877" y="2049825"/>
                    <a:pt x="3141579" y="2245895"/>
                  </a:cubicBezTo>
                  <a:cubicBezTo>
                    <a:pt x="3197281" y="2441965"/>
                    <a:pt x="3230702" y="2729386"/>
                    <a:pt x="3248526" y="2860842"/>
                  </a:cubicBezTo>
                  <a:cubicBezTo>
                    <a:pt x="3266351" y="2992298"/>
                    <a:pt x="3248526" y="3034632"/>
                    <a:pt x="3248526" y="3034632"/>
                  </a:cubicBezTo>
                  <a:lnTo>
                    <a:pt x="3248526" y="3034632"/>
                  </a:lnTo>
                </a:path>
              </a:pathLst>
            </a:cu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481269" y="1066913"/>
            <a:ext cx="5240919" cy="5069192"/>
            <a:chOff x="775365" y="1066913"/>
            <a:chExt cx="5240919" cy="5069192"/>
          </a:xfrm>
          <a:effectLst/>
        </p:grpSpPr>
        <p:sp>
          <p:nvSpPr>
            <p:cNvPr id="19" name="Freeform 18"/>
            <p:cNvSpPr/>
            <p:nvPr/>
          </p:nvSpPr>
          <p:spPr>
            <a:xfrm>
              <a:off x="2259263" y="1066913"/>
              <a:ext cx="3757021" cy="3505099"/>
            </a:xfrm>
            <a:custGeom>
              <a:avLst/>
              <a:gdLst>
                <a:gd name="connsiteX0" fmla="*/ 0 w 3757021"/>
                <a:gd name="connsiteY0" fmla="*/ 2572 h 3505099"/>
                <a:gd name="connsiteX1" fmla="*/ 708526 w 3757021"/>
                <a:gd name="connsiteY1" fmla="*/ 42678 h 3505099"/>
                <a:gd name="connsiteX2" fmla="*/ 1604211 w 3757021"/>
                <a:gd name="connsiteY2" fmla="*/ 296678 h 3505099"/>
                <a:gd name="connsiteX3" fmla="*/ 2540000 w 3757021"/>
                <a:gd name="connsiteY3" fmla="*/ 911625 h 3505099"/>
                <a:gd name="connsiteX4" fmla="*/ 3248526 w 3757021"/>
                <a:gd name="connsiteY4" fmla="*/ 1700362 h 3505099"/>
                <a:gd name="connsiteX5" fmla="*/ 3649579 w 3757021"/>
                <a:gd name="connsiteY5" fmla="*/ 2636151 h 3505099"/>
                <a:gd name="connsiteX6" fmla="*/ 3743158 w 3757021"/>
                <a:gd name="connsiteY6" fmla="*/ 3277836 h 3505099"/>
                <a:gd name="connsiteX7" fmla="*/ 3756526 w 3757021"/>
                <a:gd name="connsiteY7" fmla="*/ 3505099 h 3505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57021" h="3505099">
                  <a:moveTo>
                    <a:pt x="0" y="2572"/>
                  </a:moveTo>
                  <a:cubicBezTo>
                    <a:pt x="220578" y="-1884"/>
                    <a:pt x="441157" y="-6340"/>
                    <a:pt x="708526" y="42678"/>
                  </a:cubicBezTo>
                  <a:cubicBezTo>
                    <a:pt x="975895" y="91696"/>
                    <a:pt x="1298965" y="151854"/>
                    <a:pt x="1604211" y="296678"/>
                  </a:cubicBezTo>
                  <a:cubicBezTo>
                    <a:pt x="1909457" y="441502"/>
                    <a:pt x="2265948" y="677678"/>
                    <a:pt x="2540000" y="911625"/>
                  </a:cubicBezTo>
                  <a:cubicBezTo>
                    <a:pt x="2814053" y="1145572"/>
                    <a:pt x="3063596" y="1412941"/>
                    <a:pt x="3248526" y="1700362"/>
                  </a:cubicBezTo>
                  <a:cubicBezTo>
                    <a:pt x="3433456" y="1987783"/>
                    <a:pt x="3567140" y="2373239"/>
                    <a:pt x="3649579" y="2636151"/>
                  </a:cubicBezTo>
                  <a:cubicBezTo>
                    <a:pt x="3732018" y="2899063"/>
                    <a:pt x="3725334" y="3133011"/>
                    <a:pt x="3743158" y="3277836"/>
                  </a:cubicBezTo>
                  <a:cubicBezTo>
                    <a:pt x="3760983" y="3422661"/>
                    <a:pt x="3756526" y="3505099"/>
                    <a:pt x="3756526" y="3505099"/>
                  </a:cubicBezTo>
                </a:path>
              </a:pathLst>
            </a:cu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 flipH="1">
              <a:off x="775365" y="1066913"/>
              <a:ext cx="1636295" cy="5069192"/>
            </a:xfrm>
            <a:custGeom>
              <a:avLst/>
              <a:gdLst>
                <a:gd name="connsiteX0" fmla="*/ 0 w 3757021"/>
                <a:gd name="connsiteY0" fmla="*/ 2572 h 3505099"/>
                <a:gd name="connsiteX1" fmla="*/ 708526 w 3757021"/>
                <a:gd name="connsiteY1" fmla="*/ 42678 h 3505099"/>
                <a:gd name="connsiteX2" fmla="*/ 1604211 w 3757021"/>
                <a:gd name="connsiteY2" fmla="*/ 296678 h 3505099"/>
                <a:gd name="connsiteX3" fmla="*/ 2540000 w 3757021"/>
                <a:gd name="connsiteY3" fmla="*/ 911625 h 3505099"/>
                <a:gd name="connsiteX4" fmla="*/ 3248526 w 3757021"/>
                <a:gd name="connsiteY4" fmla="*/ 1700362 h 3505099"/>
                <a:gd name="connsiteX5" fmla="*/ 3649579 w 3757021"/>
                <a:gd name="connsiteY5" fmla="*/ 2636151 h 3505099"/>
                <a:gd name="connsiteX6" fmla="*/ 3743158 w 3757021"/>
                <a:gd name="connsiteY6" fmla="*/ 3277836 h 3505099"/>
                <a:gd name="connsiteX7" fmla="*/ 3756526 w 3757021"/>
                <a:gd name="connsiteY7" fmla="*/ 3505099 h 3505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57021" h="3505099">
                  <a:moveTo>
                    <a:pt x="0" y="2572"/>
                  </a:moveTo>
                  <a:cubicBezTo>
                    <a:pt x="220578" y="-1884"/>
                    <a:pt x="441157" y="-6340"/>
                    <a:pt x="708526" y="42678"/>
                  </a:cubicBezTo>
                  <a:cubicBezTo>
                    <a:pt x="975895" y="91696"/>
                    <a:pt x="1298965" y="151854"/>
                    <a:pt x="1604211" y="296678"/>
                  </a:cubicBezTo>
                  <a:cubicBezTo>
                    <a:pt x="1909457" y="441502"/>
                    <a:pt x="2265948" y="677678"/>
                    <a:pt x="2540000" y="911625"/>
                  </a:cubicBezTo>
                  <a:cubicBezTo>
                    <a:pt x="2814053" y="1145572"/>
                    <a:pt x="3063596" y="1412941"/>
                    <a:pt x="3248526" y="1700362"/>
                  </a:cubicBezTo>
                  <a:cubicBezTo>
                    <a:pt x="3433456" y="1987783"/>
                    <a:pt x="3567140" y="2373239"/>
                    <a:pt x="3649579" y="2636151"/>
                  </a:cubicBezTo>
                  <a:cubicBezTo>
                    <a:pt x="3732018" y="2899063"/>
                    <a:pt x="3725334" y="3133011"/>
                    <a:pt x="3743158" y="3277836"/>
                  </a:cubicBezTo>
                  <a:cubicBezTo>
                    <a:pt x="3760983" y="3422661"/>
                    <a:pt x="3756526" y="3505099"/>
                    <a:pt x="3756526" y="3505099"/>
                  </a:cubicBezTo>
                </a:path>
              </a:pathLst>
            </a:cu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 flipV="1">
              <a:off x="775366" y="4579683"/>
              <a:ext cx="5232892" cy="1556421"/>
            </a:xfrm>
            <a:custGeom>
              <a:avLst/>
              <a:gdLst>
                <a:gd name="connsiteX0" fmla="*/ 0 w 3757021"/>
                <a:gd name="connsiteY0" fmla="*/ 2572 h 3505099"/>
                <a:gd name="connsiteX1" fmla="*/ 708526 w 3757021"/>
                <a:gd name="connsiteY1" fmla="*/ 42678 h 3505099"/>
                <a:gd name="connsiteX2" fmla="*/ 1604211 w 3757021"/>
                <a:gd name="connsiteY2" fmla="*/ 296678 h 3505099"/>
                <a:gd name="connsiteX3" fmla="*/ 2540000 w 3757021"/>
                <a:gd name="connsiteY3" fmla="*/ 911625 h 3505099"/>
                <a:gd name="connsiteX4" fmla="*/ 3248526 w 3757021"/>
                <a:gd name="connsiteY4" fmla="*/ 1700362 h 3505099"/>
                <a:gd name="connsiteX5" fmla="*/ 3649579 w 3757021"/>
                <a:gd name="connsiteY5" fmla="*/ 2636151 h 3505099"/>
                <a:gd name="connsiteX6" fmla="*/ 3743158 w 3757021"/>
                <a:gd name="connsiteY6" fmla="*/ 3277836 h 3505099"/>
                <a:gd name="connsiteX7" fmla="*/ 3756526 w 3757021"/>
                <a:gd name="connsiteY7" fmla="*/ 3505099 h 3505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57021" h="3505099">
                  <a:moveTo>
                    <a:pt x="0" y="2572"/>
                  </a:moveTo>
                  <a:cubicBezTo>
                    <a:pt x="220578" y="-1884"/>
                    <a:pt x="441157" y="-6340"/>
                    <a:pt x="708526" y="42678"/>
                  </a:cubicBezTo>
                  <a:cubicBezTo>
                    <a:pt x="975895" y="91696"/>
                    <a:pt x="1298965" y="151854"/>
                    <a:pt x="1604211" y="296678"/>
                  </a:cubicBezTo>
                  <a:cubicBezTo>
                    <a:pt x="1909457" y="441502"/>
                    <a:pt x="2265948" y="677678"/>
                    <a:pt x="2540000" y="911625"/>
                  </a:cubicBezTo>
                  <a:cubicBezTo>
                    <a:pt x="2814053" y="1145572"/>
                    <a:pt x="3063596" y="1412941"/>
                    <a:pt x="3248526" y="1700362"/>
                  </a:cubicBezTo>
                  <a:cubicBezTo>
                    <a:pt x="3433456" y="1987783"/>
                    <a:pt x="3567140" y="2373239"/>
                    <a:pt x="3649579" y="2636151"/>
                  </a:cubicBezTo>
                  <a:cubicBezTo>
                    <a:pt x="3732018" y="2899063"/>
                    <a:pt x="3725334" y="3133011"/>
                    <a:pt x="3743158" y="3277836"/>
                  </a:cubicBezTo>
                  <a:cubicBezTo>
                    <a:pt x="3760983" y="3422661"/>
                    <a:pt x="3756526" y="3505099"/>
                    <a:pt x="3756526" y="3505099"/>
                  </a:cubicBezTo>
                </a:path>
              </a:pathLst>
            </a:cu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1802081" y="909053"/>
            <a:ext cx="366292" cy="3277848"/>
            <a:chOff x="2096177" y="909053"/>
            <a:chExt cx="366292" cy="3277848"/>
          </a:xfrm>
          <a:effectLst/>
        </p:grpSpPr>
        <p:cxnSp>
          <p:nvCxnSpPr>
            <p:cNvPr id="3" name="Straight Connector 2"/>
            <p:cNvCxnSpPr/>
            <p:nvPr/>
          </p:nvCxnSpPr>
          <p:spPr>
            <a:xfrm>
              <a:off x="2098841" y="909053"/>
              <a:ext cx="352924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2104193" y="1195133"/>
              <a:ext cx="352924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2104193" y="1475861"/>
              <a:ext cx="352924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2096177" y="1788677"/>
              <a:ext cx="352924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2104193" y="2117525"/>
              <a:ext cx="352924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2109545" y="2403605"/>
              <a:ext cx="352924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2109545" y="2684333"/>
              <a:ext cx="352924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2101529" y="2997149"/>
              <a:ext cx="352924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2104193" y="3253805"/>
              <a:ext cx="352924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2109545" y="3553253"/>
              <a:ext cx="352924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2109545" y="3874085"/>
              <a:ext cx="352924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2101529" y="4186901"/>
              <a:ext cx="352924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/>
          <p:cNvGrpSpPr/>
          <p:nvPr/>
        </p:nvGrpSpPr>
        <p:grpSpPr>
          <a:xfrm rot="5400000">
            <a:off x="3984742" y="2737473"/>
            <a:ext cx="366292" cy="3642344"/>
            <a:chOff x="2096177" y="909053"/>
            <a:chExt cx="366292" cy="3277848"/>
          </a:xfrm>
          <a:effectLst/>
        </p:grpSpPr>
        <p:cxnSp>
          <p:nvCxnSpPr>
            <p:cNvPr id="54" name="Straight Connector 53"/>
            <p:cNvCxnSpPr/>
            <p:nvPr/>
          </p:nvCxnSpPr>
          <p:spPr>
            <a:xfrm>
              <a:off x="2098841" y="909053"/>
              <a:ext cx="352924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2104193" y="1195133"/>
              <a:ext cx="352924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2104193" y="1475861"/>
              <a:ext cx="352924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2096177" y="1788677"/>
              <a:ext cx="352924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2104193" y="2117525"/>
              <a:ext cx="352924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2109545" y="2403605"/>
              <a:ext cx="352924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2109545" y="2684333"/>
              <a:ext cx="352924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2101529" y="2997149"/>
              <a:ext cx="352924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>
              <a:off x="2104193" y="3307277"/>
              <a:ext cx="352924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2109545" y="3629448"/>
              <a:ext cx="352924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2109545" y="3874085"/>
              <a:ext cx="352924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>
              <a:off x="2101529" y="4186901"/>
              <a:ext cx="352924" cy="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159057" y="4634847"/>
            <a:ext cx="1930457" cy="1620216"/>
            <a:chOff x="453153" y="4634847"/>
            <a:chExt cx="1930457" cy="1620216"/>
          </a:xfrm>
          <a:effectLst/>
        </p:grpSpPr>
        <p:cxnSp>
          <p:nvCxnSpPr>
            <p:cNvPr id="8" name="Straight Connector 7"/>
            <p:cNvCxnSpPr/>
            <p:nvPr/>
          </p:nvCxnSpPr>
          <p:spPr>
            <a:xfrm flipV="1">
              <a:off x="1950345" y="4634847"/>
              <a:ext cx="433265" cy="2664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 flipV="1">
              <a:off x="1862121" y="4747143"/>
              <a:ext cx="433265" cy="2664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 flipV="1">
              <a:off x="1755177" y="4867455"/>
              <a:ext cx="433265" cy="2664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 flipV="1">
              <a:off x="1653585" y="4993119"/>
              <a:ext cx="433265" cy="2664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 flipV="1">
              <a:off x="1541289" y="5108079"/>
              <a:ext cx="433265" cy="2664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 flipV="1">
              <a:off x="1426329" y="5247111"/>
              <a:ext cx="433265" cy="2664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/>
            <p:nvPr/>
          </p:nvCxnSpPr>
          <p:spPr>
            <a:xfrm flipV="1">
              <a:off x="1319385" y="5380791"/>
              <a:ext cx="433265" cy="2664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>
            <a:xfrm flipV="1">
              <a:off x="1191057" y="5493087"/>
              <a:ext cx="433265" cy="2664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 flipV="1">
              <a:off x="1067920" y="5632112"/>
              <a:ext cx="433265" cy="2664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/>
          </p:nvCxnSpPr>
          <p:spPr>
            <a:xfrm flipV="1">
              <a:off x="875577" y="5819271"/>
              <a:ext cx="433265" cy="2664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>
            <a:xfrm flipV="1">
              <a:off x="693777" y="6011775"/>
              <a:ext cx="433265" cy="2664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 flipV="1">
              <a:off x="453153" y="6252399"/>
              <a:ext cx="433265" cy="2664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ctangle 14"/>
          <p:cNvSpPr/>
          <p:nvPr/>
        </p:nvSpPr>
        <p:spPr>
          <a:xfrm>
            <a:off x="4763378" y="1121881"/>
            <a:ext cx="4180096" cy="2287806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marL="430213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We can determine </a:t>
            </a: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g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e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) by using the “volume” (the number of states) of a shell in </a:t>
            </a: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k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-space.</a:t>
            </a:r>
            <a:endParaRPr lang="en-GB" sz="20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000" dirty="0">
                <a:solidFill>
                  <a:srgbClr val="000000"/>
                </a:solidFill>
                <a:latin typeface="Times New Roman" pitchFamily="18" charset="0"/>
              </a:rPr>
              <a:t>Volume in </a:t>
            </a:r>
            <a:r>
              <a:rPr lang="en-GB" sz="2000" i="1" dirty="0">
                <a:solidFill>
                  <a:srgbClr val="000000"/>
                </a:solidFill>
                <a:latin typeface="Times New Roman" pitchFamily="18" charset="0"/>
              </a:rPr>
              <a:t>k</a:t>
            </a:r>
            <a:r>
              <a:rPr lang="en-GB" sz="2000" dirty="0">
                <a:solidFill>
                  <a:srgbClr val="000000"/>
                </a:solidFill>
                <a:latin typeface="Times New Roman" pitchFamily="18" charset="0"/>
              </a:rPr>
              <a:t>-space has units of m</a:t>
            </a:r>
            <a:r>
              <a:rPr lang="en-GB" sz="2000" baseline="30000" dirty="0">
                <a:solidFill>
                  <a:srgbClr val="000000"/>
                </a:solidFill>
                <a:latin typeface="Times New Roman" pitchFamily="18" charset="0"/>
              </a:rPr>
              <a:t>-3</a:t>
            </a:r>
            <a:r>
              <a:rPr lang="en-GB" sz="2000" dirty="0">
                <a:solidFill>
                  <a:srgbClr val="000000"/>
                </a:solidFill>
                <a:latin typeface="Times New Roman" pitchFamily="18" charset="0"/>
              </a:rPr>
              <a:t> = m</a:t>
            </a:r>
            <a:r>
              <a:rPr lang="en-GB" sz="2000" i="1" baseline="-25000" dirty="0">
                <a:solidFill>
                  <a:srgbClr val="000000"/>
                </a:solidFill>
                <a:latin typeface="Times New Roman" pitchFamily="18" charset="0"/>
              </a:rPr>
              <a:t>k</a:t>
            </a:r>
            <a:r>
              <a:rPr lang="en-GB" sz="2000" i="1" baseline="30000" dirty="0">
                <a:solidFill>
                  <a:srgbClr val="000000"/>
                </a:solidFill>
                <a:latin typeface="Times New Roman" pitchFamily="18" charset="0"/>
              </a:rPr>
              <a:t>3</a:t>
            </a:r>
            <a:r>
              <a:rPr lang="en-GB" sz="200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</a:p>
        </p:txBody>
      </p:sp>
      <p:cxnSp>
        <p:nvCxnSpPr>
          <p:cNvPr id="96" name="Straight Arrow Connector 95"/>
          <p:cNvCxnSpPr/>
          <p:nvPr/>
        </p:nvCxnSpPr>
        <p:spPr>
          <a:xfrm flipV="1">
            <a:off x="1978531" y="3553253"/>
            <a:ext cx="715786" cy="985326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7" name="Group 96"/>
          <p:cNvGrpSpPr/>
          <p:nvPr/>
        </p:nvGrpSpPr>
        <p:grpSpPr>
          <a:xfrm>
            <a:off x="2694317" y="3125463"/>
            <a:ext cx="494906" cy="427790"/>
            <a:chOff x="2587625" y="2921000"/>
            <a:chExt cx="4064000" cy="3381374"/>
          </a:xfrm>
          <a:effectLst/>
        </p:grpSpPr>
        <p:sp>
          <p:nvSpPr>
            <p:cNvPr id="98" name="Cube 97"/>
            <p:cNvSpPr/>
            <p:nvPr/>
          </p:nvSpPr>
          <p:spPr>
            <a:xfrm>
              <a:off x="2587625" y="2921000"/>
              <a:ext cx="4064000" cy="3381374"/>
            </a:xfrm>
            <a:prstGeom prst="cube">
              <a:avLst/>
            </a:prstGeom>
            <a:noFill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9" name="Straight Connector 98"/>
            <p:cNvCxnSpPr/>
            <p:nvPr/>
          </p:nvCxnSpPr>
          <p:spPr>
            <a:xfrm flipH="1" flipV="1">
              <a:off x="3444875" y="5413375"/>
              <a:ext cx="3206750" cy="31750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>
              <a:off x="3429000" y="2921000"/>
              <a:ext cx="15875" cy="2492375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flipH="1">
              <a:off x="2587625" y="5429250"/>
              <a:ext cx="857250" cy="873124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" name="Rectangle 101"/>
          <p:cNvSpPr/>
          <p:nvPr/>
        </p:nvSpPr>
        <p:spPr>
          <a:xfrm>
            <a:off x="2225673" y="2662164"/>
            <a:ext cx="1819203" cy="369332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A state in k-space</a:t>
            </a:r>
            <a:endParaRPr lang="en-US" dirty="0"/>
          </a:p>
        </p:txBody>
      </p:sp>
      <p:sp>
        <p:nvSpPr>
          <p:cNvPr id="103" name="Rectangle 102"/>
          <p:cNvSpPr/>
          <p:nvPr/>
        </p:nvSpPr>
        <p:spPr>
          <a:xfrm>
            <a:off x="7779300" y="3380767"/>
            <a:ext cx="1018227" cy="646331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Units:</a:t>
            </a:r>
          </a:p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states/</a:t>
            </a:r>
            <a:r>
              <a:rPr lang="en-GB" dirty="0" err="1">
                <a:solidFill>
                  <a:srgbClr val="000000"/>
                </a:solidFill>
                <a:latin typeface="Times New Roman" pitchFamily="18" charset="0"/>
              </a:rPr>
              <a:t>m</a:t>
            </a:r>
            <a:r>
              <a:rPr lang="en-GB" baseline="-25000" dirty="0" err="1">
                <a:solidFill>
                  <a:srgbClr val="000000"/>
                </a:solidFill>
                <a:latin typeface="Times New Roman" pitchFamily="18" charset="0"/>
              </a:rPr>
              <a:t>k</a:t>
            </a:r>
            <a:endParaRPr lang="en-US" baseline="-25000" dirty="0"/>
          </a:p>
        </p:txBody>
      </p:sp>
      <p:sp>
        <p:nvSpPr>
          <p:cNvPr id="104" name="Rectangle 103"/>
          <p:cNvSpPr/>
          <p:nvPr/>
        </p:nvSpPr>
        <p:spPr>
          <a:xfrm>
            <a:off x="5486885" y="4763640"/>
            <a:ext cx="3657115" cy="707886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marL="430213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000" dirty="0">
                <a:solidFill>
                  <a:srgbClr val="000000"/>
                </a:solidFill>
                <a:latin typeface="Times New Roman" pitchFamily="18" charset="0"/>
              </a:rPr>
              <a:t>From particle in a box energy formula: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176781" y="5549521"/>
            <a:ext cx="891473" cy="646331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Units:</a:t>
            </a:r>
          </a:p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states/</a:t>
            </a:r>
            <a:r>
              <a:rPr lang="en-GB" i="1" dirty="0">
                <a:solidFill>
                  <a:srgbClr val="000000"/>
                </a:solidFill>
                <a:latin typeface="Times New Roman" pitchFamily="18" charset="0"/>
              </a:rPr>
              <a:t>J</a:t>
            </a:r>
            <a:endParaRPr lang="en-US" i="1" baseline="-25000" dirty="0"/>
          </a:p>
        </p:txBody>
      </p:sp>
      <p:sp>
        <p:nvSpPr>
          <p:cNvPr id="110" name="Rectangle 109"/>
          <p:cNvSpPr/>
          <p:nvPr/>
        </p:nvSpPr>
        <p:spPr>
          <a:xfrm>
            <a:off x="5099772" y="6337731"/>
            <a:ext cx="4185761" cy="369332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GB" b="1" dirty="0">
                <a:solidFill>
                  <a:srgbClr val="000000"/>
                </a:solidFill>
                <a:latin typeface="Times New Roman" pitchFamily="18" charset="0"/>
              </a:rPr>
              <a:t>Energy degeneracy in a box of particles</a:t>
            </a:r>
            <a:endParaRPr lang="en-US" b="1" dirty="0"/>
          </a:p>
        </p:txBody>
      </p:sp>
      <p:sp>
        <p:nvSpPr>
          <p:cNvPr id="2" name="Rectangle 1"/>
          <p:cNvSpPr/>
          <p:nvPr/>
        </p:nvSpPr>
        <p:spPr>
          <a:xfrm>
            <a:off x="5580631" y="5389215"/>
            <a:ext cx="3469622" cy="1000490"/>
          </a:xfrm>
          <a:prstGeom prst="rect">
            <a:avLst/>
          </a:prstGeom>
          <a:noFill/>
          <a:ln w="28575" cmpd="sng">
            <a:solidFill>
              <a:srgbClr val="0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E79CDF4-3B5C-F0D8-D19A-BEDD5465C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244" y="3395359"/>
            <a:ext cx="1390886" cy="6047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417057-C2B2-7661-410C-22B3314AF9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2595" y="5749474"/>
            <a:ext cx="491582" cy="1920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D30594C-F439-A14E-85C7-054F29CC63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6859" y="5545009"/>
            <a:ext cx="2249994" cy="6889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1EE29F6-DE49-F673-0EC7-44F166A8A8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0259" y="5493087"/>
            <a:ext cx="2419257" cy="70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672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/>
      <p:bldP spid="104" grpId="0"/>
      <p:bldP spid="109" grpId="0"/>
      <p:bldP spid="110" grpId="0"/>
      <p:bldP spid="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90350" y="18325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600" dirty="0">
                <a:solidFill>
                  <a:srgbClr val="000000"/>
                </a:solidFill>
                <a:latin typeface="Times New Roman" pitchFamily="18" charset="0"/>
              </a:rPr>
              <a:t>Another Look at Energy Degeneracy in the Box </a:t>
            </a:r>
            <a:endParaRPr lang="en-GB" sz="4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5737729" y="1657695"/>
            <a:ext cx="973221" cy="882316"/>
          </a:xfrm>
          <a:prstGeom prst="ellipse">
            <a:avLst/>
          </a:prstGeom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1" name="Picture 9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5978" y="3879877"/>
            <a:ext cx="4724972" cy="2962897"/>
          </a:xfrm>
          <a:prstGeom prst="rect">
            <a:avLst/>
          </a:prstGeom>
        </p:spPr>
      </p:pic>
      <p:pic>
        <p:nvPicPr>
          <p:cNvPr id="93" name="Picture 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1321" y="3457263"/>
            <a:ext cx="3349608" cy="631340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 rot="16200000">
            <a:off x="1015993" y="4932929"/>
            <a:ext cx="16405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/>
                <a:cs typeface="Times New Roman"/>
              </a:rPr>
              <a:t># of states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710950" y="6319554"/>
            <a:ext cx="12150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/>
                <a:cs typeface="Times New Roman"/>
              </a:rPr>
              <a:t>Energy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90350" y="3045559"/>
            <a:ext cx="8686800" cy="93551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From the PIAB unit, </a:t>
            </a:r>
            <a:r>
              <a:rPr lang="en-GB" sz="2800">
                <a:solidFill>
                  <a:srgbClr val="000000"/>
                </a:solidFill>
                <a:latin typeface="Times New Roman" pitchFamily="18" charset="0"/>
              </a:rPr>
              <a:t>solving a 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Diophantine equation: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8236C2-E1D7-8C5E-B7E2-7E56E0F874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7150" y="1566850"/>
            <a:ext cx="3949700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012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4" grpId="0"/>
      <p:bldP spid="95" grpId="0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E7B63-5B68-DE53-6F87-70F4AC7BE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8C54B34F-767E-FC4C-F3DE-C1A495C80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99A0CBB-DD78-8452-7FA2-66156DB90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18" y="11641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Maxwell-Boltzmann distribution</a:t>
            </a:r>
          </a:p>
        </p:txBody>
      </p:sp>
      <p:sp>
        <p:nvSpPr>
          <p:cNvPr id="42" name="Rectangle 5">
            <a:extLst>
              <a:ext uri="{FF2B5EF4-FFF2-40B4-BE49-F238E27FC236}">
                <a16:creationId xmlns:a16="http://schemas.microsoft.com/office/drawing/2014/main" id="{E7B63177-829F-E42B-0204-B7CFB4C9E1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043302"/>
            <a:ext cx="8686800" cy="93551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Using </a:t>
            </a:r>
            <a:r>
              <a:rPr lang="en-GB" sz="3200" i="1" dirty="0">
                <a:solidFill>
                  <a:srgbClr val="000000"/>
                </a:solidFill>
                <a:latin typeface="Times New Roman" pitchFamily="18" charset="0"/>
              </a:rPr>
              <a:t>g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GB" sz="3200" i="1" dirty="0">
                <a:solidFill>
                  <a:srgbClr val="000000"/>
                </a:solidFill>
                <a:latin typeface="Times New Roman" pitchFamily="18" charset="0"/>
              </a:rPr>
              <a:t>E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) to get </a:t>
            </a:r>
            <a:r>
              <a:rPr lang="en-GB" sz="3200" i="1" dirty="0">
                <a:solidFill>
                  <a:srgbClr val="000000"/>
                </a:solidFill>
                <a:latin typeface="Times New Roman" pitchFamily="18" charset="0"/>
              </a:rPr>
              <a:t>Z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: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1C6FE6BC-0F4F-9086-F1E6-F5E311601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254439"/>
            <a:ext cx="8686800" cy="93551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Finally substituting in </a:t>
            </a:r>
            <a:r>
              <a:rPr lang="en-GB" sz="3200" i="1" dirty="0">
                <a:solidFill>
                  <a:srgbClr val="000000"/>
                </a:solidFill>
                <a:latin typeface="Times New Roman" pitchFamily="18" charset="0"/>
              </a:rPr>
              <a:t>p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GB" sz="3200" i="1" dirty="0">
                <a:solidFill>
                  <a:srgbClr val="000000"/>
                </a:solidFill>
                <a:latin typeface="Times New Roman" pitchFamily="18" charset="0"/>
              </a:rPr>
              <a:t>E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):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A6BF9F-5043-8523-0F5F-D8B076F55E9C}"/>
              </a:ext>
            </a:extLst>
          </p:cNvPr>
          <p:cNvSpPr/>
          <p:nvPr/>
        </p:nvSpPr>
        <p:spPr>
          <a:xfrm>
            <a:off x="671345" y="5940561"/>
            <a:ext cx="7885216" cy="400110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GB" sz="2000" b="1" dirty="0">
                <a:solidFill>
                  <a:srgbClr val="000000"/>
                </a:solidFill>
                <a:latin typeface="Times New Roman" pitchFamily="18" charset="0"/>
              </a:rPr>
              <a:t>Maxwell-Boltzmann “Distribution” </a:t>
            </a:r>
            <a:r>
              <a:rPr lang="en-GB" sz="2000" dirty="0">
                <a:solidFill>
                  <a:srgbClr val="000000"/>
                </a:solidFill>
                <a:latin typeface="Times New Roman" pitchFamily="18" charset="0"/>
              </a:rPr>
              <a:t>for distinguishable particles in a box</a:t>
            </a:r>
            <a:endParaRPr lang="en-US" sz="2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D0CB77-C363-B4AC-2933-A138DD0E4566}"/>
              </a:ext>
            </a:extLst>
          </p:cNvPr>
          <p:cNvSpPr/>
          <p:nvPr/>
        </p:nvSpPr>
        <p:spPr>
          <a:xfrm>
            <a:off x="5765180" y="1451725"/>
            <a:ext cx="3223836" cy="1704344"/>
          </a:xfrm>
          <a:prstGeom prst="rect">
            <a:avLst/>
          </a:prstGeom>
          <a:noFill/>
          <a:ln w="28575" cmpd="sng">
            <a:solidFill>
              <a:srgbClr val="0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7C2F96-3BD8-5F51-D838-0D0792560621}"/>
              </a:ext>
            </a:extLst>
          </p:cNvPr>
          <p:cNvSpPr/>
          <p:nvPr/>
        </p:nvSpPr>
        <p:spPr>
          <a:xfrm>
            <a:off x="4683512" y="4273962"/>
            <a:ext cx="4158272" cy="1250437"/>
          </a:xfrm>
          <a:prstGeom prst="rect">
            <a:avLst/>
          </a:prstGeom>
          <a:noFill/>
          <a:ln w="28575" cmpd="sng">
            <a:solidFill>
              <a:srgbClr val="0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D9C721-34D4-CE29-9145-19F3030B7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216" y="1798509"/>
            <a:ext cx="4686300" cy="1079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ADC1EE-DA0D-41FE-BDAE-2D21BCCEC0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2393" y="1548275"/>
            <a:ext cx="3509392" cy="145006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39DA609-880D-EFF6-BF9F-FF83B5437F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023" y="4446008"/>
            <a:ext cx="3605985" cy="80617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2A060AD-BBD5-488E-287E-2C3DF8276D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1106" y="4410907"/>
            <a:ext cx="4423053" cy="915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095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7" grpId="0"/>
      <p:bldP spid="10" grpId="0" animBg="1"/>
      <p:bldP spid="1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3718" y="11641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Maxwell-Boltzmann distribution</a:t>
            </a:r>
          </a:p>
        </p:txBody>
      </p:sp>
      <p:sp>
        <p:nvSpPr>
          <p:cNvPr id="42" name="Rectangle 5"/>
          <p:cNvSpPr>
            <a:spLocks noChangeArrowheads="1"/>
          </p:cNvSpPr>
          <p:nvPr/>
        </p:nvSpPr>
        <p:spPr bwMode="auto">
          <a:xfrm>
            <a:off x="228600" y="1043302"/>
            <a:ext cx="8686800" cy="93551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What does this probability density like like?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7981" y="6381724"/>
            <a:ext cx="2778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/>
                <a:cs typeface="Times New Roman"/>
              </a:rPr>
              <a:t>x = E</a:t>
            </a:r>
            <a:r>
              <a:rPr lang="en-US" dirty="0">
                <a:latin typeface="Times New Roman"/>
                <a:cs typeface="Times New Roman"/>
              </a:rPr>
              <a:t>/(</a:t>
            </a:r>
            <a:r>
              <a:rPr lang="en-US" i="1" dirty="0" err="1">
                <a:latin typeface="Times New Roman"/>
                <a:cs typeface="Times New Roman"/>
              </a:rPr>
              <a:t>k</a:t>
            </a:r>
            <a:r>
              <a:rPr lang="en-US" i="1" baseline="-25000" dirty="0" err="1">
                <a:latin typeface="Times New Roman"/>
                <a:cs typeface="Times New Roman"/>
              </a:rPr>
              <a:t>B</a:t>
            </a:r>
            <a:r>
              <a:rPr lang="en-US" i="1" dirty="0" err="1">
                <a:latin typeface="Times New Roman"/>
                <a:cs typeface="Times New Roman"/>
              </a:rPr>
              <a:t>T</a:t>
            </a:r>
            <a:r>
              <a:rPr lang="en-US" dirty="0">
                <a:latin typeface="Times New Roman"/>
                <a:cs typeface="Times New Roman"/>
              </a:rPr>
              <a:t>) (scaled energy)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84487" y="2865483"/>
            <a:ext cx="3730913" cy="1200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Draw a particle from the box. What energy is it most likely to have?</a:t>
            </a:r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 rot="16200000">
            <a:off x="-809999" y="4098582"/>
            <a:ext cx="2748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/>
                <a:cs typeface="Times New Roman"/>
              </a:rPr>
              <a:t>(</a:t>
            </a:r>
            <a:r>
              <a:rPr lang="en-US" i="1" dirty="0" err="1">
                <a:latin typeface="Times New Roman"/>
                <a:cs typeface="Times New Roman"/>
              </a:rPr>
              <a:t>k</a:t>
            </a:r>
            <a:r>
              <a:rPr lang="en-US" i="1" baseline="-25000" dirty="0" err="1">
                <a:latin typeface="Times New Roman"/>
                <a:cs typeface="Times New Roman"/>
              </a:rPr>
              <a:t>B</a:t>
            </a:r>
            <a:r>
              <a:rPr lang="en-US" i="1" dirty="0" err="1">
                <a:latin typeface="Times New Roman"/>
                <a:cs typeface="Times New Roman"/>
              </a:rPr>
              <a:t>T</a:t>
            </a:r>
            <a:r>
              <a:rPr lang="en-US" i="1" dirty="0">
                <a:latin typeface="Times New Roman"/>
                <a:cs typeface="Times New Roman"/>
              </a:rPr>
              <a:t>)</a:t>
            </a:r>
            <a:r>
              <a:rPr lang="en-US" i="1" baseline="30000" dirty="0">
                <a:latin typeface="Times New Roman"/>
                <a:cs typeface="Times New Roman"/>
              </a:rPr>
              <a:t>3</a:t>
            </a:r>
            <a:r>
              <a:rPr lang="en-US" i="1" dirty="0">
                <a:latin typeface="Times New Roman"/>
                <a:cs typeface="Times New Roman"/>
              </a:rPr>
              <a:t> p</a:t>
            </a:r>
            <a:r>
              <a:rPr lang="en-US" dirty="0">
                <a:latin typeface="Times New Roman"/>
                <a:cs typeface="Times New Roman"/>
              </a:rPr>
              <a:t>(</a:t>
            </a:r>
            <a:r>
              <a:rPr lang="en-US" i="1" dirty="0">
                <a:latin typeface="Times New Roman"/>
                <a:cs typeface="Times New Roman"/>
              </a:rPr>
              <a:t>E</a:t>
            </a:r>
            <a:r>
              <a:rPr lang="en-US" dirty="0">
                <a:latin typeface="Times New Roman"/>
                <a:cs typeface="Times New Roman"/>
              </a:rPr>
              <a:t>) (scaled density)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904" y="2166354"/>
            <a:ext cx="6858000" cy="43307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9134" y="2005549"/>
            <a:ext cx="3720748" cy="58489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5"/>
          <a:srcRect l="71053"/>
          <a:stretch/>
        </p:blipFill>
        <p:spPr>
          <a:xfrm>
            <a:off x="6272463" y="2032673"/>
            <a:ext cx="1634575" cy="57718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184487" y="4340330"/>
            <a:ext cx="3730913" cy="1200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Past how much energy do you not expect to find too many particles?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70766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5" grpId="0"/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3718" y="11641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3D Box/Degeneracy problem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233952" y="1118438"/>
            <a:ext cx="8686800" cy="225040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Consider a 3D box (side length 1 </a:t>
            </a:r>
            <a:r>
              <a:rPr lang="en-GB" sz="2400" dirty="0" err="1">
                <a:solidFill>
                  <a:srgbClr val="000000"/>
                </a:solidFill>
                <a:latin typeface="Times New Roman" pitchFamily="18" charset="0"/>
              </a:rPr>
              <a:t>dm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) filled with 1 </a:t>
            </a:r>
            <a:r>
              <a:rPr lang="en-GB" sz="2400" dirty="0" err="1">
                <a:solidFill>
                  <a:srgbClr val="000000"/>
                </a:solidFill>
                <a:latin typeface="Times New Roman" pitchFamily="18" charset="0"/>
              </a:rPr>
              <a:t>mol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 of </a:t>
            </a:r>
            <a:r>
              <a:rPr lang="en-GB" sz="2400" dirty="0" err="1">
                <a:solidFill>
                  <a:srgbClr val="000000"/>
                </a:solidFill>
                <a:latin typeface="Times New Roman" pitchFamily="18" charset="0"/>
              </a:rPr>
              <a:t>HCl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 gas (36.46 g/</a:t>
            </a:r>
            <a:r>
              <a:rPr lang="en-GB" sz="2400" dirty="0" err="1">
                <a:solidFill>
                  <a:srgbClr val="000000"/>
                </a:solidFill>
                <a:latin typeface="Times New Roman" pitchFamily="18" charset="0"/>
              </a:rPr>
              <a:t>mol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) at 273 K. </a:t>
            </a:r>
          </a:p>
          <a:p>
            <a:pPr marL="1477963" lvl="2" indent="-457200">
              <a:spcBef>
                <a:spcPts val="800"/>
              </a:spcBef>
              <a:buFont typeface="+mj-lt"/>
              <a:buAutoNum type="alphaLcPeriod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000" dirty="0">
                <a:solidFill>
                  <a:srgbClr val="000000"/>
                </a:solidFill>
                <a:latin typeface="Times New Roman" pitchFamily="18" charset="0"/>
              </a:rPr>
              <a:t>Compute the log of the partition function.</a:t>
            </a:r>
          </a:p>
          <a:p>
            <a:pPr marL="1477963" lvl="2" indent="-457200">
              <a:spcBef>
                <a:spcPts val="800"/>
              </a:spcBef>
              <a:buFont typeface="+mj-lt"/>
              <a:buAutoNum type="alphaLcPeriod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000" dirty="0">
                <a:solidFill>
                  <a:srgbClr val="000000"/>
                </a:solidFill>
                <a:latin typeface="Times New Roman" pitchFamily="18" charset="0"/>
              </a:rPr>
              <a:t>Assuming the </a:t>
            </a:r>
            <a:r>
              <a:rPr lang="en-GB" sz="2000" dirty="0" err="1">
                <a:solidFill>
                  <a:srgbClr val="000000"/>
                </a:solidFill>
                <a:latin typeface="Times New Roman" pitchFamily="18" charset="0"/>
              </a:rPr>
              <a:t>HCl</a:t>
            </a:r>
            <a:r>
              <a:rPr lang="en-GB" sz="2000" dirty="0">
                <a:solidFill>
                  <a:srgbClr val="000000"/>
                </a:solidFill>
                <a:latin typeface="Times New Roman" pitchFamily="18" charset="0"/>
              </a:rPr>
              <a:t> molecules occupy P.I.A.B. states, approximately how many states are available up to an energy of 1</a:t>
            </a:r>
            <a:r>
              <a:rPr lang="en-GB" sz="2000" i="1" dirty="0">
                <a:solidFill>
                  <a:srgbClr val="000000"/>
                </a:solidFill>
                <a:latin typeface="Times New Roman" pitchFamily="18" charset="0"/>
              </a:rPr>
              <a:t>k</a:t>
            </a:r>
            <a:r>
              <a:rPr lang="en-GB" sz="2000" i="1" baseline="-25000" dirty="0">
                <a:solidFill>
                  <a:srgbClr val="000000"/>
                </a:solidFill>
                <a:latin typeface="Times New Roman" pitchFamily="18" charset="0"/>
              </a:rPr>
              <a:t>B</a:t>
            </a:r>
            <a:r>
              <a:rPr lang="en-GB" sz="2000" i="1" dirty="0">
                <a:solidFill>
                  <a:srgbClr val="000000"/>
                </a:solidFill>
                <a:latin typeface="Times New Roman" pitchFamily="18" charset="0"/>
              </a:rPr>
              <a:t>T</a:t>
            </a:r>
            <a:r>
              <a:rPr lang="en-GB" sz="2000" dirty="0">
                <a:solidFill>
                  <a:srgbClr val="000000"/>
                </a:solidFill>
                <a:latin typeface="Times New Roman" pitchFamily="18" charset="0"/>
              </a:rPr>
              <a:t> at 273K. Hint: Compute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9473" y="3142231"/>
            <a:ext cx="1364914" cy="63049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3718" y="3786092"/>
            <a:ext cx="845284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20763" lvl="2">
              <a:spcBef>
                <a:spcPts val="800"/>
              </a:spcBef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000" dirty="0">
                <a:solidFill>
                  <a:srgbClr val="000000"/>
                </a:solidFill>
                <a:latin typeface="Times New Roman" pitchFamily="18" charset="0"/>
              </a:rPr>
              <a:t>Do it symbolically first. Log the result, plug in and then “e” back. That is better form. 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952" y="4718767"/>
            <a:ext cx="820261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77963" lvl="2" indent="-457200">
              <a:spcBef>
                <a:spcPts val="800"/>
              </a:spcBef>
              <a:buFont typeface="+mj-lt"/>
              <a:buAutoNum type="alphaLcPeriod" startAt="3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000" dirty="0">
                <a:solidFill>
                  <a:srgbClr val="000000"/>
                </a:solidFill>
                <a:latin typeface="Times New Roman" pitchFamily="18" charset="0"/>
              </a:rPr>
              <a:t>Compute the probability of reaching into the box and pulling out an </a:t>
            </a:r>
            <a:r>
              <a:rPr lang="en-GB" sz="2000" dirty="0" err="1">
                <a:solidFill>
                  <a:srgbClr val="000000"/>
                </a:solidFill>
                <a:latin typeface="Times New Roman" pitchFamily="18" charset="0"/>
              </a:rPr>
              <a:t>HCl</a:t>
            </a:r>
            <a:r>
              <a:rPr lang="en-GB" sz="2000" dirty="0">
                <a:solidFill>
                  <a:srgbClr val="000000"/>
                </a:solidFill>
                <a:latin typeface="Times New Roman" pitchFamily="18" charset="0"/>
              </a:rPr>
              <a:t> molecule of energy between 0 </a:t>
            </a:r>
            <a:r>
              <a:rPr lang="en-GB" sz="2000" i="1" dirty="0">
                <a:solidFill>
                  <a:srgbClr val="000000"/>
                </a:solidFill>
                <a:latin typeface="Times New Roman" pitchFamily="18" charset="0"/>
              </a:rPr>
              <a:t>J</a:t>
            </a:r>
            <a:r>
              <a:rPr lang="en-GB" sz="2000" dirty="0">
                <a:solidFill>
                  <a:srgbClr val="000000"/>
                </a:solidFill>
                <a:latin typeface="Times New Roman" pitchFamily="18" charset="0"/>
              </a:rPr>
              <a:t> and 1</a:t>
            </a:r>
            <a:r>
              <a:rPr lang="en-GB" sz="2000" i="1" dirty="0">
                <a:solidFill>
                  <a:srgbClr val="000000"/>
                </a:solidFill>
                <a:latin typeface="Times New Roman" pitchFamily="18" charset="0"/>
              </a:rPr>
              <a:t>k</a:t>
            </a:r>
            <a:r>
              <a:rPr lang="en-GB" sz="2000" i="1" baseline="-25000" dirty="0">
                <a:solidFill>
                  <a:srgbClr val="000000"/>
                </a:solidFill>
                <a:latin typeface="Times New Roman" pitchFamily="18" charset="0"/>
              </a:rPr>
              <a:t>B</a:t>
            </a:r>
            <a:r>
              <a:rPr lang="en-GB" sz="2000" i="1" dirty="0">
                <a:solidFill>
                  <a:srgbClr val="000000"/>
                </a:solidFill>
                <a:latin typeface="Times New Roman" pitchFamily="18" charset="0"/>
              </a:rPr>
              <a:t>T</a:t>
            </a:r>
            <a:r>
              <a:rPr lang="en-GB" sz="2000" dirty="0">
                <a:solidFill>
                  <a:srgbClr val="000000"/>
                </a:solidFill>
                <a:latin typeface="Times New Roman" pitchFamily="18" charset="0"/>
              </a:rPr>
              <a:t> at 273K. Hint: Compute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9121" y="5678283"/>
            <a:ext cx="1417721" cy="654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4848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3718" y="11641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3D Box/Degeneracy problem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F40694-9759-DE4B-A26C-0770ECABA0D1}"/>
              </a:ext>
            </a:extLst>
          </p:cNvPr>
          <p:cNvSpPr/>
          <p:nvPr/>
        </p:nvSpPr>
        <p:spPr>
          <a:xfrm>
            <a:off x="623518" y="1103726"/>
            <a:ext cx="3449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a.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6B2718-8448-ED4B-8DE2-1A7E0339AC45}"/>
              </a:ext>
            </a:extLst>
          </p:cNvPr>
          <p:cNvSpPr txBox="1"/>
          <p:nvPr/>
        </p:nvSpPr>
        <p:spPr>
          <a:xfrm>
            <a:off x="133816" y="1616682"/>
            <a:ext cx="8883445" cy="3693319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1"/>
                </a:solidFill>
                <a:latin typeface="Courier" pitchFamily="2" charset="0"/>
              </a:rPr>
              <a:t>kB   &lt;- 1.38064852e-23</a:t>
            </a:r>
          </a:p>
          <a:p>
            <a:r>
              <a:rPr lang="en-US" sz="1300" dirty="0" err="1">
                <a:solidFill>
                  <a:schemeClr val="bg1"/>
                </a:solidFill>
                <a:latin typeface="Courier" pitchFamily="2" charset="0"/>
              </a:rPr>
              <a:t>hb</a:t>
            </a:r>
            <a:r>
              <a:rPr lang="en-US" sz="1300" dirty="0">
                <a:solidFill>
                  <a:schemeClr val="bg1"/>
                </a:solidFill>
                <a:latin typeface="Courier" pitchFamily="2" charset="0"/>
              </a:rPr>
              <a:t>   &lt;- 1.054571817e-34</a:t>
            </a:r>
          </a:p>
          <a:p>
            <a:r>
              <a:rPr lang="en-US" sz="1300" dirty="0">
                <a:solidFill>
                  <a:schemeClr val="bg1"/>
                </a:solidFill>
                <a:latin typeface="Courier" pitchFamily="2" charset="0"/>
              </a:rPr>
              <a:t>Na   &lt;- 6.02214076e23</a:t>
            </a:r>
          </a:p>
          <a:p>
            <a:endParaRPr lang="en-US" sz="1300" dirty="0">
              <a:solidFill>
                <a:schemeClr val="bg1"/>
              </a:solidFill>
              <a:latin typeface="Courier" pitchFamily="2" charset="0"/>
            </a:endParaRPr>
          </a:p>
          <a:p>
            <a:r>
              <a:rPr lang="en-US" sz="1300" dirty="0">
                <a:solidFill>
                  <a:schemeClr val="bg1"/>
                </a:solidFill>
                <a:latin typeface="Courier" pitchFamily="2" charset="0"/>
              </a:rPr>
              <a:t>m    &lt;- 36.46 * 1/Na * 1/1000  </a:t>
            </a:r>
            <a:r>
              <a:rPr lang="en-US" sz="1300" dirty="0">
                <a:solidFill>
                  <a:srgbClr val="FFFF00"/>
                </a:solidFill>
                <a:latin typeface="Courier" pitchFamily="2" charset="0"/>
              </a:rPr>
              <a:t># convert g/mol -&gt; kg/</a:t>
            </a:r>
            <a:r>
              <a:rPr lang="en-US" sz="1300" dirty="0" err="1">
                <a:solidFill>
                  <a:srgbClr val="FFFF00"/>
                </a:solidFill>
                <a:latin typeface="Courier" pitchFamily="2" charset="0"/>
              </a:rPr>
              <a:t>molec</a:t>
            </a:r>
            <a:endParaRPr lang="en-US" sz="1300" dirty="0">
              <a:solidFill>
                <a:srgbClr val="FFFF00"/>
              </a:solidFill>
              <a:latin typeface="Courier" pitchFamily="2" charset="0"/>
            </a:endParaRPr>
          </a:p>
          <a:p>
            <a:r>
              <a:rPr lang="en-US" sz="1300" dirty="0">
                <a:solidFill>
                  <a:schemeClr val="bg1"/>
                </a:solidFill>
                <a:latin typeface="Courier" pitchFamily="2" charset="0"/>
              </a:rPr>
              <a:t>Temp &lt;- 273</a:t>
            </a:r>
          </a:p>
          <a:p>
            <a:r>
              <a:rPr lang="en-US" sz="1300" dirty="0">
                <a:solidFill>
                  <a:schemeClr val="bg1"/>
                </a:solidFill>
                <a:latin typeface="Courier" pitchFamily="2" charset="0"/>
              </a:rPr>
              <a:t>Vol  &lt;- 1 * (1/10)^3           </a:t>
            </a:r>
            <a:r>
              <a:rPr lang="en-US" sz="1300" dirty="0">
                <a:solidFill>
                  <a:srgbClr val="FFFF00"/>
                </a:solidFill>
                <a:latin typeface="Courier" pitchFamily="2" charset="0"/>
              </a:rPr>
              <a:t># convert dm^3 -&gt; m^3</a:t>
            </a:r>
          </a:p>
          <a:p>
            <a:endParaRPr lang="en-US" sz="1300" dirty="0">
              <a:solidFill>
                <a:schemeClr val="bg1"/>
              </a:solidFill>
              <a:latin typeface="Courier" pitchFamily="2" charset="0"/>
            </a:endParaRPr>
          </a:p>
          <a:p>
            <a:r>
              <a:rPr lang="en-US" sz="1300" dirty="0">
                <a:solidFill>
                  <a:srgbClr val="FFFF00"/>
                </a:solidFill>
                <a:latin typeface="Courier" pitchFamily="2" charset="0"/>
              </a:rPr>
              <a:t># Z just by plugging in to the formula:</a:t>
            </a:r>
            <a:endParaRPr lang="en-US" sz="1300" dirty="0">
              <a:solidFill>
                <a:schemeClr val="bg1"/>
              </a:solidFill>
              <a:latin typeface="Courier" pitchFamily="2" charset="0"/>
            </a:endParaRPr>
          </a:p>
          <a:p>
            <a:r>
              <a:rPr lang="en-US" sz="1300" dirty="0" err="1">
                <a:solidFill>
                  <a:schemeClr val="bg1"/>
                </a:solidFill>
                <a:latin typeface="Courier" pitchFamily="2" charset="0"/>
              </a:rPr>
              <a:t>Z.dont.do.it.this.way</a:t>
            </a:r>
            <a:r>
              <a:rPr lang="en-US" sz="1300" dirty="0">
                <a:solidFill>
                  <a:schemeClr val="bg1"/>
                </a:solidFill>
                <a:latin typeface="Courier" pitchFamily="2" charset="0"/>
              </a:rPr>
              <a:t> &lt;- (m*kB*Temp/(2*pi))^(3/2) * Vol/hb^3</a:t>
            </a:r>
          </a:p>
          <a:p>
            <a:r>
              <a:rPr lang="en-US" sz="1300" dirty="0" err="1">
                <a:solidFill>
                  <a:schemeClr val="bg1"/>
                </a:solidFill>
                <a:latin typeface="Courier" pitchFamily="2" charset="0"/>
              </a:rPr>
              <a:t>Z.dont.do.it.this.way</a:t>
            </a:r>
            <a:endParaRPr lang="en-US" sz="1300" dirty="0">
              <a:solidFill>
                <a:schemeClr val="bg1"/>
              </a:solidFill>
              <a:latin typeface="Courier" pitchFamily="2" charset="0"/>
            </a:endParaRPr>
          </a:p>
          <a:p>
            <a:endParaRPr lang="en-US" sz="1300" dirty="0">
              <a:solidFill>
                <a:schemeClr val="bg1"/>
              </a:solidFill>
              <a:latin typeface="Courier" pitchFamily="2" charset="0"/>
            </a:endParaRPr>
          </a:p>
          <a:p>
            <a:endParaRPr lang="en-US" sz="1300" dirty="0">
              <a:solidFill>
                <a:schemeClr val="bg1"/>
              </a:solidFill>
              <a:latin typeface="Courier" pitchFamily="2" charset="0"/>
            </a:endParaRPr>
          </a:p>
          <a:p>
            <a:r>
              <a:rPr lang="en-US" sz="1300" dirty="0">
                <a:solidFill>
                  <a:srgbClr val="FFFF00"/>
                </a:solidFill>
                <a:latin typeface="Courier" pitchFamily="2" charset="0"/>
              </a:rPr>
              <a:t># Z by computing with logs. Usually do it this way:</a:t>
            </a:r>
            <a:endParaRPr lang="en-US" sz="1300" dirty="0">
              <a:solidFill>
                <a:schemeClr val="bg1"/>
              </a:solidFill>
              <a:latin typeface="Courier" pitchFamily="2" charset="0"/>
            </a:endParaRPr>
          </a:p>
          <a:p>
            <a:r>
              <a:rPr lang="en-US" sz="1300" dirty="0" err="1">
                <a:solidFill>
                  <a:schemeClr val="bg1"/>
                </a:solidFill>
                <a:latin typeface="Courier" pitchFamily="2" charset="0"/>
              </a:rPr>
              <a:t>logZ</a:t>
            </a:r>
            <a:r>
              <a:rPr lang="en-US" sz="1300" dirty="0">
                <a:solidFill>
                  <a:schemeClr val="bg1"/>
                </a:solidFill>
                <a:latin typeface="Courier" pitchFamily="2" charset="0"/>
              </a:rPr>
              <a:t> &lt;- (3/2) * (log(m) + log(kB) + log(Temp) - log(2*pi)) + log(Vol) - 3* log(</a:t>
            </a:r>
            <a:r>
              <a:rPr lang="en-US" sz="1300" dirty="0" err="1">
                <a:solidFill>
                  <a:schemeClr val="bg1"/>
                </a:solidFill>
                <a:latin typeface="Courier" pitchFamily="2" charset="0"/>
              </a:rPr>
              <a:t>hb</a:t>
            </a:r>
            <a:r>
              <a:rPr lang="en-US" sz="1300" dirty="0">
                <a:solidFill>
                  <a:schemeClr val="bg1"/>
                </a:solidFill>
                <a:latin typeface="Courier" pitchFamily="2" charset="0"/>
              </a:rPr>
              <a:t>)</a:t>
            </a:r>
          </a:p>
          <a:p>
            <a:endParaRPr lang="en-US" sz="1300" dirty="0">
              <a:solidFill>
                <a:schemeClr val="bg1"/>
              </a:solidFill>
              <a:latin typeface="Courier" pitchFamily="2" charset="0"/>
            </a:endParaRPr>
          </a:p>
          <a:p>
            <a:r>
              <a:rPr lang="en-US" sz="1300" dirty="0">
                <a:solidFill>
                  <a:schemeClr val="bg1"/>
                </a:solidFill>
                <a:latin typeface="Courier" pitchFamily="2" charset="0"/>
              </a:rPr>
              <a:t>exp(</a:t>
            </a:r>
            <a:r>
              <a:rPr lang="en-US" sz="1300" dirty="0" err="1">
                <a:solidFill>
                  <a:schemeClr val="bg1"/>
                </a:solidFill>
                <a:latin typeface="Courier" pitchFamily="2" charset="0"/>
              </a:rPr>
              <a:t>logZ</a:t>
            </a:r>
            <a:r>
              <a:rPr lang="en-US" sz="1300" dirty="0">
                <a:solidFill>
                  <a:schemeClr val="bg1"/>
                </a:solidFill>
                <a:latin typeface="Courier" pitchFamily="2" charset="0"/>
              </a:rPr>
              <a:t>)                     </a:t>
            </a:r>
            <a:r>
              <a:rPr lang="en-US" sz="1300" dirty="0">
                <a:solidFill>
                  <a:srgbClr val="FFFF00"/>
                </a:solidFill>
                <a:latin typeface="Courier" pitchFamily="2" charset="0"/>
              </a:rPr>
              <a:t># More stable. Do it this way</a:t>
            </a:r>
          </a:p>
          <a:p>
            <a:endParaRPr lang="en-US" sz="1300" dirty="0">
              <a:solidFill>
                <a:schemeClr val="bg1"/>
              </a:solidFill>
              <a:latin typeface="Courier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D4A713-B49B-A643-B553-17F952F85552}"/>
              </a:ext>
            </a:extLst>
          </p:cNvPr>
          <p:cNvSpPr/>
          <p:nvPr/>
        </p:nvSpPr>
        <p:spPr>
          <a:xfrm>
            <a:off x="3897826" y="5832651"/>
            <a:ext cx="9509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~ 10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0806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3718" y="11641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3D Box/Degeneracy problem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7A7B3E-DB20-8745-82C5-49E584AB5136}"/>
              </a:ext>
            </a:extLst>
          </p:cNvPr>
          <p:cNvSpPr txBox="1"/>
          <p:nvPr/>
        </p:nvSpPr>
        <p:spPr>
          <a:xfrm>
            <a:off x="1260088" y="1148576"/>
            <a:ext cx="6902604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g[e_] := (m^(3/2) V)/(Sqrt[2] Pi^2 hb^3) Sqrt[e];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Integrate[g[e], {e, 0, kB T}]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C77AA9-098D-034F-A311-F14D036B6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5005" y="2294984"/>
            <a:ext cx="2479907" cy="66023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870E90E-FF22-0D46-9445-C281E4AEF742}"/>
              </a:ext>
            </a:extLst>
          </p:cNvPr>
          <p:cNvSpPr/>
          <p:nvPr/>
        </p:nvSpPr>
        <p:spPr>
          <a:xfrm>
            <a:off x="1987822" y="6001093"/>
            <a:ext cx="47468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~ 10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states are available under these conditions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F40694-9759-DE4B-A26C-0770ECABA0D1}"/>
              </a:ext>
            </a:extLst>
          </p:cNvPr>
          <p:cNvSpPr/>
          <p:nvPr/>
        </p:nvSpPr>
        <p:spPr>
          <a:xfrm>
            <a:off x="623518" y="1103726"/>
            <a:ext cx="3577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b.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9EF515-4269-024D-9EA8-F87EF9F0D3B5}"/>
              </a:ext>
            </a:extLst>
          </p:cNvPr>
          <p:cNvSpPr txBox="1"/>
          <p:nvPr/>
        </p:nvSpPr>
        <p:spPr>
          <a:xfrm>
            <a:off x="307977" y="3178297"/>
            <a:ext cx="8583082" cy="2516073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Courier" pitchFamily="2" charset="0"/>
              </a:rPr>
              <a:t>kB   &lt;- 1.38064852e-23</a:t>
            </a:r>
          </a:p>
          <a:p>
            <a:r>
              <a:rPr lang="en-US" sz="1050" dirty="0" err="1">
                <a:solidFill>
                  <a:schemeClr val="bg1"/>
                </a:solidFill>
                <a:latin typeface="Courier" pitchFamily="2" charset="0"/>
              </a:rPr>
              <a:t>hb</a:t>
            </a:r>
            <a:r>
              <a:rPr lang="en-US" sz="1050" dirty="0">
                <a:solidFill>
                  <a:schemeClr val="bg1"/>
                </a:solidFill>
                <a:latin typeface="Courier" pitchFamily="2" charset="0"/>
              </a:rPr>
              <a:t>   &lt;- 1.054571817e-34</a:t>
            </a:r>
          </a:p>
          <a:p>
            <a:r>
              <a:rPr lang="en-US" sz="1050" dirty="0">
                <a:solidFill>
                  <a:schemeClr val="bg1"/>
                </a:solidFill>
                <a:latin typeface="Courier" pitchFamily="2" charset="0"/>
              </a:rPr>
              <a:t>Na   &lt;- 6.02214076e23</a:t>
            </a:r>
          </a:p>
          <a:p>
            <a:endParaRPr lang="en-US" sz="1050" dirty="0">
              <a:solidFill>
                <a:schemeClr val="bg1"/>
              </a:solidFill>
              <a:latin typeface="Courier" pitchFamily="2" charset="0"/>
            </a:endParaRPr>
          </a:p>
          <a:p>
            <a:r>
              <a:rPr lang="en-US" sz="1050" dirty="0">
                <a:solidFill>
                  <a:schemeClr val="bg1"/>
                </a:solidFill>
                <a:latin typeface="Courier" pitchFamily="2" charset="0"/>
              </a:rPr>
              <a:t>m    &lt;- 36.46 * 1/Na * 1/1000  </a:t>
            </a:r>
            <a:r>
              <a:rPr lang="en-US" sz="1050" dirty="0">
                <a:solidFill>
                  <a:srgbClr val="FFFF00"/>
                </a:solidFill>
                <a:latin typeface="Courier" pitchFamily="2" charset="0"/>
              </a:rPr>
              <a:t># convert g/mol -&gt; kg/</a:t>
            </a:r>
            <a:r>
              <a:rPr lang="en-US" sz="1050" dirty="0" err="1">
                <a:solidFill>
                  <a:srgbClr val="FFFF00"/>
                </a:solidFill>
                <a:latin typeface="Courier" pitchFamily="2" charset="0"/>
              </a:rPr>
              <a:t>molec</a:t>
            </a:r>
            <a:endParaRPr lang="en-US" sz="1050" dirty="0">
              <a:solidFill>
                <a:srgbClr val="FFFF00"/>
              </a:solidFill>
              <a:latin typeface="Courier" pitchFamily="2" charset="0"/>
            </a:endParaRPr>
          </a:p>
          <a:p>
            <a:r>
              <a:rPr lang="en-US" sz="1050" dirty="0">
                <a:solidFill>
                  <a:schemeClr val="bg1"/>
                </a:solidFill>
                <a:latin typeface="Courier" pitchFamily="2" charset="0"/>
              </a:rPr>
              <a:t>Temp &lt;- 273</a:t>
            </a:r>
          </a:p>
          <a:p>
            <a:r>
              <a:rPr lang="en-US" sz="1050" dirty="0">
                <a:solidFill>
                  <a:schemeClr val="bg1"/>
                </a:solidFill>
                <a:latin typeface="Courier" pitchFamily="2" charset="0"/>
              </a:rPr>
              <a:t>Vol  &lt;- 1 * (1/10)^3           </a:t>
            </a:r>
            <a:r>
              <a:rPr lang="en-US" sz="1050" dirty="0">
                <a:solidFill>
                  <a:srgbClr val="FFFF00"/>
                </a:solidFill>
                <a:latin typeface="Courier" pitchFamily="2" charset="0"/>
              </a:rPr>
              <a:t># convert dm^3 -&gt; m^3</a:t>
            </a:r>
          </a:p>
          <a:p>
            <a:endParaRPr lang="en-US" sz="1050" dirty="0">
              <a:solidFill>
                <a:schemeClr val="bg1"/>
              </a:solidFill>
              <a:latin typeface="Courier" pitchFamily="2" charset="0"/>
            </a:endParaRPr>
          </a:p>
          <a:p>
            <a:r>
              <a:rPr lang="en-US" sz="1050" dirty="0">
                <a:solidFill>
                  <a:srgbClr val="FFFF00"/>
                </a:solidFill>
                <a:latin typeface="Courier" pitchFamily="2" charset="0"/>
              </a:rPr>
              <a:t># int g(e) just by plugging in to the formula:</a:t>
            </a:r>
            <a:endParaRPr lang="en-US" sz="1050" dirty="0">
              <a:solidFill>
                <a:schemeClr val="bg1"/>
              </a:solidFill>
              <a:latin typeface="Courier" pitchFamily="2" charset="0"/>
            </a:endParaRPr>
          </a:p>
          <a:p>
            <a:r>
              <a:rPr lang="en-US" sz="1050" dirty="0" err="1">
                <a:solidFill>
                  <a:schemeClr val="bg1"/>
                </a:solidFill>
                <a:latin typeface="Courier" pitchFamily="2" charset="0"/>
              </a:rPr>
              <a:t>num.states</a:t>
            </a:r>
            <a:r>
              <a:rPr lang="en-US" sz="1050" dirty="0">
                <a:solidFill>
                  <a:schemeClr val="bg1"/>
                </a:solidFill>
                <a:latin typeface="Courier" pitchFamily="2" charset="0"/>
              </a:rPr>
              <a:t> &lt;- sqrt(2) * m^(3/2) * Vol * (Temp * kB)^(3/2) / (3*pi^2*hb^3)</a:t>
            </a:r>
          </a:p>
          <a:p>
            <a:r>
              <a:rPr lang="en-US" sz="1050" dirty="0" err="1">
                <a:solidFill>
                  <a:schemeClr val="bg1"/>
                </a:solidFill>
                <a:latin typeface="Courier" pitchFamily="2" charset="0"/>
              </a:rPr>
              <a:t>num.states</a:t>
            </a:r>
            <a:endParaRPr lang="en-US" sz="1050" dirty="0">
              <a:solidFill>
                <a:schemeClr val="bg1"/>
              </a:solidFill>
              <a:latin typeface="Courier" pitchFamily="2" charset="0"/>
            </a:endParaRPr>
          </a:p>
          <a:p>
            <a:endParaRPr lang="en-US" sz="1050" dirty="0">
              <a:solidFill>
                <a:schemeClr val="bg1"/>
              </a:solidFill>
              <a:latin typeface="Courier" pitchFamily="2" charset="0"/>
            </a:endParaRPr>
          </a:p>
          <a:p>
            <a:r>
              <a:rPr lang="en-US" sz="1050" dirty="0">
                <a:solidFill>
                  <a:srgbClr val="FFFF00"/>
                </a:solidFill>
                <a:latin typeface="Courier" pitchFamily="2" charset="0"/>
              </a:rPr>
              <a:t># g(e) by computing with logs. Usually do it this way. More numerically stable to use logs:</a:t>
            </a:r>
            <a:endParaRPr lang="en-US" sz="1050" dirty="0">
              <a:solidFill>
                <a:schemeClr val="bg1"/>
              </a:solidFill>
              <a:latin typeface="Courier" pitchFamily="2" charset="0"/>
            </a:endParaRPr>
          </a:p>
          <a:p>
            <a:r>
              <a:rPr lang="en-US" sz="1050" dirty="0" err="1">
                <a:solidFill>
                  <a:schemeClr val="bg1"/>
                </a:solidFill>
                <a:latin typeface="Courier" pitchFamily="2" charset="0"/>
              </a:rPr>
              <a:t>log.ns</a:t>
            </a:r>
            <a:r>
              <a:rPr lang="en-US" sz="1050" dirty="0">
                <a:solidFill>
                  <a:schemeClr val="bg1"/>
                </a:solidFill>
                <a:latin typeface="Courier" pitchFamily="2" charset="0"/>
              </a:rPr>
              <a:t> &lt;- (1/2)*log(2) + (3/2)*log(m) + log(Vol) + (3/2)*(log(Temp) + log(kB)) - log(3*pi^2) - 3*log(</a:t>
            </a:r>
            <a:r>
              <a:rPr lang="en-US" sz="1050" dirty="0" err="1">
                <a:solidFill>
                  <a:schemeClr val="bg1"/>
                </a:solidFill>
                <a:latin typeface="Courier" pitchFamily="2" charset="0"/>
              </a:rPr>
              <a:t>hb</a:t>
            </a:r>
            <a:r>
              <a:rPr lang="en-US" sz="1050" dirty="0">
                <a:solidFill>
                  <a:schemeClr val="bg1"/>
                </a:solidFill>
                <a:latin typeface="Courier" pitchFamily="2" charset="0"/>
              </a:rPr>
              <a:t>)</a:t>
            </a:r>
          </a:p>
          <a:p>
            <a:r>
              <a:rPr lang="en-US" sz="1050" dirty="0">
                <a:solidFill>
                  <a:schemeClr val="bg1"/>
                </a:solidFill>
                <a:latin typeface="Courier" pitchFamily="2" charset="0"/>
              </a:rPr>
              <a:t>exp(</a:t>
            </a:r>
            <a:r>
              <a:rPr lang="en-US" sz="1050" dirty="0" err="1">
                <a:solidFill>
                  <a:schemeClr val="bg1"/>
                </a:solidFill>
                <a:latin typeface="Courier" pitchFamily="2" charset="0"/>
              </a:rPr>
              <a:t>log.ns</a:t>
            </a:r>
            <a:r>
              <a:rPr lang="en-US" sz="1050" dirty="0">
                <a:solidFill>
                  <a:schemeClr val="bg1"/>
                </a:solidFill>
                <a:latin typeface="Courier" pitchFamily="2" charset="0"/>
              </a:rPr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457EEB-F49C-C848-9351-C8A9E707E8DD}"/>
              </a:ext>
            </a:extLst>
          </p:cNvPr>
          <p:cNvSpPr/>
          <p:nvPr/>
        </p:nvSpPr>
        <p:spPr>
          <a:xfrm>
            <a:off x="1874008" y="6431429"/>
            <a:ext cx="49744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…just a coincidence the magnitude is the same as 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2914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3718" y="11641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3D Box/Degeneracy problem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F40694-9759-DE4B-A26C-0770ECABA0D1}"/>
              </a:ext>
            </a:extLst>
          </p:cNvPr>
          <p:cNvSpPr/>
          <p:nvPr/>
        </p:nvSpPr>
        <p:spPr>
          <a:xfrm>
            <a:off x="331325" y="1463977"/>
            <a:ext cx="3449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c.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2D3506-FD1A-2E43-BB78-793DF2F4A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3698" y="1291096"/>
            <a:ext cx="5476494" cy="7224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B9217CF-E1B7-8F45-80F1-C81D12D8AA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738" y="1283759"/>
            <a:ext cx="1668041" cy="7297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4474F44-2805-2648-AAA0-B44BA1B0FE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6914" y="2485745"/>
            <a:ext cx="5429886" cy="7224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BBAA163-2290-C747-BC0D-392D1B043A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6914" y="3660638"/>
            <a:ext cx="2821729" cy="72243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EBEC416-EF38-FD4E-8E56-5C46A39502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9736" y="6212353"/>
            <a:ext cx="736440" cy="19340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BD9E001-AA44-9E47-B8D9-A3B103132A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56914" y="4784513"/>
            <a:ext cx="3722620" cy="878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7251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3718" y="116417"/>
            <a:ext cx="8991601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3D Box/Degeneracy problem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7A7B3E-DB20-8745-82C5-49E584AB5136}"/>
              </a:ext>
            </a:extLst>
          </p:cNvPr>
          <p:cNvSpPr txBox="1"/>
          <p:nvPr/>
        </p:nvSpPr>
        <p:spPr>
          <a:xfrm>
            <a:off x="1260088" y="1148576"/>
            <a:ext cx="690260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F40694-9759-DE4B-A26C-0770ECABA0D1}"/>
              </a:ext>
            </a:extLst>
          </p:cNvPr>
          <p:cNvSpPr/>
          <p:nvPr/>
        </p:nvSpPr>
        <p:spPr>
          <a:xfrm>
            <a:off x="623518" y="1103726"/>
            <a:ext cx="3449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c.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B67031-E8CE-B244-8A81-DDE9750BD9CE}"/>
              </a:ext>
            </a:extLst>
          </p:cNvPr>
          <p:cNvSpPr txBox="1"/>
          <p:nvPr/>
        </p:nvSpPr>
        <p:spPr>
          <a:xfrm>
            <a:off x="1260088" y="1148576"/>
            <a:ext cx="6902604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ourier" pitchFamily="2" charset="0"/>
              </a:rPr>
              <a:t>(*Definite integral: c_1\int_0^{c_2}\sqrt{x}\ e^{-\frac{x}{c_2}}\ dx *)</a:t>
            </a:r>
          </a:p>
          <a:p>
            <a:endParaRPr lang="en-US" sz="1200" dirty="0">
              <a:latin typeface="Courier" pitchFamily="2" charset="0"/>
            </a:endParaRPr>
          </a:p>
          <a:p>
            <a:r>
              <a:rPr lang="en-US" sz="1200" dirty="0">
                <a:latin typeface="Courier" pitchFamily="2" charset="0"/>
              </a:rPr>
              <a:t>c1*Integrate[Sqrt[x] Exp[-x/c2], {x, 0, c2}]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1158C1-AAE8-C34F-A8B7-B624082F4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5037" y="2240221"/>
            <a:ext cx="4597400" cy="7747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55E7D5C-9F80-E94F-A79B-4EAF485729B0}"/>
              </a:ext>
            </a:extLst>
          </p:cNvPr>
          <p:cNvSpPr txBox="1"/>
          <p:nvPr/>
        </p:nvSpPr>
        <p:spPr>
          <a:xfrm>
            <a:off x="605046" y="3401233"/>
            <a:ext cx="7971797" cy="2800767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  <a:latin typeface="Courier" pitchFamily="2" charset="0"/>
              </a:rPr>
              <a:t># Do the integral numerically with a substation in R  instead:</a:t>
            </a:r>
          </a:p>
          <a:p>
            <a:r>
              <a:rPr lang="en-US" sz="1600" dirty="0">
                <a:solidFill>
                  <a:srgbClr val="FFFF00"/>
                </a:solidFill>
                <a:latin typeface="Courier" pitchFamily="2" charset="0"/>
              </a:rPr>
              <a:t># Substitute x = e/(kB T):</a:t>
            </a:r>
          </a:p>
          <a:p>
            <a:r>
              <a:rPr lang="en-US" sz="1600" dirty="0" err="1">
                <a:solidFill>
                  <a:schemeClr val="bg1"/>
                </a:solidFill>
                <a:latin typeface="Courier" pitchFamily="2" charset="0"/>
              </a:rPr>
              <a:t>p.tilde</a:t>
            </a:r>
            <a:r>
              <a:rPr lang="en-US" sz="1600" dirty="0">
                <a:solidFill>
                  <a:schemeClr val="bg1"/>
                </a:solidFill>
                <a:latin typeface="Courier" pitchFamily="2" charset="0"/>
              </a:rPr>
              <a:t> &lt;- function(x){</a:t>
            </a:r>
          </a:p>
          <a:p>
            <a:r>
              <a:rPr lang="en-US" sz="1600" dirty="0">
                <a:solidFill>
                  <a:schemeClr val="bg1"/>
                </a:solidFill>
                <a:latin typeface="Courier" pitchFamily="2" charset="0"/>
              </a:rPr>
              <a:t>  </a:t>
            </a:r>
            <a:r>
              <a:rPr lang="en-US" sz="1600" dirty="0" err="1">
                <a:solidFill>
                  <a:schemeClr val="bg1"/>
                </a:solidFill>
                <a:latin typeface="Courier" pitchFamily="2" charset="0"/>
              </a:rPr>
              <a:t>val</a:t>
            </a:r>
            <a:r>
              <a:rPr lang="en-US" sz="1600" dirty="0">
                <a:solidFill>
                  <a:schemeClr val="bg1"/>
                </a:solidFill>
                <a:latin typeface="Courier" pitchFamily="2" charset="0"/>
              </a:rPr>
              <a:t> &lt;- 2/sqrt(pi) * sqrt(x) * exp(-x)</a:t>
            </a:r>
          </a:p>
          <a:p>
            <a:r>
              <a:rPr lang="en-US" sz="1600" dirty="0">
                <a:solidFill>
                  <a:schemeClr val="bg1"/>
                </a:solidFill>
                <a:latin typeface="Courier" pitchFamily="2" charset="0"/>
              </a:rPr>
              <a:t>  return(</a:t>
            </a:r>
            <a:r>
              <a:rPr lang="en-US" sz="1600" dirty="0" err="1">
                <a:solidFill>
                  <a:schemeClr val="bg1"/>
                </a:solidFill>
                <a:latin typeface="Courier" pitchFamily="2" charset="0"/>
              </a:rPr>
              <a:t>val</a:t>
            </a:r>
            <a:r>
              <a:rPr lang="en-US" sz="1600" dirty="0">
                <a:solidFill>
                  <a:schemeClr val="bg1"/>
                </a:solidFill>
                <a:latin typeface="Courier" pitchFamily="2" charset="0"/>
              </a:rPr>
              <a:t>)</a:t>
            </a:r>
          </a:p>
          <a:p>
            <a:r>
              <a:rPr lang="en-US" sz="1600" dirty="0">
                <a:solidFill>
                  <a:schemeClr val="bg1"/>
                </a:solidFill>
                <a:latin typeface="Courier" pitchFamily="2" charset="0"/>
              </a:rPr>
              <a:t>}</a:t>
            </a:r>
          </a:p>
          <a:p>
            <a:r>
              <a:rPr lang="en-US" sz="1600" dirty="0">
                <a:solidFill>
                  <a:schemeClr val="bg1"/>
                </a:solidFill>
                <a:latin typeface="Courier" pitchFamily="2" charset="0"/>
              </a:rPr>
              <a:t>xx &lt;- seq(0, 6, </a:t>
            </a:r>
            <a:r>
              <a:rPr lang="en-US" sz="1600" dirty="0" err="1">
                <a:solidFill>
                  <a:schemeClr val="bg1"/>
                </a:solidFill>
                <a:latin typeface="Courier" pitchFamily="2" charset="0"/>
              </a:rPr>
              <a:t>length.out</a:t>
            </a:r>
            <a:r>
              <a:rPr lang="en-US" sz="1600" dirty="0">
                <a:solidFill>
                  <a:schemeClr val="bg1"/>
                </a:solidFill>
                <a:latin typeface="Courier" pitchFamily="2" charset="0"/>
              </a:rPr>
              <a:t>=1000)</a:t>
            </a:r>
          </a:p>
          <a:p>
            <a:r>
              <a:rPr lang="en-US" sz="1600" dirty="0">
                <a:solidFill>
                  <a:schemeClr val="bg1"/>
                </a:solidFill>
                <a:latin typeface="Courier" pitchFamily="2" charset="0"/>
              </a:rPr>
              <a:t>plot(</a:t>
            </a:r>
            <a:r>
              <a:rPr lang="en-US" sz="1600" dirty="0" err="1">
                <a:solidFill>
                  <a:schemeClr val="bg1"/>
                </a:solidFill>
                <a:latin typeface="Courier" pitchFamily="2" charset="0"/>
              </a:rPr>
              <a:t>xx,p.tilde</a:t>
            </a:r>
            <a:r>
              <a:rPr lang="en-US" sz="1600" dirty="0">
                <a:solidFill>
                  <a:schemeClr val="bg1"/>
                </a:solidFill>
                <a:latin typeface="Courier" pitchFamily="2" charset="0"/>
              </a:rPr>
              <a:t>(xx), </a:t>
            </a:r>
            <a:r>
              <a:rPr lang="en-US" sz="1600" dirty="0" err="1">
                <a:solidFill>
                  <a:schemeClr val="bg1"/>
                </a:solidFill>
                <a:latin typeface="Courier" pitchFamily="2" charset="0"/>
              </a:rPr>
              <a:t>typ</a:t>
            </a:r>
            <a:r>
              <a:rPr lang="en-US" sz="1600" dirty="0">
                <a:solidFill>
                  <a:schemeClr val="bg1"/>
                </a:solidFill>
                <a:latin typeface="Courier" pitchFamily="2" charset="0"/>
              </a:rPr>
              <a:t>="l")</a:t>
            </a:r>
          </a:p>
          <a:p>
            <a:endParaRPr lang="en-US" sz="1600" dirty="0">
              <a:solidFill>
                <a:schemeClr val="bg1"/>
              </a:solidFill>
              <a:latin typeface="Courier" pitchFamily="2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Courier" pitchFamily="2" charset="0"/>
              </a:rPr>
              <a:t>integrate(</a:t>
            </a:r>
            <a:r>
              <a:rPr lang="en-US" sz="1600" dirty="0" err="1">
                <a:solidFill>
                  <a:schemeClr val="bg1"/>
                </a:solidFill>
                <a:latin typeface="Courier" pitchFamily="2" charset="0"/>
              </a:rPr>
              <a:t>p.tilde</a:t>
            </a:r>
            <a:r>
              <a:rPr lang="en-US" sz="1600" dirty="0">
                <a:solidFill>
                  <a:schemeClr val="bg1"/>
                </a:solidFill>
                <a:latin typeface="Courier" pitchFamily="2" charset="0"/>
              </a:rPr>
              <a:t>, lower = 0, upper = 1)</a:t>
            </a:r>
          </a:p>
          <a:p>
            <a:endParaRPr lang="en-US" sz="1600" dirty="0">
              <a:solidFill>
                <a:schemeClr val="bg1"/>
              </a:solidFill>
              <a:latin typeface="Courier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44A182A-E3C8-234E-ACF1-87D0A7674D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8909" y="4538663"/>
            <a:ext cx="3990761" cy="633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788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18211</TotalTime>
  <Words>2562</Words>
  <Application>Microsoft Macintosh PowerPoint</Application>
  <PresentationFormat>On-screen Show (4:3)</PresentationFormat>
  <Paragraphs>329</Paragraphs>
  <Slides>30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Courier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John Jay College of Criminal Justice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Nicholas Petraco</dc:creator>
  <cp:lastModifiedBy>Nicholas Petraco</cp:lastModifiedBy>
  <cp:revision>588</cp:revision>
  <dcterms:created xsi:type="dcterms:W3CDTF">2011-09-22T13:36:22Z</dcterms:created>
  <dcterms:modified xsi:type="dcterms:W3CDTF">2026-10-08T01:48:47Z</dcterms:modified>
</cp:coreProperties>
</file>